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13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9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94" r:id="rId3"/>
    <p:sldId id="298" r:id="rId4"/>
    <p:sldId id="295" r:id="rId5"/>
    <p:sldId id="299" r:id="rId6"/>
    <p:sldId id="296" r:id="rId7"/>
    <p:sldId id="297" r:id="rId8"/>
    <p:sldId id="258" r:id="rId9"/>
    <p:sldId id="257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91" r:id="rId33"/>
    <p:sldId id="292" r:id="rId34"/>
    <p:sldId id="286" r:id="rId35"/>
    <p:sldId id="293" r:id="rId36"/>
    <p:sldId id="287" r:id="rId37"/>
    <p:sldId id="288" r:id="rId38"/>
    <p:sldId id="289" r:id="rId39"/>
    <p:sldId id="290" r:id="rId40"/>
    <p:sldId id="271" r:id="rId41"/>
    <p:sldId id="272" r:id="rId42"/>
    <p:sldId id="27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1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F56D5-AD18-4B2C-ADFA-F34F82E4B33F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98554-E780-4ECE-8F43-C9F1F8C2B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13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19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6264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7095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7726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9326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9103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799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13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4466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1727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6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2344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014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18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4538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7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19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5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4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2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2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58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11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7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00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52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Ebrima"/>
                <a:cs typeface="Ebrima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pc="-10" smtClean="0"/>
              <a:t>Understanding</a:t>
            </a:r>
            <a:r>
              <a:rPr lang="en-US" spc="-15" smtClean="0"/>
              <a:t> </a:t>
            </a:r>
            <a:r>
              <a:rPr lang="en-US" spc="-5" smtClean="0"/>
              <a:t>Computers:</a:t>
            </a:r>
            <a:r>
              <a:rPr lang="en-US" spc="5" smtClean="0"/>
              <a:t> </a:t>
            </a:r>
            <a:r>
              <a:rPr lang="en-US" spc="-5" smtClean="0"/>
              <a:t>Today</a:t>
            </a:r>
            <a:r>
              <a:rPr lang="en-US" spc="-15" smtClean="0"/>
              <a:t> </a:t>
            </a:r>
            <a:r>
              <a:rPr lang="en-US" spc="-5" smtClean="0"/>
              <a:t>and</a:t>
            </a:r>
            <a:r>
              <a:rPr lang="en-US" smtClean="0"/>
              <a:t> </a:t>
            </a:r>
            <a:r>
              <a:rPr lang="en-US" spc="-5" smtClean="0"/>
              <a:t>Tomorrow, 15th</a:t>
            </a:r>
            <a:r>
              <a:rPr lang="en-US" spc="-20" smtClean="0"/>
              <a:t> </a:t>
            </a:r>
            <a:r>
              <a:rPr lang="en-US" spc="-10" smtClean="0"/>
              <a:t>Edition</a:t>
            </a:r>
            <a:endParaRPr lang="en-US"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Ebrima"/>
                <a:cs typeface="Ebrima"/>
              </a:defRPr>
            </a:lvl1pPr>
          </a:lstStyle>
          <a:p>
            <a:pPr marL="38100">
              <a:spcBef>
                <a:spcPts val="190"/>
              </a:spcBef>
            </a:pPr>
            <a:fld id="{81D60167-4931-47E6-BA6A-407CBD079E47}" type="slidenum">
              <a:rPr lang="en-US" smtClean="0"/>
              <a:pPr marL="38100">
                <a:spcBef>
                  <a:spcPts val="190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50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B564E-9212-46C3-9E2E-4565FCD036AB}" type="datetimeFigureOut">
              <a:rPr lang="en-US" smtClean="0"/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FE318-34B9-4ED6-ACB4-94F83F14D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75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3756" y="724798"/>
            <a:ext cx="9144000" cy="2387600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UNIT,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PROCESSOR &amp; MEMORY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6054" y="2807598"/>
            <a:ext cx="9814561" cy="346560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i="1" dirty="0" smtClean="0"/>
          </a:p>
          <a:p>
            <a:r>
              <a:rPr lang="en-US" i="1" dirty="0" smtClean="0"/>
              <a:t>Faryal Shamsi</a:t>
            </a:r>
          </a:p>
          <a:p>
            <a:r>
              <a:rPr lang="en-US" i="1" dirty="0" smtClean="0"/>
              <a:t>Lecturer Computer Science </a:t>
            </a:r>
          </a:p>
          <a:p>
            <a:endParaRPr lang="en-US" i="1" dirty="0" smtClean="0"/>
          </a:p>
          <a:p>
            <a:r>
              <a:rPr lang="en-US" i="1" dirty="0" smtClean="0"/>
              <a:t>Sukkur IBA University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1059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Representation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Concept Binary Encoding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99" y="2952450"/>
            <a:ext cx="4834499" cy="25074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415" y="-89748"/>
            <a:ext cx="3452298" cy="694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6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822" y="182805"/>
            <a:ext cx="9566030" cy="6597264"/>
          </a:xfrm>
        </p:spPr>
      </p:pic>
    </p:spTree>
    <p:extLst>
      <p:ext uri="{BB962C8B-B14F-4D97-AF65-F5344CB8AC3E}">
        <p14:creationId xmlns:p14="http://schemas.microsoft.com/office/powerpoint/2010/main" val="379924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Encoding Schemes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ASCII</a:t>
            </a:r>
          </a:p>
          <a:p>
            <a:r>
              <a:rPr lang="en-US" dirty="0" smtClean="0"/>
              <a:t>EBDIC</a:t>
            </a:r>
          </a:p>
          <a:p>
            <a:r>
              <a:rPr lang="en-US" dirty="0" smtClean="0"/>
              <a:t>Unicode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839" y="365125"/>
            <a:ext cx="3519596" cy="621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52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Encoding Schemes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ASCII</a:t>
            </a:r>
          </a:p>
          <a:p>
            <a:r>
              <a:rPr lang="en-US" dirty="0" smtClean="0"/>
              <a:t>EBDIC</a:t>
            </a:r>
          </a:p>
          <a:p>
            <a:r>
              <a:rPr lang="en-US" dirty="0" smtClean="0"/>
              <a:t>Unicode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405" y="3138129"/>
            <a:ext cx="8854784" cy="303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389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Multimedia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29316"/>
            <a:ext cx="10515600" cy="4351338"/>
          </a:xfrm>
        </p:spPr>
        <p:txBody>
          <a:bodyPr/>
          <a:lstStyle/>
          <a:p>
            <a:r>
              <a:rPr lang="en-US" dirty="0" smtClean="0"/>
              <a:t>Pixel</a:t>
            </a:r>
          </a:p>
          <a:p>
            <a:r>
              <a:rPr lang="en-US" dirty="0" smtClean="0"/>
              <a:t>Frames </a:t>
            </a:r>
          </a:p>
          <a:p>
            <a:r>
              <a:rPr lang="en-US" dirty="0" smtClean="0"/>
              <a:t>Etc.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Video Representation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881" y="839236"/>
            <a:ext cx="5277457" cy="564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422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Multimedia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29316"/>
            <a:ext cx="10515600" cy="4351338"/>
          </a:xfrm>
        </p:spPr>
        <p:txBody>
          <a:bodyPr/>
          <a:lstStyle/>
          <a:p>
            <a:r>
              <a:rPr lang="en-US" dirty="0" smtClean="0"/>
              <a:t>Samples</a:t>
            </a:r>
          </a:p>
          <a:p>
            <a:r>
              <a:rPr lang="en-US" dirty="0" smtClean="0"/>
              <a:t>Intervals</a:t>
            </a:r>
          </a:p>
          <a:p>
            <a:r>
              <a:rPr lang="en-US" dirty="0" smtClean="0"/>
              <a:t>Frames</a:t>
            </a:r>
          </a:p>
          <a:p>
            <a:r>
              <a:rPr lang="en-US" dirty="0" smtClean="0"/>
              <a:t>Etc.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Audio Representation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767" y="1968062"/>
            <a:ext cx="5571099" cy="357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37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</a:t>
            </a:r>
            <a:r>
              <a:rPr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</a:t>
            </a:r>
            <a:r>
              <a:rPr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Motherboard</a:t>
            </a:r>
          </a:p>
          <a:p>
            <a:r>
              <a:rPr lang="en-US" dirty="0"/>
              <a:t>Computer Chip</a:t>
            </a:r>
          </a:p>
          <a:p>
            <a:r>
              <a:rPr lang="en-US" dirty="0"/>
              <a:t>Very small pieces of silicon or other semi-conducting  material onto which integrated circuits are embedded</a:t>
            </a:r>
          </a:p>
          <a:p>
            <a:r>
              <a:rPr lang="en-US" dirty="0"/>
              <a:t>Circuit Board</a:t>
            </a:r>
          </a:p>
          <a:p>
            <a:r>
              <a:rPr lang="en-US" dirty="0"/>
              <a:t>A thin board containing computer chips and other  electronic components</a:t>
            </a:r>
          </a:p>
          <a:p>
            <a:r>
              <a:rPr lang="en-US" dirty="0"/>
              <a:t>System Board</a:t>
            </a:r>
          </a:p>
          <a:p>
            <a:r>
              <a:rPr lang="en-US" dirty="0"/>
              <a:t>The main circuit board inside the system unit to which  all devices must connect</a:t>
            </a: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461262"/>
            <a:ext cx="7847330" cy="4558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marR="5283200" indent="-342900" algn="r">
              <a:spcBef>
                <a:spcPts val="675"/>
              </a:spcBef>
              <a:buFont typeface="Arial MT"/>
              <a:buChar char="•"/>
              <a:tabLst>
                <a:tab pos="342900" algn="l"/>
                <a:tab pos="343535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003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416" y="179595"/>
            <a:ext cx="10515600" cy="1325563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 System Unit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Google Shape;97;p15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 b="23331"/>
          <a:stretch/>
        </p:blipFill>
        <p:spPr>
          <a:xfrm>
            <a:off x="1020416" y="1245704"/>
            <a:ext cx="10098157" cy="543339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46328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489567"/>
            <a:ext cx="12085983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</a:t>
            </a:r>
            <a:r>
              <a:rPr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</a:t>
            </a:r>
            <a:r>
              <a:rPr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xfrm>
            <a:off x="2034642" y="6394560"/>
            <a:ext cx="4491355" cy="19813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904477" y="6428961"/>
            <a:ext cx="253365" cy="209032"/>
          </a:xfrm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461262"/>
            <a:ext cx="7741284" cy="342593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spcBef>
                <a:spcPts val="67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External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devices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(monitors,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keyboards, </a:t>
            </a:r>
            <a:r>
              <a:rPr sz="2400" dirty="0">
                <a:latin typeface="Calibri"/>
                <a:cs typeface="Calibri"/>
              </a:rPr>
              <a:t>mice,</a:t>
            </a:r>
            <a:r>
              <a:rPr sz="2400" spc="-15" dirty="0">
                <a:latin typeface="Calibri"/>
                <a:cs typeface="Calibri"/>
              </a:rPr>
              <a:t> printers)</a:t>
            </a:r>
            <a:endParaRPr sz="2400" dirty="0">
              <a:latin typeface="Calibri"/>
              <a:cs typeface="Calibri"/>
            </a:endParaRPr>
          </a:p>
          <a:p>
            <a:pPr marL="355600" indent="-343535">
              <a:spcBef>
                <a:spcPts val="57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Wireless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devices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Bluetooth)</a:t>
            </a:r>
            <a:endParaRPr sz="2400" dirty="0">
              <a:latin typeface="Calibri"/>
              <a:cs typeface="Calibri"/>
            </a:endParaRPr>
          </a:p>
          <a:p>
            <a:pPr marL="355600" indent="-343535">
              <a:spcBef>
                <a:spcPts val="57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libri"/>
                <a:cs typeface="Calibri"/>
              </a:rPr>
              <a:t>Power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Supply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spcBef>
                <a:spcPts val="5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Connects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motherboard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deliver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electricity</a:t>
            </a:r>
          </a:p>
          <a:p>
            <a:pPr marL="756285"/>
            <a:r>
              <a:rPr sz="2400" spc="-10" dirty="0">
                <a:latin typeface="Calibri"/>
                <a:cs typeface="Calibri"/>
              </a:rPr>
              <a:t>(personal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computer)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Portable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computers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 </a:t>
            </a:r>
            <a:r>
              <a:rPr sz="2400" spc="-10" dirty="0">
                <a:latin typeface="Calibri"/>
                <a:cs typeface="Calibri"/>
              </a:rPr>
              <a:t>rechargeable </a:t>
            </a:r>
            <a:r>
              <a:rPr sz="2400" spc="-15" dirty="0">
                <a:latin typeface="Calibri"/>
                <a:cs typeface="Calibri"/>
              </a:rPr>
              <a:t>battery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pack</a:t>
            </a:r>
            <a:endParaRPr sz="2400" dirty="0">
              <a:latin typeface="Calibri"/>
              <a:cs typeface="Calibri"/>
            </a:endParaRPr>
          </a:p>
          <a:p>
            <a:pPr marL="1155700" marR="5080" lvl="2" indent="-228600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Nonremovable batteries more difficult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expensive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replace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0879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</a:t>
            </a:r>
            <a:r>
              <a:rPr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</a:t>
            </a:r>
            <a:r>
              <a:rPr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</a:t>
            </a:r>
            <a:r>
              <a:rPr spc="-2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469796"/>
            <a:ext cx="8067675" cy="181908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55600" indent="-343535">
              <a:spcBef>
                <a:spcPts val="36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200" spc="-10" dirty="0">
                <a:latin typeface="Calibri"/>
                <a:cs typeface="Calibri"/>
              </a:rPr>
              <a:t>Drive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Bays</a:t>
            </a:r>
            <a:endParaRPr sz="2200" dirty="0">
              <a:latin typeface="Calibri"/>
              <a:cs typeface="Calibri"/>
            </a:endParaRPr>
          </a:p>
          <a:p>
            <a:pPr marL="756285" marR="786765" lvl="1" indent="-287020">
              <a:lnSpc>
                <a:spcPts val="2380"/>
              </a:lnSpc>
              <a:spcBef>
                <a:spcPts val="56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Rectangular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metal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racks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inside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system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unit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house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storage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devices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spcBef>
                <a:spcPts val="22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200" spc="-10" dirty="0">
                <a:latin typeface="Calibri"/>
                <a:cs typeface="Calibri"/>
              </a:rPr>
              <a:t>Hard drive,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CD/DVD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drive,</a:t>
            </a:r>
            <a:r>
              <a:rPr sz="2200" spc="-5" dirty="0">
                <a:latin typeface="Calibri"/>
                <a:cs typeface="Calibri"/>
              </a:rPr>
              <a:t> flash memory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card</a:t>
            </a:r>
            <a:r>
              <a:rPr sz="2200" spc="-10" dirty="0">
                <a:latin typeface="Calibri"/>
                <a:cs typeface="Calibri"/>
              </a:rPr>
              <a:t> reader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spcBef>
                <a:spcPts val="27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200" spc="-10" dirty="0">
                <a:latin typeface="Calibri"/>
                <a:cs typeface="Calibri"/>
              </a:rPr>
              <a:t>Connected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motherboard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 a </a:t>
            </a:r>
            <a:r>
              <a:rPr sz="2200" spc="-10" dirty="0">
                <a:latin typeface="Calibri"/>
                <a:cs typeface="Calibri"/>
              </a:rPr>
              <a:t>cable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1104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sldNum" idx="4294967295"/>
          </p:nvPr>
        </p:nvSpPr>
        <p:spPr>
          <a:xfrm>
            <a:off x="8655050" y="642778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12</a:t>
            </a:fld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 idx="4294967295"/>
          </p:nvPr>
        </p:nvSpPr>
        <p:spPr>
          <a:xfrm>
            <a:off x="1752600" y="152400"/>
            <a:ext cx="8610600" cy="8112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CPU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4294967295"/>
          </p:nvPr>
        </p:nvSpPr>
        <p:spPr>
          <a:xfrm>
            <a:off x="1752600" y="1143000"/>
            <a:ext cx="8653462" cy="5105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60"/>
              <a:buChar char="■"/>
            </a:pPr>
            <a:r>
              <a:rPr lang="en-US" dirty="0"/>
              <a:t>Central processing unit (CPU): circuitry and components packaged together and connected directly to the motherboard</a:t>
            </a:r>
            <a:endParaRPr dirty="0"/>
          </a:p>
          <a:p>
            <a:pPr marL="669925" lvl="1" indent="-325438">
              <a:spcBef>
                <a:spcPts val="920"/>
              </a:spcBef>
              <a:buSzPts val="1320"/>
              <a:buChar char="❑"/>
            </a:pPr>
            <a:r>
              <a:rPr lang="en-US" dirty="0"/>
              <a:t>Does the vast majority of processing for a computer</a:t>
            </a:r>
            <a:endParaRPr dirty="0"/>
          </a:p>
          <a:p>
            <a:pPr marL="669925" lvl="1" indent="-325438">
              <a:spcBef>
                <a:spcPts val="880"/>
              </a:spcBef>
              <a:buSzPts val="1320"/>
              <a:buChar char="❑"/>
            </a:pPr>
            <a:r>
              <a:rPr lang="en-US" dirty="0"/>
              <a:t>Also called a processor; called a microprocessor when talking about personal computers</a:t>
            </a:r>
            <a:endParaRPr dirty="0"/>
          </a:p>
          <a:p>
            <a:pPr marL="342900" indent="-342900">
              <a:spcBef>
                <a:spcPts val="920"/>
              </a:spcBef>
              <a:buSzPts val="1560"/>
              <a:buChar char="■"/>
            </a:pPr>
            <a:r>
              <a:rPr lang="en-US" dirty="0"/>
              <a:t>Dual-core CPU: Contains the processing components (cores) of two separate processors on a single CPU</a:t>
            </a:r>
            <a:endParaRPr dirty="0"/>
          </a:p>
          <a:p>
            <a:pPr marL="342900" indent="-342900">
              <a:spcBef>
                <a:spcPts val="960"/>
              </a:spcBef>
              <a:buSzPts val="1560"/>
              <a:buChar char="■"/>
            </a:pPr>
            <a:r>
              <a:rPr lang="en-US" dirty="0"/>
              <a:t>Quad-core CPU: Contains 4 cores</a:t>
            </a:r>
            <a:endParaRPr dirty="0"/>
          </a:p>
          <a:p>
            <a:pPr marL="342900" indent="-342900">
              <a:spcBef>
                <a:spcPts val="960"/>
              </a:spcBef>
              <a:buSzPts val="1560"/>
              <a:buChar char="■"/>
            </a:pPr>
            <a:r>
              <a:rPr lang="en-US" dirty="0"/>
              <a:t>Typically different CPUs for desktop computers, portable computers, servers, mobile devices, consumer devices, etc.</a:t>
            </a:r>
            <a:endParaRPr dirty="0"/>
          </a:p>
          <a:p>
            <a:pPr marL="342900" indent="-342900">
              <a:spcBef>
                <a:spcPts val="960"/>
              </a:spcBef>
              <a:buSzPts val="1560"/>
              <a:buChar char="■"/>
            </a:pPr>
            <a:r>
              <a:rPr lang="en-US" dirty="0"/>
              <a:t>Often made by Intel or AMD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410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sldNum" idx="4294967295"/>
          </p:nvPr>
        </p:nvSpPr>
        <p:spPr>
          <a:xfrm>
            <a:off x="8655050" y="642778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13</a:t>
            </a:fld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 txBox="1">
            <a:spLocks noGrp="1"/>
          </p:cNvSpPr>
          <p:nvPr>
            <p:ph type="title" idx="4294967295"/>
          </p:nvPr>
        </p:nvSpPr>
        <p:spPr>
          <a:xfrm>
            <a:off x="17526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CPU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 rotWithShape="1">
          <a:blip r:embed="rId3">
            <a:alphaModFix/>
          </a:blip>
          <a:srcRect t="14066"/>
          <a:stretch/>
        </p:blipFill>
        <p:spPr>
          <a:xfrm>
            <a:off x="3581400" y="1143000"/>
            <a:ext cx="5334000" cy="51076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90487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sldNum" idx="4294967295"/>
          </p:nvPr>
        </p:nvSpPr>
        <p:spPr>
          <a:xfrm>
            <a:off x="8655050" y="642778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14</a:t>
            </a:fld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title" idx="4294967295"/>
          </p:nvPr>
        </p:nvSpPr>
        <p:spPr>
          <a:xfrm>
            <a:off x="1879600" y="432973"/>
            <a:ext cx="8610600" cy="8524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CPU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8" name="Google Shape;118;p18" descr="Fig2_9.jpg"/>
          <p:cNvPicPr preferRelativeResize="0"/>
          <p:nvPr/>
        </p:nvPicPr>
        <p:blipFill rotWithShape="1">
          <a:blip r:embed="rId3">
            <a:alphaModFix/>
          </a:blip>
          <a:srcRect b="23381"/>
          <a:stretch/>
        </p:blipFill>
        <p:spPr>
          <a:xfrm>
            <a:off x="1879600" y="1676400"/>
            <a:ext cx="8386150" cy="3733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899622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sldNum" idx="4294967295"/>
          </p:nvPr>
        </p:nvSpPr>
        <p:spPr>
          <a:xfrm>
            <a:off x="8655050" y="642778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15</a:t>
            </a:fld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9"/>
          <p:cNvSpPr txBox="1">
            <a:spLocks noGrp="1"/>
          </p:cNvSpPr>
          <p:nvPr>
            <p:ph type="title" idx="4294967295"/>
          </p:nvPr>
        </p:nvSpPr>
        <p:spPr>
          <a:xfrm>
            <a:off x="1752600" y="152401"/>
            <a:ext cx="8610600" cy="746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Processing Speed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4294967295"/>
          </p:nvPr>
        </p:nvSpPr>
        <p:spPr>
          <a:xfrm>
            <a:off x="1752600" y="1219200"/>
            <a:ext cx="8610600" cy="49149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60"/>
              <a:buChar char="■"/>
            </a:pPr>
            <a:r>
              <a:rPr lang="en-US" dirty="0"/>
              <a:t>CPU clock speed: One measurement of processing speed</a:t>
            </a:r>
            <a:endParaRPr dirty="0"/>
          </a:p>
          <a:p>
            <a:pPr marL="669925" lvl="1" indent="-325438">
              <a:spcBef>
                <a:spcPts val="690"/>
              </a:spcBef>
              <a:buSzPts val="1320"/>
              <a:buChar char="❑"/>
            </a:pPr>
            <a:r>
              <a:rPr lang="en-US" dirty="0"/>
              <a:t>Measured in megahertz (MHz) or gigahertz (GHz)</a:t>
            </a:r>
            <a:endParaRPr dirty="0"/>
          </a:p>
          <a:p>
            <a:pPr marL="669925" lvl="1" indent="-325438">
              <a:spcBef>
                <a:spcPts val="660"/>
              </a:spcBef>
              <a:buSzPts val="1320"/>
              <a:buChar char="❑"/>
            </a:pPr>
            <a:r>
              <a:rPr lang="en-US" dirty="0"/>
              <a:t>Higher CPU clock speed = more instructions processed per second</a:t>
            </a:r>
            <a:endParaRPr dirty="0"/>
          </a:p>
          <a:p>
            <a:pPr marL="342900" indent="-243840">
              <a:spcBef>
                <a:spcPts val="690"/>
              </a:spcBef>
              <a:buSzPts val="1560"/>
              <a:buNone/>
            </a:pPr>
            <a:endParaRPr dirty="0"/>
          </a:p>
          <a:p>
            <a:pPr marL="342900" indent="-342900">
              <a:spcBef>
                <a:spcPts val="720"/>
              </a:spcBef>
              <a:buSzPts val="1560"/>
              <a:buChar char="■"/>
            </a:pPr>
            <a:r>
              <a:rPr lang="en-US" dirty="0"/>
              <a:t>Alternate measure of processing speed is the number of instructions a CPU can process per second</a:t>
            </a:r>
            <a:endParaRPr dirty="0"/>
          </a:p>
          <a:p>
            <a:pPr marL="669925" lvl="1" indent="-325438">
              <a:spcBef>
                <a:spcPts val="690"/>
              </a:spcBef>
              <a:buSzPts val="1320"/>
              <a:buChar char="❑"/>
            </a:pPr>
            <a:r>
              <a:rPr lang="en-US" dirty="0"/>
              <a:t>Megaflops, gigaflops, teraflops</a:t>
            </a:r>
            <a:endParaRPr dirty="0"/>
          </a:p>
          <a:p>
            <a:pPr marL="342900" indent="-243840">
              <a:spcBef>
                <a:spcPts val="690"/>
              </a:spcBef>
              <a:buSzPts val="1560"/>
              <a:buNone/>
            </a:pPr>
            <a:endParaRPr dirty="0"/>
          </a:p>
          <a:p>
            <a:pPr marL="342900" indent="-342900">
              <a:spcBef>
                <a:spcPts val="720"/>
              </a:spcBef>
              <a:buSzPts val="1560"/>
              <a:buChar char="■"/>
            </a:pPr>
            <a:r>
              <a:rPr lang="en-US" dirty="0"/>
              <a:t>Other factors (CPU architecture, memory, bus speed, amount of RAM, etc.) also affect the overall processing speed of a computer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513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sldNum" idx="4294967295"/>
          </p:nvPr>
        </p:nvSpPr>
        <p:spPr>
          <a:xfrm>
            <a:off x="8655050" y="642778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16</a:t>
            </a:fld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4294967295"/>
          </p:nvPr>
        </p:nvSpPr>
        <p:spPr>
          <a:xfrm>
            <a:off x="1752600" y="188914"/>
            <a:ext cx="8542338" cy="71913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Cache Memory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4294967295"/>
          </p:nvPr>
        </p:nvSpPr>
        <p:spPr>
          <a:xfrm>
            <a:off x="1752600" y="1066800"/>
            <a:ext cx="8610600" cy="5067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60"/>
              <a:buChar char="■"/>
            </a:pPr>
            <a:r>
              <a:rPr lang="en-US" dirty="0"/>
              <a:t>Cache memory: Special group of very fast memory chips located on or close to the CPU</a:t>
            </a:r>
            <a:endParaRPr dirty="0"/>
          </a:p>
          <a:p>
            <a:pPr marL="669925" lvl="1" indent="-325438">
              <a:spcBef>
                <a:spcPts val="920"/>
              </a:spcBef>
              <a:buSzPts val="1320"/>
              <a:buChar char="❑"/>
            </a:pPr>
            <a:r>
              <a:rPr lang="en-US" dirty="0"/>
              <a:t>Level 1 is fastest, then Level 2, then Level 3</a:t>
            </a:r>
            <a:endParaRPr dirty="0"/>
          </a:p>
          <a:p>
            <a:pPr marL="669925" lvl="1" indent="-325438">
              <a:spcBef>
                <a:spcPts val="880"/>
              </a:spcBef>
              <a:buSzPts val="1320"/>
              <a:buChar char="❑"/>
            </a:pPr>
            <a:r>
              <a:rPr lang="en-US" dirty="0"/>
              <a:t>More cache memory typically means faster processing</a:t>
            </a:r>
            <a:endParaRPr dirty="0"/>
          </a:p>
          <a:p>
            <a:pPr marL="669925" lvl="1" indent="-325438">
              <a:spcBef>
                <a:spcPts val="880"/>
              </a:spcBef>
              <a:buSzPts val="1320"/>
              <a:buChar char="❑"/>
            </a:pPr>
            <a:r>
              <a:rPr lang="en-US" dirty="0"/>
              <a:t>Usually internal cache (built into the CPU)</a:t>
            </a:r>
            <a:endParaRPr dirty="0"/>
          </a:p>
          <a:p>
            <a:pPr marL="669925" lvl="1" indent="-325438">
              <a:spcBef>
                <a:spcPts val="880"/>
              </a:spcBef>
              <a:buSzPts val="1320"/>
              <a:buChar char="❑"/>
            </a:pPr>
            <a:r>
              <a:rPr lang="en-US" dirty="0"/>
              <a:t>Often some cache dedicated to each core; may also have some shared cache accessible by any core</a:t>
            </a:r>
            <a:endParaRPr dirty="0"/>
          </a:p>
        </p:txBody>
      </p:sp>
      <p:sp>
        <p:nvSpPr>
          <p:cNvPr id="133" name="Google Shape;133;p20"/>
          <p:cNvSpPr txBox="1"/>
          <p:nvPr/>
        </p:nvSpPr>
        <p:spPr>
          <a:xfrm>
            <a:off x="2935424" y="4800600"/>
            <a:ext cx="617669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Volatile vs Non-Volatile Memory?</a:t>
            </a:r>
            <a:endParaRPr sz="2800" b="1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75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the CPU Works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2" name="Google Shape;162;p2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60"/>
              <a:buChar char="■"/>
            </a:pPr>
            <a:r>
              <a:rPr lang="en-US" dirty="0"/>
              <a:t>CPU: Consists of a variety of circuitry and components packaged together</a:t>
            </a:r>
            <a:endParaRPr dirty="0"/>
          </a:p>
          <a:p>
            <a:pPr marL="669925" lvl="1" indent="-325438">
              <a:spcBef>
                <a:spcPts val="440"/>
              </a:spcBef>
              <a:buSzPts val="1320"/>
              <a:buChar char="❑"/>
            </a:pPr>
            <a:r>
              <a:rPr lang="en-US" dirty="0"/>
              <a:t>Transistor: Key element of the microprocessor</a:t>
            </a:r>
            <a:endParaRPr dirty="0"/>
          </a:p>
          <a:p>
            <a:pPr marL="1022350" lvl="2" indent="-350838">
              <a:spcBef>
                <a:spcPts val="400"/>
              </a:spcBef>
              <a:buSzPts val="1300"/>
              <a:buChar char="■"/>
            </a:pPr>
            <a:r>
              <a:rPr lang="en-US" dirty="0"/>
              <a:t>Made of semi-conductor material that acts like a switch controlling the flow of electrons inside a chip</a:t>
            </a:r>
            <a:endParaRPr dirty="0"/>
          </a:p>
          <a:p>
            <a:pPr marL="342900" indent="-243840">
              <a:spcBef>
                <a:spcPts val="480"/>
              </a:spcBef>
              <a:buSzPts val="1560"/>
              <a:buNone/>
            </a:pPr>
            <a:endParaRPr dirty="0"/>
          </a:p>
          <a:p>
            <a:pPr marL="342900" indent="-342900">
              <a:spcBef>
                <a:spcPts val="480"/>
              </a:spcBef>
              <a:buSzPts val="1560"/>
              <a:buChar char="■"/>
            </a:pPr>
            <a:r>
              <a:rPr lang="en-US" dirty="0"/>
              <a:t>Today’s CPUs contain hundreds of millions of transistors; the number doubles about every 18 months (Moore’s Law)</a:t>
            </a:r>
            <a:endParaRPr dirty="0"/>
          </a:p>
        </p:txBody>
      </p:sp>
      <p:sp>
        <p:nvSpPr>
          <p:cNvPr id="160" name="Google Shape;160;p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17</a:t>
            </a:fld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325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Typical CPU Components 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9" name="Google Shape;169;p25"/>
          <p:cNvSpPr txBox="1">
            <a:spLocks noGrp="1"/>
          </p:cNvSpPr>
          <p:nvPr>
            <p:ph idx="1"/>
          </p:nvPr>
        </p:nvSpPr>
        <p:spPr>
          <a:xfrm>
            <a:off x="838200" y="142805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60"/>
              <a:buChar char="■"/>
            </a:pPr>
            <a:r>
              <a:rPr lang="en-US" dirty="0"/>
              <a:t>Arithmetic/Logic Unit (ALU): Performs integer arithmetic and logical operations</a:t>
            </a:r>
            <a:endParaRPr dirty="0"/>
          </a:p>
          <a:p>
            <a:pPr marL="342900" indent="-342900">
              <a:spcBef>
                <a:spcPts val="960"/>
              </a:spcBef>
              <a:buSzPts val="1560"/>
              <a:buChar char="■"/>
            </a:pPr>
            <a:r>
              <a:rPr lang="en-US" dirty="0"/>
              <a:t>Floating Point Unit (FPU): Performs decimal arithmetic</a:t>
            </a:r>
            <a:endParaRPr dirty="0"/>
          </a:p>
          <a:p>
            <a:pPr marL="342900" indent="-342900">
              <a:spcBef>
                <a:spcPts val="960"/>
              </a:spcBef>
              <a:buSzPts val="1560"/>
              <a:buChar char="■"/>
            </a:pPr>
            <a:r>
              <a:rPr lang="en-US" dirty="0"/>
              <a:t>Control unit: Coordinates and controls activities</a:t>
            </a:r>
            <a:endParaRPr dirty="0"/>
          </a:p>
          <a:p>
            <a:pPr marL="342900" indent="-342900">
              <a:spcBef>
                <a:spcPts val="960"/>
              </a:spcBef>
              <a:buSzPts val="1560"/>
              <a:buChar char="■"/>
            </a:pPr>
            <a:r>
              <a:rPr lang="en-US" dirty="0" err="1"/>
              <a:t>Prefetch</a:t>
            </a:r>
            <a:r>
              <a:rPr lang="en-US" dirty="0"/>
              <a:t> unit: Tries to fetch data and instructions before they are needed from cache or RAM</a:t>
            </a:r>
            <a:endParaRPr dirty="0"/>
          </a:p>
          <a:p>
            <a:pPr marL="342900" indent="-342900">
              <a:spcBef>
                <a:spcPts val="960"/>
              </a:spcBef>
              <a:buSzPts val="1560"/>
              <a:buChar char="■"/>
            </a:pPr>
            <a:r>
              <a:rPr lang="en-US" dirty="0"/>
              <a:t>Decode unit: Translates instructions so they are understood by the control unit, ALU, and FPU</a:t>
            </a:r>
            <a:endParaRPr dirty="0"/>
          </a:p>
          <a:p>
            <a:pPr marL="342900" indent="-342900">
              <a:spcBef>
                <a:spcPts val="480"/>
              </a:spcBef>
              <a:buSzPts val="1560"/>
              <a:buChar char="■"/>
            </a:pPr>
            <a:r>
              <a:rPr lang="en-US" dirty="0"/>
              <a:t>Internal cache and registers: Store data and instructions needed by the CPU</a:t>
            </a:r>
            <a:endParaRPr dirty="0"/>
          </a:p>
          <a:p>
            <a:pPr marL="342900" indent="-342900">
              <a:spcBef>
                <a:spcPts val="480"/>
              </a:spcBef>
              <a:buSzPts val="1560"/>
              <a:buChar char="■"/>
            </a:pPr>
            <a:r>
              <a:rPr lang="en-US" dirty="0"/>
              <a:t>Bus interface unit: Allows the core to communicate with other CPU components</a:t>
            </a:r>
            <a:endParaRPr dirty="0"/>
          </a:p>
          <a:p>
            <a:pPr marL="342900" indent="-243840">
              <a:spcBef>
                <a:spcPts val="480"/>
              </a:spcBef>
              <a:buSzPts val="1560"/>
              <a:buNone/>
            </a:pPr>
            <a:endParaRPr dirty="0"/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18</a:t>
            </a:fld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050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sldNum" idx="4294967295"/>
          </p:nvPr>
        </p:nvSpPr>
        <p:spPr>
          <a:xfrm>
            <a:off x="8655050" y="642778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19</a:t>
            </a:fld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 txBox="1">
            <a:spLocks noGrp="1"/>
          </p:cNvSpPr>
          <p:nvPr>
            <p:ph type="title" idx="4294967295"/>
          </p:nvPr>
        </p:nvSpPr>
        <p:spPr>
          <a:xfrm>
            <a:off x="17526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Typical CPU Components 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6" name="Google Shape;176;p26" descr="Fig2_1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3634" y="1066257"/>
            <a:ext cx="8048532" cy="525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354369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90930" marR="5080">
              <a:lnSpc>
                <a:spcPct val="100000"/>
              </a:lnSpc>
              <a:spcBef>
                <a:spcPts val="100"/>
              </a:spcBef>
            </a:pP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Clock 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</a:t>
            </a:r>
            <a:r>
              <a:rPr spc="-86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pc="-1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461263"/>
            <a:ext cx="7571105" cy="53033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spcBef>
                <a:spcPts val="67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libri"/>
                <a:cs typeface="Calibri"/>
              </a:rPr>
              <a:t>System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Clock</a:t>
            </a:r>
            <a:endParaRPr sz="2400" dirty="0">
              <a:latin typeface="Calibri"/>
              <a:cs typeface="Calibri"/>
            </a:endParaRPr>
          </a:p>
          <a:p>
            <a:pPr marL="756285" marR="375285" lvl="1" indent="-287020"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Timing mechanism </a:t>
            </a:r>
            <a:r>
              <a:rPr sz="2400" dirty="0">
                <a:latin typeface="Calibri"/>
                <a:cs typeface="Calibri"/>
              </a:rPr>
              <a:t>within the </a:t>
            </a:r>
            <a:r>
              <a:rPr sz="2400" spc="-10" dirty="0">
                <a:latin typeface="Calibri"/>
                <a:cs typeface="Calibri"/>
              </a:rPr>
              <a:t>computer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synchronizes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computer’s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endParaRPr sz="2400" dirty="0">
              <a:latin typeface="Calibri"/>
              <a:cs typeface="Calibri"/>
            </a:endParaRPr>
          </a:p>
          <a:p>
            <a:pPr marL="1155700" marR="5080" lvl="2" indent="-228600"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Sends </a:t>
            </a:r>
            <a:r>
              <a:rPr sz="2400" spc="-10" dirty="0">
                <a:latin typeface="Calibri"/>
                <a:cs typeface="Calibri"/>
              </a:rPr>
              <a:t>out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signal </a:t>
            </a:r>
            <a:r>
              <a:rPr sz="2400" spc="-10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regular </a:t>
            </a:r>
            <a:r>
              <a:rPr sz="2400" spc="-5" dirty="0">
                <a:latin typeface="Calibri"/>
                <a:cs typeface="Calibri"/>
              </a:rPr>
              <a:t>basis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10" dirty="0">
                <a:latin typeface="Calibri"/>
                <a:cs typeface="Calibri"/>
              </a:rPr>
              <a:t>computer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components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Each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signal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cycle</a:t>
            </a:r>
            <a:endParaRPr sz="2400" dirty="0">
              <a:latin typeface="Calibri"/>
              <a:cs typeface="Calibri"/>
            </a:endParaRPr>
          </a:p>
          <a:p>
            <a:pPr marL="1155700" marR="971550" lvl="2" indent="-228600"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Number </a:t>
            </a:r>
            <a:r>
              <a:rPr sz="2400" spc="-5" dirty="0">
                <a:latin typeface="Calibri"/>
                <a:cs typeface="Calibri"/>
              </a:rPr>
              <a:t>of cycles per </a:t>
            </a:r>
            <a:r>
              <a:rPr sz="2400" spc="-10" dirty="0">
                <a:latin typeface="Calibri"/>
                <a:cs typeface="Calibri"/>
              </a:rPr>
              <a:t>second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measured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hertz (Hz)</a:t>
            </a:r>
            <a:endParaRPr sz="2400" dirty="0">
              <a:latin typeface="Calibri"/>
              <a:cs typeface="Calibri"/>
            </a:endParaRPr>
          </a:p>
          <a:p>
            <a:pPr marL="1155700" marR="1403985" lvl="2" indent="-228600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megahertz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million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ticks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clock</a:t>
            </a:r>
            <a:endParaRPr lang="en-US" sz="2400" dirty="0">
              <a:latin typeface="Calibri"/>
              <a:cs typeface="Calibri"/>
            </a:endParaRPr>
          </a:p>
          <a:p>
            <a:pPr marL="1155700" marR="1403985" lvl="2" indent="-228600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lang="en-US" sz="2000" dirty="0"/>
              <a:t>During each CPU clock tick, one or more pieces of microcode are processed</a:t>
            </a:r>
            <a:endParaRPr lang="en-US" dirty="0"/>
          </a:p>
          <a:p>
            <a:pPr marL="1155700" marR="1403985" lvl="2" indent="-228600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7414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System Clock and the Machine Cycle 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0" name="Google Shape;190;p28"/>
          <p:cNvSpPr txBox="1">
            <a:spLocks noGrp="1"/>
          </p:cNvSpPr>
          <p:nvPr>
            <p:ph idx="1"/>
          </p:nvPr>
        </p:nvSpPr>
        <p:spPr>
          <a:xfrm>
            <a:off x="453887" y="186538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60"/>
              <a:buChar char="■"/>
            </a:pPr>
            <a:r>
              <a:rPr lang="en-US" dirty="0"/>
              <a:t>Machine cycle: The series of operations involved in the execution of a single machine level instruction</a:t>
            </a:r>
            <a:endParaRPr dirty="0"/>
          </a:p>
          <a:p>
            <a:pPr marL="669925" lvl="1" indent="-325438">
              <a:spcBef>
                <a:spcPts val="920"/>
              </a:spcBef>
              <a:buSzPts val="1320"/>
              <a:buChar char="❑"/>
            </a:pPr>
            <a:r>
              <a:rPr lang="en-US" dirty="0"/>
              <a:t>Fetch: The program instruction is fetched</a:t>
            </a:r>
            <a:endParaRPr dirty="0"/>
          </a:p>
          <a:p>
            <a:pPr marL="669925" lvl="1" indent="-325438">
              <a:spcBef>
                <a:spcPts val="880"/>
              </a:spcBef>
              <a:buSzPts val="1320"/>
              <a:buChar char="❑"/>
            </a:pPr>
            <a:r>
              <a:rPr lang="en-US" dirty="0"/>
              <a:t>Decode: The instructions are decoded </a:t>
            </a:r>
            <a:r>
              <a:rPr lang="en-US" dirty="0" smtClean="0"/>
              <a:t>so,</a:t>
            </a:r>
          </a:p>
          <a:p>
            <a:pPr marL="344487" lvl="1" indent="0">
              <a:spcBef>
                <a:spcPts val="880"/>
              </a:spcBef>
              <a:buSzPts val="1320"/>
              <a:buNone/>
            </a:pPr>
            <a:r>
              <a:rPr lang="en-US" dirty="0" smtClean="0"/>
              <a:t> </a:t>
            </a:r>
            <a:r>
              <a:rPr lang="en-US" dirty="0"/>
              <a:t>the control unit, ALU, and FPU can understand them</a:t>
            </a:r>
            <a:endParaRPr dirty="0"/>
          </a:p>
          <a:p>
            <a:pPr marL="669925" lvl="1" indent="-325438">
              <a:spcBef>
                <a:spcPts val="880"/>
              </a:spcBef>
              <a:buSzPts val="1320"/>
              <a:buChar char="❑"/>
            </a:pPr>
            <a:r>
              <a:rPr lang="en-US" dirty="0"/>
              <a:t>Execute: The instructions are </a:t>
            </a:r>
            <a:br>
              <a:rPr lang="en-US" dirty="0"/>
            </a:br>
            <a:r>
              <a:rPr lang="en-US" dirty="0"/>
              <a:t>carried out</a:t>
            </a:r>
            <a:endParaRPr dirty="0"/>
          </a:p>
          <a:p>
            <a:pPr marL="669925" lvl="1" indent="-325438">
              <a:spcBef>
                <a:spcPts val="880"/>
              </a:spcBef>
              <a:buSzPts val="1320"/>
              <a:buChar char="❑"/>
            </a:pPr>
            <a:r>
              <a:rPr lang="en-US" dirty="0"/>
              <a:t>Store: The original data or the </a:t>
            </a:r>
            <a:br>
              <a:rPr lang="en-US" dirty="0"/>
            </a:br>
            <a:r>
              <a:rPr lang="en-US" dirty="0"/>
              <a:t>result from the ALU or FPU </a:t>
            </a:r>
            <a:br>
              <a:rPr lang="en-US" dirty="0"/>
            </a:br>
            <a:r>
              <a:rPr lang="en-US" dirty="0"/>
              <a:t>execution is stored in the CPU’s</a:t>
            </a:r>
            <a:br>
              <a:rPr lang="en-US" dirty="0"/>
            </a:br>
            <a:r>
              <a:rPr lang="en-US" dirty="0"/>
              <a:t>registers </a:t>
            </a:r>
            <a:endParaRPr dirty="0"/>
          </a:p>
        </p:txBody>
      </p:sp>
      <p:sp>
        <p:nvSpPr>
          <p:cNvPr id="188" name="Google Shape;188;p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21</a:t>
            </a:fld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8" descr="C:\Data\Course\_UC13\IM stuff\ch02\FigureChapter02_fig2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2582" y="2792317"/>
            <a:ext cx="3505200" cy="349421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79478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461262"/>
            <a:ext cx="8016240" cy="461087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spcBef>
                <a:spcPts val="67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25" dirty="0">
                <a:latin typeface="Calibri"/>
                <a:cs typeface="Calibri"/>
              </a:rPr>
              <a:t>Refers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chip-based </a:t>
            </a:r>
            <a:r>
              <a:rPr sz="2400" spc="-20" dirty="0">
                <a:latin typeface="Calibri"/>
                <a:cs typeface="Calibri"/>
              </a:rPr>
              <a:t>storage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located </a:t>
            </a:r>
            <a:r>
              <a:rPr sz="2400" dirty="0">
                <a:latin typeface="Calibri"/>
                <a:cs typeface="Calibri"/>
              </a:rPr>
              <a:t>inside the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unit</a:t>
            </a:r>
            <a:endParaRPr sz="2400">
              <a:latin typeface="Calibri"/>
              <a:cs typeface="Calibri"/>
            </a:endParaRPr>
          </a:p>
          <a:p>
            <a:pPr marL="756285" marR="1088390" lvl="1" indent="-287020"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20" dirty="0">
                <a:latin typeface="Calibri"/>
                <a:cs typeface="Calibri"/>
              </a:rPr>
              <a:t>Storage </a:t>
            </a:r>
            <a:r>
              <a:rPr sz="2400" spc="-25" dirty="0">
                <a:latin typeface="Calibri"/>
                <a:cs typeface="Calibri"/>
              </a:rPr>
              <a:t>refers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amount </a:t>
            </a:r>
            <a:r>
              <a:rPr sz="2400" spc="-5" dirty="0">
                <a:latin typeface="Calibri"/>
                <a:cs typeface="Calibri"/>
              </a:rPr>
              <a:t>of long-term </a:t>
            </a:r>
            <a:r>
              <a:rPr sz="2400" spc="-20" dirty="0">
                <a:latin typeface="Calibri"/>
                <a:cs typeface="Calibri"/>
              </a:rPr>
              <a:t>storage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computer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5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Random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(RAM)</a:t>
            </a:r>
            <a:endParaRPr sz="2400">
              <a:latin typeface="Calibri"/>
              <a:cs typeface="Calibri"/>
            </a:endParaRPr>
          </a:p>
          <a:p>
            <a:pPr marL="1155700" lvl="2" indent="-229235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Computer’s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1155700" marR="401955" lvl="2" indent="-228600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Consists </a:t>
            </a:r>
            <a:r>
              <a:rPr sz="2400" spc="-5" dirty="0">
                <a:latin typeface="Calibri"/>
                <a:cs typeface="Calibri"/>
              </a:rPr>
              <a:t>of chips </a:t>
            </a:r>
            <a:r>
              <a:rPr sz="2400" spc="-10" dirty="0">
                <a:latin typeface="Calibri"/>
                <a:cs typeface="Calibri"/>
              </a:rPr>
              <a:t>arranged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circuit </a:t>
            </a:r>
            <a:r>
              <a:rPr sz="2400" spc="-15" dirty="0">
                <a:latin typeface="Calibri"/>
                <a:cs typeface="Calibri"/>
              </a:rPr>
              <a:t>board </a:t>
            </a:r>
            <a:r>
              <a:rPr sz="2400" spc="-5" dirty="0">
                <a:latin typeface="Calibri"/>
                <a:cs typeface="Calibri"/>
              </a:rPr>
              <a:t>called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 module which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plugged </a:t>
            </a:r>
            <a:r>
              <a:rPr sz="2400" spc="-15" dirty="0">
                <a:latin typeface="Calibri"/>
                <a:cs typeface="Calibri"/>
              </a:rPr>
              <a:t>into </a:t>
            </a:r>
            <a:r>
              <a:rPr sz="2400" spc="-1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 motherboard</a:t>
            </a:r>
            <a:endParaRPr sz="2400">
              <a:latin typeface="Calibri"/>
              <a:cs typeface="Calibri"/>
            </a:endParaRPr>
          </a:p>
          <a:p>
            <a:pPr marL="1155700" marR="320675" lvl="2" indent="-228600"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5" dirty="0">
                <a:latin typeface="Calibri"/>
                <a:cs typeface="Calibri"/>
              </a:rPr>
              <a:t>Stores </a:t>
            </a:r>
            <a:r>
              <a:rPr sz="2400" spc="-5" dirty="0">
                <a:latin typeface="Calibri"/>
                <a:cs typeface="Calibri"/>
              </a:rPr>
              <a:t>essential parts of </a:t>
            </a:r>
            <a:r>
              <a:rPr sz="2400" spc="-10" dirty="0">
                <a:latin typeface="Calibri"/>
                <a:cs typeface="Calibri"/>
              </a:rPr>
              <a:t>operating </a:t>
            </a:r>
            <a:r>
              <a:rPr sz="2400" spc="-20" dirty="0">
                <a:latin typeface="Calibri"/>
                <a:cs typeface="Calibri"/>
              </a:rPr>
              <a:t>system, </a:t>
            </a:r>
            <a:r>
              <a:rPr sz="2400" spc="-15" dirty="0">
                <a:latin typeface="Calibri"/>
                <a:cs typeface="Calibri"/>
              </a:rPr>
              <a:t>programs,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computer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8358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5685" y="1700810"/>
            <a:ext cx="5038724" cy="44291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562600" y="6347515"/>
            <a:ext cx="4114800" cy="382797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34600" y="6434396"/>
            <a:ext cx="2743200" cy="209032"/>
          </a:xfrm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23</a:t>
            </a:fld>
            <a:endParaRPr dirty="0"/>
          </a:p>
        </p:txBody>
      </p:sp>
      <p:sp>
        <p:nvSpPr>
          <p:cNvPr id="7" name="object 2"/>
          <p:cNvSpPr txBox="1">
            <a:spLocks/>
          </p:cNvSpPr>
          <p:nvPr/>
        </p:nvSpPr>
        <p:spPr>
          <a:xfrm>
            <a:off x="990600" y="8353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Ebrima"/>
                <a:ea typeface="+mj-ea"/>
                <a:cs typeface="Ebri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85562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2034642" y="6394560"/>
            <a:ext cx="4491355" cy="19813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904477" y="6428961"/>
            <a:ext cx="253365" cy="209032"/>
          </a:xfrm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974595" y="1461262"/>
            <a:ext cx="6646545" cy="305660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20" dirty="0">
                <a:latin typeface="Calibri"/>
                <a:cs typeface="Calibri"/>
              </a:rPr>
              <a:t>Volatile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spcBef>
                <a:spcPts val="575"/>
              </a:spcBef>
              <a:buFont typeface="Arial MT"/>
              <a:buChar char="–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RAM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content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lost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computer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shut</a:t>
            </a:r>
            <a:r>
              <a:rPr sz="2400" spc="-15" dirty="0">
                <a:latin typeface="Calibri"/>
                <a:cs typeface="Calibri"/>
              </a:rPr>
              <a:t> off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spcBef>
                <a:spcPts val="575"/>
              </a:spcBef>
              <a:buFont typeface="Arial MT"/>
              <a:buChar char="–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ROM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flash</a:t>
            </a:r>
            <a:r>
              <a:rPr sz="2400" dirty="0">
                <a:latin typeface="Calibri"/>
                <a:cs typeface="Calibri"/>
              </a:rPr>
              <a:t> memory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non-volatile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spcBef>
                <a:spcPts val="5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Measured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bytes</a:t>
            </a:r>
            <a:endParaRPr sz="2400" dirty="0">
              <a:latin typeface="Calibri"/>
              <a:cs typeface="Calibri"/>
            </a:endParaRPr>
          </a:p>
          <a:p>
            <a:pPr marL="698500" marR="709295" lvl="1" indent="-228600">
              <a:spcBef>
                <a:spcPts val="575"/>
              </a:spcBef>
              <a:buFont typeface="Arial MT"/>
              <a:buChar char="–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Amount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installed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depends 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CPU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operating</a:t>
            </a:r>
            <a:r>
              <a:rPr sz="2400" spc="-25" dirty="0">
                <a:latin typeface="Calibri"/>
                <a:cs typeface="Calibri"/>
              </a:rPr>
              <a:t> system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being used</a:t>
            </a:r>
            <a:endParaRPr sz="2400" dirty="0">
              <a:latin typeface="Calibri"/>
              <a:cs typeface="Calibri"/>
            </a:endParaRPr>
          </a:p>
          <a:p>
            <a:pPr marL="12700">
              <a:spcBef>
                <a:spcPts val="575"/>
              </a:spcBef>
              <a:tabLst>
                <a:tab pos="24130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737501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74594" y="1534414"/>
            <a:ext cx="3305810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Each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address</a:t>
            </a:r>
            <a:endParaRPr sz="2400">
              <a:latin typeface="Calibri"/>
              <a:cs typeface="Calibri"/>
            </a:endParaRPr>
          </a:p>
          <a:p>
            <a:pPr marL="698500" marR="300990" lvl="1" indent="-228600">
              <a:spcBef>
                <a:spcPts val="575"/>
              </a:spcBef>
              <a:buFont typeface="Arial MT"/>
              <a:buChar char="–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Each location </a:t>
            </a:r>
            <a:r>
              <a:rPr sz="2400" spc="-5" dirty="0">
                <a:latin typeface="Calibri"/>
                <a:cs typeface="Calibri"/>
              </a:rPr>
              <a:t> typically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holds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byte</a:t>
            </a:r>
            <a:endParaRPr sz="2400">
              <a:latin typeface="Calibri"/>
              <a:cs typeface="Calibri"/>
            </a:endParaRPr>
          </a:p>
          <a:p>
            <a:pPr marL="698500" marR="146050" lvl="1" indent="-228600">
              <a:spcBef>
                <a:spcPts val="580"/>
              </a:spcBef>
              <a:buFont typeface="Arial MT"/>
              <a:buChar char="–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Computer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sets up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maintains </a:t>
            </a:r>
            <a:r>
              <a:rPr sz="2400" spc="-10" dirty="0">
                <a:latin typeface="Calibri"/>
                <a:cs typeface="Calibri"/>
              </a:rPr>
              <a:t>directory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tables </a:t>
            </a:r>
            <a:r>
              <a:rPr sz="2400" spc="-15" dirty="0">
                <a:latin typeface="Calibri"/>
                <a:cs typeface="Calibri"/>
              </a:rPr>
              <a:t>to facilitate </a:t>
            </a:r>
            <a:r>
              <a:rPr sz="2400" spc="-10" dirty="0">
                <a:latin typeface="Calibri"/>
                <a:cs typeface="Calibri"/>
              </a:rPr>
              <a:t> retrieval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3204" y="2026946"/>
            <a:ext cx="3360420" cy="4084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7678" y="1519263"/>
            <a:ext cx="1152497" cy="26224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2034642" y="6394560"/>
            <a:ext cx="4491355" cy="19813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9904477" y="6428961"/>
            <a:ext cx="253365" cy="209032"/>
          </a:xfrm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25</a:t>
            </a:fld>
            <a:endParaRPr dirty="0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723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2034642" y="6394560"/>
            <a:ext cx="4491355" cy="19813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904477" y="6428961"/>
            <a:ext cx="253365" cy="209032"/>
          </a:xfrm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517445" y="1461262"/>
            <a:ext cx="7503159" cy="43184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spcBef>
                <a:spcPts val="675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15" dirty="0">
                <a:latin typeface="Calibri"/>
                <a:cs typeface="Calibri"/>
              </a:rPr>
              <a:t>Registers</a:t>
            </a:r>
            <a:endParaRPr sz="2400">
              <a:latin typeface="Calibri"/>
              <a:cs typeface="Calibri"/>
            </a:endParaRPr>
          </a:p>
          <a:p>
            <a:pPr marL="697865" lvl="1" indent="-229235">
              <a:spcBef>
                <a:spcPts val="57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High-speed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built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into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CPU</a:t>
            </a:r>
            <a:endParaRPr sz="2400">
              <a:latin typeface="Calibri"/>
              <a:cs typeface="Calibri"/>
            </a:endParaRPr>
          </a:p>
          <a:p>
            <a:pPr marL="697865" marR="560705" lvl="1" indent="-228600">
              <a:spcBef>
                <a:spcPts val="57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5" dirty="0">
                <a:latin typeface="Calibri"/>
                <a:cs typeface="Calibri"/>
              </a:rPr>
              <a:t>store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intermediary results during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processing</a:t>
            </a:r>
            <a:endParaRPr sz="2400">
              <a:latin typeface="Calibri"/>
              <a:cs typeface="Calibri"/>
            </a:endParaRPr>
          </a:p>
          <a:p>
            <a:pPr marL="697865" lvl="1" indent="-229235">
              <a:spcBef>
                <a:spcPts val="58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20" dirty="0">
                <a:latin typeface="Calibri"/>
                <a:cs typeface="Calibri"/>
              </a:rPr>
              <a:t>Fastest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299085" indent="-287020">
              <a:spcBef>
                <a:spcPts val="575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10" dirty="0">
                <a:latin typeface="Calibri"/>
                <a:cs typeface="Calibri"/>
              </a:rPr>
              <a:t>ROM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(read-only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memory)</a:t>
            </a:r>
            <a:endParaRPr sz="2400">
              <a:latin typeface="Calibri"/>
              <a:cs typeface="Calibri"/>
            </a:endParaRPr>
          </a:p>
          <a:p>
            <a:pPr marL="697865" marR="5080" lvl="1" indent="-228600">
              <a:spcBef>
                <a:spcPts val="57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Non-volatile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chips </a:t>
            </a:r>
            <a:r>
              <a:rPr sz="2400" spc="-15" dirty="0">
                <a:latin typeface="Calibri"/>
                <a:cs typeface="Calibri"/>
              </a:rPr>
              <a:t>located</a:t>
            </a:r>
            <a:r>
              <a:rPr sz="2400" spc="-5" dirty="0">
                <a:latin typeface="Calibri"/>
                <a:cs typeface="Calibri"/>
              </a:rPr>
              <a:t> on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motherboard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into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15" dirty="0">
                <a:latin typeface="Calibri"/>
                <a:cs typeface="Calibri"/>
              </a:rPr>
              <a:t> data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5" dirty="0">
                <a:latin typeface="Calibri"/>
                <a:cs typeface="Calibri"/>
              </a:rPr>
              <a:t>programs</a:t>
            </a:r>
            <a:r>
              <a:rPr sz="2400" spc="-20" dirty="0">
                <a:latin typeface="Calibri"/>
                <a:cs typeface="Calibri"/>
              </a:rPr>
              <a:t> have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been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permanently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stored</a:t>
            </a:r>
            <a:endParaRPr sz="2400">
              <a:latin typeface="Calibri"/>
              <a:cs typeface="Calibri"/>
            </a:endParaRPr>
          </a:p>
          <a:p>
            <a:pPr marL="697865" lvl="1" indent="-229235">
              <a:spcBef>
                <a:spcPts val="58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Retrieved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computer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needed</a:t>
            </a:r>
            <a:endParaRPr sz="2400">
              <a:latin typeface="Calibri"/>
              <a:cs typeface="Calibri"/>
            </a:endParaRPr>
          </a:p>
          <a:p>
            <a:pPr marL="697865" lvl="1" indent="-229235">
              <a:spcBef>
                <a:spcPts val="57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Being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replaced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flash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580705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2034642" y="6394560"/>
            <a:ext cx="4491355" cy="19813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904477" y="6428961"/>
            <a:ext cx="253365" cy="209032"/>
          </a:xfrm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517444" y="1461263"/>
            <a:ext cx="7594600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spcBef>
                <a:spcPts val="675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Flash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marL="697865" lvl="1" indent="-229235">
              <a:spcBef>
                <a:spcPts val="57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5" dirty="0">
                <a:latin typeface="Calibri"/>
                <a:cs typeface="Calibri"/>
              </a:rPr>
              <a:t>Nonvolatile</a:t>
            </a:r>
            <a:r>
              <a:rPr sz="2400" dirty="0">
                <a:latin typeface="Calibri"/>
                <a:cs typeface="Calibri"/>
              </a:rPr>
              <a:t> memory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chips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 can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storage</a:t>
            </a:r>
            <a:endParaRPr sz="2400">
              <a:latin typeface="Calibri"/>
              <a:cs typeface="Calibri"/>
            </a:endParaRPr>
          </a:p>
          <a:p>
            <a:pPr marL="697865" marR="1153795" lvl="1" indent="-228600">
              <a:spcBef>
                <a:spcPts val="57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-5" dirty="0">
                <a:latin typeface="Calibri"/>
                <a:cs typeface="Calibri"/>
              </a:rPr>
              <a:t> begun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replace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ROM</a:t>
            </a:r>
            <a:r>
              <a:rPr sz="2400" spc="-20" dirty="0">
                <a:latin typeface="Calibri"/>
                <a:cs typeface="Calibri"/>
              </a:rPr>
              <a:t> for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storing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endParaRPr sz="2400">
              <a:latin typeface="Calibri"/>
              <a:cs typeface="Calibri"/>
            </a:endParaRPr>
          </a:p>
          <a:p>
            <a:pPr marL="697865" marR="5080" lvl="1" indent="-228600">
              <a:spcBef>
                <a:spcPts val="580"/>
              </a:spcBef>
              <a:buFont typeface="Arial MT"/>
              <a:buChar char="•"/>
              <a:tabLst>
                <a:tab pos="698500" algn="l"/>
                <a:tab pos="1409065" algn="l"/>
              </a:tabLst>
            </a:pPr>
            <a:r>
              <a:rPr sz="2400" spc="-10" dirty="0">
                <a:latin typeface="Calibri"/>
                <a:cs typeface="Calibri"/>
              </a:rPr>
              <a:t>Now	</a:t>
            </a:r>
            <a:r>
              <a:rPr sz="2400" spc="-20" dirty="0">
                <a:latin typeface="Calibri"/>
                <a:cs typeface="Calibri"/>
              </a:rPr>
              <a:t>stores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firmware</a:t>
            </a:r>
            <a:r>
              <a:rPr sz="2400" spc="-20" dirty="0">
                <a:latin typeface="Calibri"/>
                <a:cs typeface="Calibri"/>
              </a:rPr>
              <a:t> for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personal </a:t>
            </a:r>
            <a:r>
              <a:rPr sz="2400" spc="-15" dirty="0">
                <a:latin typeface="Calibri"/>
                <a:cs typeface="Calibri"/>
              </a:rPr>
              <a:t>computers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other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devices</a:t>
            </a:r>
            <a:endParaRPr sz="2400">
              <a:latin typeface="Calibri"/>
              <a:cs typeface="Calibri"/>
            </a:endParaRPr>
          </a:p>
          <a:p>
            <a:pPr marL="697865" marR="123189" lvl="1" indent="-228600">
              <a:spcBef>
                <a:spcPts val="57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Built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many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devices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(media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tablets,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mobile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phones,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digital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cameras)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5" dirty="0">
                <a:latin typeface="Calibri"/>
                <a:cs typeface="Calibri"/>
              </a:rPr>
              <a:t> user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storage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2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51736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Cooling</a:t>
            </a:r>
            <a:r>
              <a:rPr spc="-6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461262"/>
            <a:ext cx="7654290" cy="424154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spcBef>
                <a:spcPts val="67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libri"/>
                <a:cs typeface="Calibri"/>
              </a:rPr>
              <a:t>Fans</a:t>
            </a:r>
            <a:endParaRPr sz="2400" dirty="0">
              <a:latin typeface="Calibri"/>
              <a:cs typeface="Calibri"/>
            </a:endParaRPr>
          </a:p>
          <a:p>
            <a:pPr marL="756285" marR="65405" lvl="1" indent="-287020"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Fans </a:t>
            </a:r>
            <a:r>
              <a:rPr sz="2400" spc="-5" dirty="0">
                <a:latin typeface="Calibri"/>
                <a:cs typeface="Calibri"/>
              </a:rPr>
              <a:t>used on </a:t>
            </a:r>
            <a:r>
              <a:rPr sz="2400" spc="-10" dirty="0">
                <a:latin typeface="Calibri"/>
                <a:cs typeface="Calibri"/>
              </a:rPr>
              <a:t>most personal </a:t>
            </a:r>
            <a:r>
              <a:rPr sz="2400" spc="-15" dirty="0">
                <a:latin typeface="Calibri"/>
                <a:cs typeface="Calibri"/>
              </a:rPr>
              <a:t>computers to </a:t>
            </a:r>
            <a:r>
              <a:rPr sz="2400" spc="-5" dirty="0">
                <a:latin typeface="Calibri"/>
                <a:cs typeface="Calibri"/>
              </a:rPr>
              <a:t>help </a:t>
            </a:r>
            <a:r>
              <a:rPr sz="2400" spc="-15" dirty="0">
                <a:latin typeface="Calibri"/>
                <a:cs typeface="Calibri"/>
              </a:rPr>
              <a:t>cool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CPU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unit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spcBef>
                <a:spcPts val="5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Heat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ongoing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CPU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computer</a:t>
            </a:r>
            <a:endParaRPr sz="2400" dirty="0">
              <a:latin typeface="Calibri"/>
              <a:cs typeface="Calibri"/>
            </a:endParaRPr>
          </a:p>
          <a:p>
            <a:pPr marL="756285"/>
            <a:r>
              <a:rPr sz="2400" spc="-10" dirty="0">
                <a:latin typeface="Calibri"/>
                <a:cs typeface="Calibri"/>
              </a:rPr>
              <a:t>manufacturers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Can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damage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components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Cooler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chips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faster</a:t>
            </a:r>
            <a:endParaRPr sz="2400" dirty="0">
              <a:latin typeface="Calibri"/>
              <a:cs typeface="Calibri"/>
            </a:endParaRPr>
          </a:p>
          <a:p>
            <a:pPr marL="355600" indent="-343535">
              <a:spcBef>
                <a:spcPts val="58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libri"/>
                <a:cs typeface="Calibri"/>
              </a:rPr>
              <a:t>Heat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Sinks</a:t>
            </a:r>
            <a:endParaRPr sz="2400" dirty="0">
              <a:latin typeface="Calibri"/>
              <a:cs typeface="Calibri"/>
            </a:endParaRPr>
          </a:p>
          <a:p>
            <a:pPr marL="756285" marR="5080" lvl="1" indent="-287020"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Small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components</a:t>
            </a:r>
            <a:r>
              <a:rPr sz="2400" spc="-5" dirty="0">
                <a:latin typeface="Calibri"/>
                <a:cs typeface="Calibri"/>
              </a:rPr>
              <a:t> typically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out</a:t>
            </a:r>
            <a:r>
              <a:rPr sz="2400" spc="-10" dirty="0">
                <a:latin typeface="Calibri"/>
                <a:cs typeface="Calibri"/>
              </a:rPr>
              <a:t> of</a:t>
            </a:r>
            <a:r>
              <a:rPr sz="2400" dirty="0">
                <a:latin typeface="Calibri"/>
                <a:cs typeface="Calibri"/>
              </a:rPr>
              <a:t> aluminum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fins</a:t>
            </a:r>
            <a:r>
              <a:rPr sz="2400" spc="-10" dirty="0">
                <a:latin typeface="Calibri"/>
                <a:cs typeface="Calibri"/>
              </a:rPr>
              <a:t> that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help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dissipate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heat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5819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Expansi</a:t>
            </a:r>
            <a:r>
              <a:rPr spc="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461262"/>
            <a:ext cx="7818120" cy="43184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spcBef>
                <a:spcPts val="67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Expansion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Slots,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Expansion </a:t>
            </a:r>
            <a:r>
              <a:rPr sz="2400" spc="-10" dirty="0">
                <a:latin typeface="Calibri"/>
                <a:cs typeface="Calibri"/>
              </a:rPr>
              <a:t>Cards,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ExpressCard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Modules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Expansion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Slot</a:t>
            </a:r>
            <a:endParaRPr sz="2400">
              <a:latin typeface="Calibri"/>
              <a:cs typeface="Calibri"/>
            </a:endParaRPr>
          </a:p>
          <a:p>
            <a:pPr marL="1155700" marR="140335" lvl="2" indent="-228600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location on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motherboard </a:t>
            </a:r>
            <a:r>
              <a:rPr sz="2400" spc="-15" dirty="0">
                <a:latin typeface="Calibri"/>
                <a:cs typeface="Calibri"/>
              </a:rPr>
              <a:t>into </a:t>
            </a: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-10" dirty="0">
                <a:latin typeface="Calibri"/>
                <a:cs typeface="Calibri"/>
              </a:rPr>
              <a:t>expansion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cards are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inserted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5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Expansion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Card</a:t>
            </a:r>
            <a:endParaRPr sz="2400">
              <a:latin typeface="Calibri"/>
              <a:cs typeface="Calibri"/>
            </a:endParaRPr>
          </a:p>
          <a:p>
            <a:pPr marL="1155700" lvl="2" indent="-229235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circuit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board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inserted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expansion</a:t>
            </a:r>
            <a:r>
              <a:rPr sz="2400" spc="-5" dirty="0">
                <a:latin typeface="Calibri"/>
                <a:cs typeface="Calibri"/>
              </a:rPr>
              <a:t> slot</a:t>
            </a:r>
            <a:endParaRPr sz="2400">
              <a:latin typeface="Calibri"/>
              <a:cs typeface="Calibri"/>
            </a:endParaRPr>
          </a:p>
          <a:p>
            <a:pPr marL="1155700" marR="506730" lvl="2" indent="-228600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add additional </a:t>
            </a:r>
            <a:r>
              <a:rPr sz="2400" spc="-5" dirty="0">
                <a:latin typeface="Calibri"/>
                <a:cs typeface="Calibri"/>
              </a:rPr>
              <a:t>functionality or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attach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peripheral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device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5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ExpressCard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Modules</a:t>
            </a:r>
            <a:endParaRPr sz="2400">
              <a:latin typeface="Calibri"/>
              <a:cs typeface="Calibri"/>
            </a:endParaRPr>
          </a:p>
          <a:p>
            <a:pPr marL="1155700" lvl="2" indent="-229235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Designed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additional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functionality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notebooks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8158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Expansion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8077200" y="6346825"/>
            <a:ext cx="4114800" cy="38417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9448800" y="6434138"/>
            <a:ext cx="2743200" cy="209550"/>
          </a:xfrm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30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5555" y="1844801"/>
            <a:ext cx="7622102" cy="30036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7873" y="5333974"/>
            <a:ext cx="14668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106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Buses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0" y="1469795"/>
            <a:ext cx="7875270" cy="431800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3535">
              <a:spcBef>
                <a:spcPts val="62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libri"/>
                <a:cs typeface="Calibri"/>
              </a:rPr>
              <a:t>Bus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spcBef>
                <a:spcPts val="5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electronic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path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within 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computer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over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which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travels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spcBef>
                <a:spcPts val="53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200" spc="-15" dirty="0">
                <a:latin typeface="Calibri"/>
                <a:cs typeface="Calibri"/>
              </a:rPr>
              <a:t>Located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within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CPU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etched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onto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motherboard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spcBef>
                <a:spcPts val="5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Expansion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Bus</a:t>
            </a:r>
            <a:endParaRPr sz="2200" dirty="0">
              <a:latin typeface="Calibri"/>
              <a:cs typeface="Calibri"/>
            </a:endParaRPr>
          </a:p>
          <a:p>
            <a:pPr marL="1155700" marR="5080" lvl="2" indent="-228600">
              <a:spcBef>
                <a:spcPts val="52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200" spc="-5" dirty="0">
                <a:latin typeface="Calibri"/>
                <a:cs typeface="Calibri"/>
              </a:rPr>
              <a:t>Connects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CPU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peripheral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(typically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input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output)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devices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spcBef>
                <a:spcPts val="5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Memory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Bus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spcBef>
                <a:spcPts val="53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200" spc="-10" dirty="0">
                <a:latin typeface="Calibri"/>
                <a:cs typeface="Calibri"/>
              </a:rPr>
              <a:t>Connects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CPU</a:t>
            </a:r>
            <a:r>
              <a:rPr sz="2200" spc="-10" dirty="0">
                <a:latin typeface="Calibri"/>
                <a:cs typeface="Calibri"/>
              </a:rPr>
              <a:t> directly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RAM</a:t>
            </a:r>
            <a:endParaRPr sz="2200" dirty="0">
              <a:latin typeface="Calibri"/>
              <a:cs typeface="Calibri"/>
            </a:endParaRPr>
          </a:p>
          <a:p>
            <a:pPr marL="756285" lvl="1" indent="-287020">
              <a:spcBef>
                <a:spcPts val="5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Frontside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Bus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(FSB)</a:t>
            </a:r>
            <a:endParaRPr sz="2200" dirty="0">
              <a:latin typeface="Calibri"/>
              <a:cs typeface="Calibri"/>
            </a:endParaRPr>
          </a:p>
          <a:p>
            <a:pPr marL="1155700" marR="177800" lvl="2" indent="-228600">
              <a:spcBef>
                <a:spcPts val="52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200" spc="-5" dirty="0">
                <a:latin typeface="Calibri"/>
                <a:cs typeface="Calibri"/>
              </a:rPr>
              <a:t>Connects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CPU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chipset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connects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CPU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rest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bus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architecture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5304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461263"/>
            <a:ext cx="6976109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spcBef>
                <a:spcPts val="67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Bus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Width,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Speed,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Bandwidth</a:t>
            </a:r>
            <a:endParaRPr sz="2400">
              <a:latin typeface="Calibri"/>
              <a:cs typeface="Calibri"/>
            </a:endParaRPr>
          </a:p>
          <a:p>
            <a:pPr marL="756285" marR="425450" lvl="1" indent="-287020"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bus </a:t>
            </a:r>
            <a:r>
              <a:rPr sz="2400" dirty="0">
                <a:latin typeface="Calibri"/>
                <a:cs typeface="Calibri"/>
              </a:rPr>
              <a:t>is an </a:t>
            </a:r>
            <a:r>
              <a:rPr sz="2400" spc="-5" dirty="0">
                <a:latin typeface="Calibri"/>
                <a:cs typeface="Calibri"/>
              </a:rPr>
              <a:t>electronic </a:t>
            </a:r>
            <a:r>
              <a:rPr sz="2400" spc="-10" dirty="0">
                <a:latin typeface="Calibri"/>
                <a:cs typeface="Calibri"/>
              </a:rPr>
              <a:t>path </a:t>
            </a:r>
            <a:r>
              <a:rPr sz="2400" spc="-15" dirty="0">
                <a:latin typeface="Calibri"/>
                <a:cs typeface="Calibri"/>
              </a:rPr>
              <a:t>over </a:t>
            </a: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travel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5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Found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CPU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motherboard</a:t>
            </a:r>
            <a:endParaRPr sz="2400">
              <a:latin typeface="Calibri"/>
              <a:cs typeface="Calibri"/>
            </a:endParaRPr>
          </a:p>
          <a:p>
            <a:pPr marL="756285" marR="237490" lvl="1" indent="-287020"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Bus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width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number 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wires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bus </a:t>
            </a:r>
            <a:r>
              <a:rPr sz="2400" spc="-15" dirty="0">
                <a:latin typeface="Calibri"/>
                <a:cs typeface="Calibri"/>
              </a:rPr>
              <a:t>over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15" dirty="0">
                <a:latin typeface="Calibri"/>
                <a:cs typeface="Calibri"/>
              </a:rPr>
              <a:t> data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travel</a:t>
            </a:r>
            <a:endParaRPr sz="2400">
              <a:latin typeface="Calibri"/>
              <a:cs typeface="Calibri"/>
            </a:endParaRPr>
          </a:p>
          <a:p>
            <a:pPr marL="1155700" marR="5080" lvl="2" indent="-228600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wider </a:t>
            </a:r>
            <a:r>
              <a:rPr sz="2400" spc="-5" dirty="0">
                <a:latin typeface="Calibri"/>
                <a:cs typeface="Calibri"/>
              </a:rPr>
              <a:t>bus </a:t>
            </a:r>
            <a:r>
              <a:rPr sz="2400" spc="-10" dirty="0">
                <a:latin typeface="Calibri"/>
                <a:cs typeface="Calibri"/>
              </a:rPr>
              <a:t>allows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more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 to</a:t>
            </a:r>
            <a:r>
              <a:rPr sz="2400" spc="-5" dirty="0">
                <a:latin typeface="Calibri"/>
                <a:cs typeface="Calibri"/>
              </a:rPr>
              <a:t> be </a:t>
            </a:r>
            <a:r>
              <a:rPr sz="2400" spc="-20" dirty="0">
                <a:latin typeface="Calibri"/>
                <a:cs typeface="Calibri"/>
              </a:rPr>
              <a:t>transferred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0033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59940" y="1534414"/>
            <a:ext cx="4319270" cy="22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Bus width and </a:t>
            </a:r>
            <a:r>
              <a:rPr sz="2400" spc="-5" dirty="0">
                <a:latin typeface="Calibri"/>
                <a:cs typeface="Calibri"/>
              </a:rPr>
              <a:t>speed determine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throughput </a:t>
            </a:r>
            <a:r>
              <a:rPr sz="2400" spc="-5" dirty="0">
                <a:latin typeface="Calibri"/>
                <a:cs typeface="Calibri"/>
              </a:rPr>
              <a:t>or bandwidth </a:t>
            </a:r>
            <a:r>
              <a:rPr sz="2400" spc="-10" dirty="0">
                <a:latin typeface="Calibri"/>
                <a:cs typeface="Calibri"/>
              </a:rPr>
              <a:t>of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bus</a:t>
            </a:r>
            <a:endParaRPr sz="2400">
              <a:latin typeface="Calibri"/>
              <a:cs typeface="Calibri"/>
            </a:endParaRPr>
          </a:p>
          <a:p>
            <a:pPr marL="756285" marR="41275" indent="-287020">
              <a:spcBef>
                <a:spcPts val="58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amount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5" dirty="0">
                <a:latin typeface="Calibri"/>
                <a:cs typeface="Calibri"/>
              </a:rPr>
              <a:t>transferred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bus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given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period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8179" y="1844638"/>
            <a:ext cx="3272245" cy="1574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1109" y="3683663"/>
            <a:ext cx="1537793" cy="95818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2034642" y="6394560"/>
            <a:ext cx="4491355" cy="19813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9904477" y="6428961"/>
            <a:ext cx="253365" cy="209032"/>
          </a:xfrm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33</a:t>
            </a:fld>
            <a:endParaRPr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2601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Buses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517445" y="1461262"/>
            <a:ext cx="7592059" cy="42813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indent="-287020">
              <a:spcBef>
                <a:spcPts val="385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dirty="0">
                <a:latin typeface="Calibri"/>
                <a:cs typeface="Calibri"/>
              </a:rPr>
              <a:t>PCI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PCI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Express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(PCIe)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</a:t>
            </a:r>
            <a:endParaRPr sz="2400">
              <a:latin typeface="Calibri"/>
              <a:cs typeface="Calibri"/>
            </a:endParaRPr>
          </a:p>
          <a:p>
            <a:pPr marL="697865" lvl="1" indent="-229235">
              <a:spcBef>
                <a:spcPts val="29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PCI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 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697865" marR="600710" lvl="1" indent="-228600">
              <a:lnSpc>
                <a:spcPts val="2590"/>
              </a:lnSpc>
              <a:spcBef>
                <a:spcPts val="61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80" dirty="0">
                <a:latin typeface="Calibri"/>
                <a:cs typeface="Calibri"/>
              </a:rPr>
              <a:t>Today,</a:t>
            </a:r>
            <a:r>
              <a:rPr sz="2400" dirty="0">
                <a:latin typeface="Calibri"/>
                <a:cs typeface="Calibri"/>
              </a:rPr>
              <a:t> PCI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Express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bus,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extremely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fast,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replaced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PCI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bus</a:t>
            </a:r>
            <a:endParaRPr sz="2400">
              <a:latin typeface="Calibri"/>
              <a:cs typeface="Calibri"/>
            </a:endParaRPr>
          </a:p>
          <a:p>
            <a:pPr marL="299085" indent="-287020">
              <a:spcBef>
                <a:spcPts val="254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10" dirty="0">
                <a:latin typeface="Calibri"/>
                <a:cs typeface="Calibri"/>
              </a:rPr>
              <a:t>Universal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Serial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(USB)</a:t>
            </a:r>
            <a:endParaRPr sz="2400">
              <a:latin typeface="Calibri"/>
              <a:cs typeface="Calibri"/>
            </a:endParaRPr>
          </a:p>
          <a:p>
            <a:pPr marL="697865" lvl="1" indent="-229235">
              <a:spcBef>
                <a:spcPts val="29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Extremely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versatile</a:t>
            </a:r>
            <a:endParaRPr sz="2400">
              <a:latin typeface="Calibri"/>
              <a:cs typeface="Calibri"/>
            </a:endParaRPr>
          </a:p>
          <a:p>
            <a:pPr marL="697865" marR="215265" lvl="1" indent="-228600">
              <a:lnSpc>
                <a:spcPts val="2590"/>
              </a:lnSpc>
              <a:spcBef>
                <a:spcPts val="61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Allows</a:t>
            </a:r>
            <a:r>
              <a:rPr sz="2400" spc="-5" dirty="0">
                <a:latin typeface="Calibri"/>
                <a:cs typeface="Calibri"/>
              </a:rPr>
              <a:t> 127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devices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connect</a:t>
            </a:r>
            <a:r>
              <a:rPr sz="2400" spc="-15" dirty="0">
                <a:latin typeface="Calibri"/>
                <a:cs typeface="Calibri"/>
              </a:rPr>
              <a:t> 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single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USB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port</a:t>
            </a:r>
            <a:endParaRPr sz="2400">
              <a:latin typeface="Calibri"/>
              <a:cs typeface="Calibri"/>
            </a:endParaRPr>
          </a:p>
          <a:p>
            <a:pPr marL="299085" indent="-287020">
              <a:spcBef>
                <a:spcPts val="254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10" dirty="0">
                <a:latin typeface="Calibri"/>
                <a:cs typeface="Calibri"/>
              </a:rPr>
              <a:t>FireWire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</a:t>
            </a:r>
            <a:endParaRPr sz="2400">
              <a:latin typeface="Calibri"/>
              <a:cs typeface="Calibri"/>
            </a:endParaRPr>
          </a:p>
          <a:p>
            <a:pPr marL="697865" marR="5080" lvl="1" indent="-228600">
              <a:lnSpc>
                <a:spcPts val="2590"/>
              </a:lnSpc>
              <a:spcBef>
                <a:spcPts val="61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Developed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 Apple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connect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multimedia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devices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4169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288" y="511881"/>
            <a:ext cx="7475074" cy="606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358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Ports</a:t>
            </a:r>
            <a:r>
              <a:rPr spc="-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spc="-1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Connectors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36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059941" y="1461262"/>
            <a:ext cx="8049895" cy="37952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spcBef>
                <a:spcPts val="67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libri"/>
                <a:cs typeface="Calibri"/>
              </a:rPr>
              <a:t>Port</a:t>
            </a:r>
            <a:endParaRPr sz="2400">
              <a:latin typeface="Calibri"/>
              <a:cs typeface="Calibri"/>
            </a:endParaRPr>
          </a:p>
          <a:p>
            <a:pPr marL="756285" marR="58419" lvl="1" indent="-287020"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connector on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exterior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computer’s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5" dirty="0">
                <a:latin typeface="Calibri"/>
                <a:cs typeface="Calibri"/>
              </a:rPr>
              <a:t>unit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device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may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attached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5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20" dirty="0">
                <a:latin typeface="Calibri"/>
                <a:cs typeface="Calibri"/>
              </a:rPr>
              <a:t>Typical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desktop computer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ports include:</a:t>
            </a:r>
            <a:endParaRPr sz="2400">
              <a:latin typeface="Calibri"/>
              <a:cs typeface="Calibri"/>
            </a:endParaRPr>
          </a:p>
          <a:p>
            <a:pPr marL="1155700" marR="5080" lvl="2" indent="-228600"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0" dirty="0">
                <a:latin typeface="Calibri"/>
                <a:cs typeface="Calibri"/>
              </a:rPr>
              <a:t>Power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connector,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Firewire, VGA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monitor,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Network,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USB,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Audio,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HDMI</a:t>
            </a:r>
            <a:endParaRPr sz="2400">
              <a:latin typeface="Calibri"/>
              <a:cs typeface="Calibri"/>
            </a:endParaRPr>
          </a:p>
          <a:p>
            <a:pPr marL="756285" marR="643255" lvl="1" indent="-287020"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Others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 </a:t>
            </a:r>
            <a:r>
              <a:rPr sz="2400" spc="-15" dirty="0">
                <a:latin typeface="Calibri"/>
                <a:cs typeface="Calibri"/>
              </a:rPr>
              <a:t>IrDA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Bluetooth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ports,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80" dirty="0">
                <a:latin typeface="Calibri"/>
                <a:cs typeface="Calibri"/>
              </a:rPr>
              <a:t>eSATA</a:t>
            </a:r>
            <a:r>
              <a:rPr sz="2400" spc="-5" dirty="0">
                <a:latin typeface="Calibri"/>
                <a:cs typeface="Calibri"/>
              </a:rPr>
              <a:t> ports,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Thunderbolt ports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(Apple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devices)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spcBef>
                <a:spcPts val="5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Most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computers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support</a:t>
            </a:r>
            <a:r>
              <a:rPr sz="2400" dirty="0">
                <a:latin typeface="Calibri"/>
                <a:cs typeface="Calibri"/>
              </a:rPr>
              <a:t> the Plug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Play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standard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06753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Ports</a:t>
            </a:r>
            <a:r>
              <a:rPr sz="4400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sz="4400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4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Connectors</a:t>
            </a:r>
            <a:endParaRPr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8077200" y="6346825"/>
            <a:ext cx="4114800" cy="38417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9448800" y="6434138"/>
            <a:ext cx="2743200" cy="209550"/>
          </a:xfrm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37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7533" y="1772819"/>
            <a:ext cx="6915255" cy="41759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6395" y="1866846"/>
            <a:ext cx="1205043" cy="75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8784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Ports</a:t>
            </a:r>
            <a:r>
              <a:rPr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Connectors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517444" y="1497838"/>
            <a:ext cx="7228840" cy="40132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842644" indent="-287020">
              <a:lnSpc>
                <a:spcPts val="2590"/>
              </a:lnSpc>
              <a:spcBef>
                <a:spcPts val="425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15" dirty="0">
                <a:latin typeface="Calibri"/>
                <a:cs typeface="Calibri"/>
              </a:rPr>
              <a:t>Portable computers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spc="-5" dirty="0">
                <a:latin typeface="Calibri"/>
                <a:cs typeface="Calibri"/>
              </a:rPr>
              <a:t>ports similar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desktop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computers,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but </a:t>
            </a:r>
            <a:r>
              <a:rPr sz="2400" spc="-10" dirty="0">
                <a:latin typeface="Calibri"/>
                <a:cs typeface="Calibri"/>
              </a:rPr>
              <a:t>often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many</a:t>
            </a:r>
            <a:endParaRPr sz="2400">
              <a:latin typeface="Calibri"/>
              <a:cs typeface="Calibri"/>
            </a:endParaRPr>
          </a:p>
          <a:p>
            <a:pPr marL="299085" marR="506095" indent="-287020">
              <a:spcBef>
                <a:spcPts val="1115"/>
              </a:spcBef>
              <a:buFont typeface="Arial MT"/>
              <a:buChar char="–"/>
              <a:tabLst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Smartphones </a:t>
            </a:r>
            <a:r>
              <a:rPr sz="2400" dirty="0">
                <a:latin typeface="Calibri"/>
                <a:cs typeface="Calibri"/>
              </a:rPr>
              <a:t>and mobile </a:t>
            </a:r>
            <a:r>
              <a:rPr sz="2400" spc="-5" dirty="0">
                <a:latin typeface="Calibri"/>
                <a:cs typeface="Calibri"/>
              </a:rPr>
              <a:t>devices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spc="-10" dirty="0">
                <a:latin typeface="Calibri"/>
                <a:cs typeface="Calibri"/>
              </a:rPr>
              <a:t>more </a:t>
            </a:r>
            <a:r>
              <a:rPr sz="2400" spc="-5" dirty="0">
                <a:latin typeface="Calibri"/>
                <a:cs typeface="Calibri"/>
              </a:rPr>
              <a:t>limited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expansion </a:t>
            </a:r>
            <a:r>
              <a:rPr sz="2400" spc="-5" dirty="0">
                <a:latin typeface="Calibri"/>
                <a:cs typeface="Calibri"/>
              </a:rPr>
              <a:t>capabilities</a:t>
            </a:r>
            <a:endParaRPr sz="2400">
              <a:latin typeface="Calibri"/>
              <a:cs typeface="Calibri"/>
            </a:endParaRPr>
          </a:p>
          <a:p>
            <a:pPr marL="697865" marR="487045" lvl="1" indent="-228600">
              <a:spcBef>
                <a:spcPts val="58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Usually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dirty="0">
                <a:latin typeface="Calibri"/>
                <a:cs typeface="Calibri"/>
              </a:rPr>
              <a:t>a USB </a:t>
            </a:r>
            <a:r>
              <a:rPr sz="2400" spc="-5" dirty="0">
                <a:latin typeface="Calibri"/>
                <a:cs typeface="Calibri"/>
              </a:rPr>
              <a:t>port, HDMI port, </a:t>
            </a:r>
            <a:r>
              <a:rPr sz="2400" spc="-10" dirty="0">
                <a:latin typeface="Calibri"/>
                <a:cs typeface="Calibri"/>
              </a:rPr>
              <a:t>and/or </a:t>
            </a:r>
            <a:r>
              <a:rPr sz="2400" spc="-5" dirty="0">
                <a:latin typeface="Calibri"/>
                <a:cs typeface="Calibri"/>
              </a:rPr>
              <a:t>flash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card</a:t>
            </a:r>
            <a:r>
              <a:rPr sz="2400" spc="-5" dirty="0">
                <a:latin typeface="Calibri"/>
                <a:cs typeface="Calibri"/>
              </a:rPr>
              <a:t> slot</a:t>
            </a:r>
            <a:endParaRPr sz="2400">
              <a:latin typeface="Calibri"/>
              <a:cs typeface="Calibri"/>
            </a:endParaRPr>
          </a:p>
          <a:p>
            <a:pPr marL="697865" marR="5080" lvl="1" indent="-228600">
              <a:spcBef>
                <a:spcPts val="57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Flash </a:t>
            </a:r>
            <a:r>
              <a:rPr sz="2400" dirty="0">
                <a:latin typeface="Calibri"/>
                <a:cs typeface="Calibri"/>
              </a:rPr>
              <a:t>memory </a:t>
            </a:r>
            <a:r>
              <a:rPr sz="2400" spc="-15" dirty="0">
                <a:latin typeface="Calibri"/>
                <a:cs typeface="Calibri"/>
              </a:rPr>
              <a:t>cards </a:t>
            </a:r>
            <a:r>
              <a:rPr sz="2400" spc="-10" dirty="0">
                <a:latin typeface="Calibri"/>
                <a:cs typeface="Calibri"/>
              </a:rPr>
              <a:t>often </a:t>
            </a:r>
            <a:r>
              <a:rPr sz="2400" spc="-5" dirty="0">
                <a:latin typeface="Calibri"/>
                <a:cs typeface="Calibri"/>
              </a:rPr>
              <a:t>use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Secure Digital </a:t>
            </a:r>
            <a:r>
              <a:rPr sz="2400" spc="-5" dirty="0">
                <a:latin typeface="Calibri"/>
                <a:cs typeface="Calibri"/>
              </a:rPr>
              <a:t>(SD)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format</a:t>
            </a:r>
            <a:endParaRPr sz="2400">
              <a:latin typeface="Calibri"/>
              <a:cs typeface="Calibri"/>
            </a:endParaRPr>
          </a:p>
          <a:p>
            <a:pPr marL="697865" marR="15875" lvl="1" indent="-228600">
              <a:spcBef>
                <a:spcPts val="58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MiniSD and </a:t>
            </a:r>
            <a:r>
              <a:rPr sz="2400" spc="-10" dirty="0">
                <a:latin typeface="Calibri"/>
                <a:cs typeface="Calibri"/>
              </a:rPr>
              <a:t>microSD </a:t>
            </a:r>
            <a:r>
              <a:rPr sz="2400" spc="-15" dirty="0">
                <a:latin typeface="Calibri"/>
                <a:cs typeface="Calibri"/>
              </a:rPr>
              <a:t>cars are </a:t>
            </a:r>
            <a:r>
              <a:rPr sz="2400" spc="-5" dirty="0">
                <a:latin typeface="Calibri"/>
                <a:cs typeface="Calibri"/>
              </a:rPr>
              <a:t>smaller </a:t>
            </a:r>
            <a:r>
              <a:rPr sz="2400" dirty="0">
                <a:latin typeface="Calibri"/>
                <a:cs typeface="Calibri"/>
              </a:rPr>
              <a:t>than </a:t>
            </a:r>
            <a:r>
              <a:rPr sz="2400" spc="-5" dirty="0">
                <a:latin typeface="Calibri"/>
                <a:cs typeface="Calibri"/>
              </a:rPr>
              <a:t>regular SD </a:t>
            </a:r>
            <a:r>
              <a:rPr sz="2400" spc="-5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cards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79057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Ports</a:t>
            </a:r>
            <a:r>
              <a:rPr sz="4400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sz="4400" spc="-2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4400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Connectors</a:t>
            </a:r>
            <a:endParaRPr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8077200" y="6346825"/>
            <a:ext cx="4114800" cy="38417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0" dirty="0"/>
              <a:t>Understanding</a:t>
            </a:r>
            <a:r>
              <a:rPr spc="-15" dirty="0"/>
              <a:t> </a:t>
            </a:r>
            <a:r>
              <a:rPr spc="-5" dirty="0"/>
              <a:t>Computers:</a:t>
            </a:r>
            <a:r>
              <a:rPr spc="5" dirty="0"/>
              <a:t> </a:t>
            </a:r>
            <a:r>
              <a:rPr spc="-5" dirty="0"/>
              <a:t>Today</a:t>
            </a:r>
            <a:r>
              <a:rPr spc="-1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Tomorrow, 15th</a:t>
            </a:r>
            <a:r>
              <a:rPr spc="-20" dirty="0"/>
              <a:t> </a:t>
            </a:r>
            <a:r>
              <a:rPr spc="-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9448800" y="6434138"/>
            <a:ext cx="2743200" cy="209550"/>
          </a:xfrm>
          <a:prstGeom prst="rect">
            <a:avLst/>
          </a:prstGeom>
        </p:spPr>
        <p:txBody>
          <a:bodyPr vert="horz" wrap="square" lIns="0" tIns="24130" rIns="0" bIns="0" rtlCol="0" anchor="ctr">
            <a:spAutoFit/>
          </a:bodyPr>
          <a:lstStyle/>
          <a:p>
            <a:pPr marL="38100">
              <a:spcBef>
                <a:spcPts val="190"/>
              </a:spcBef>
            </a:pPr>
            <a:fld id="{81D60167-4931-47E6-BA6A-407CBD079E47}" type="slidenum">
              <a:rPr dirty="0"/>
              <a:pPr marL="38100">
                <a:spcBef>
                  <a:spcPts val="190"/>
                </a:spcBef>
              </a:pPr>
              <a:t>39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9083" y="2060830"/>
            <a:ext cx="7532222" cy="30757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7861" y="5318008"/>
            <a:ext cx="1369240" cy="51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98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Making Computers Faster and Better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8" name="Google Shape;198;p2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60"/>
              <a:buChar char="■"/>
            </a:pPr>
            <a:r>
              <a:rPr lang="en-US" dirty="0"/>
              <a:t>Improving performance today</a:t>
            </a:r>
            <a:endParaRPr dirty="0"/>
          </a:p>
          <a:p>
            <a:pPr marL="669925" lvl="1" indent="-325438">
              <a:spcBef>
                <a:spcPts val="700"/>
              </a:spcBef>
              <a:buSzPts val="1320"/>
              <a:buChar char="❑"/>
            </a:pPr>
            <a:r>
              <a:rPr lang="en-US" dirty="0"/>
              <a:t>Add more memory</a:t>
            </a:r>
            <a:endParaRPr dirty="0"/>
          </a:p>
          <a:p>
            <a:pPr marL="669925" lvl="1" indent="-325438">
              <a:spcBef>
                <a:spcPts val="440"/>
              </a:spcBef>
              <a:buSzPts val="1320"/>
              <a:buChar char="❑"/>
            </a:pPr>
            <a:r>
              <a:rPr lang="en-US" dirty="0"/>
              <a:t>Perform system maintenance</a:t>
            </a:r>
            <a:endParaRPr dirty="0"/>
          </a:p>
          <a:p>
            <a:pPr marL="1022350" lvl="2" indent="-350838">
              <a:spcBef>
                <a:spcPts val="420"/>
              </a:spcBef>
              <a:buSzPts val="1300"/>
              <a:buChar char="■"/>
            </a:pPr>
            <a:r>
              <a:rPr lang="en-US" dirty="0"/>
              <a:t>Uninstall programs properly</a:t>
            </a:r>
            <a:endParaRPr dirty="0"/>
          </a:p>
          <a:p>
            <a:pPr marL="1022350" lvl="2" indent="-350838">
              <a:spcBef>
                <a:spcPts val="400"/>
              </a:spcBef>
              <a:buSzPts val="1300"/>
              <a:buChar char="■"/>
            </a:pPr>
            <a:r>
              <a:rPr lang="en-US" dirty="0"/>
              <a:t>Consider placing large files on external storage devices</a:t>
            </a:r>
            <a:endParaRPr dirty="0"/>
          </a:p>
          <a:p>
            <a:pPr marL="1022350" lvl="2" indent="-350838">
              <a:spcBef>
                <a:spcPts val="400"/>
              </a:spcBef>
              <a:buSzPts val="1300"/>
              <a:buChar char="■"/>
            </a:pPr>
            <a:r>
              <a:rPr lang="en-US" dirty="0"/>
              <a:t>Delete temporary files</a:t>
            </a:r>
            <a:endParaRPr dirty="0"/>
          </a:p>
          <a:p>
            <a:pPr marL="1022350" lvl="2" indent="-350838">
              <a:spcBef>
                <a:spcPts val="400"/>
              </a:spcBef>
              <a:buSzPts val="1300"/>
              <a:buChar char="■"/>
            </a:pPr>
            <a:r>
              <a:rPr lang="en-US" dirty="0"/>
              <a:t>Error check and defragment</a:t>
            </a:r>
            <a:endParaRPr dirty="0"/>
          </a:p>
          <a:p>
            <a:pPr marL="1022350" lvl="2" indent="-350838">
              <a:spcBef>
                <a:spcPts val="400"/>
              </a:spcBef>
              <a:buSzPts val="1300"/>
              <a:buChar char="■"/>
            </a:pPr>
            <a:r>
              <a:rPr lang="en-US" dirty="0"/>
              <a:t>Scan for viruses and spyware</a:t>
            </a:r>
            <a:endParaRPr dirty="0"/>
          </a:p>
          <a:p>
            <a:pPr marL="1022350" lvl="2" indent="-350838">
              <a:spcBef>
                <a:spcPts val="400"/>
              </a:spcBef>
              <a:buSzPts val="1300"/>
              <a:buChar char="■"/>
            </a:pPr>
            <a:r>
              <a:rPr lang="en-US" dirty="0"/>
              <a:t>Clean out dust once or twice a year</a:t>
            </a:r>
            <a:endParaRPr dirty="0"/>
          </a:p>
          <a:p>
            <a:pPr marL="669925" lvl="1" indent="-325438">
              <a:spcBef>
                <a:spcPts val="420"/>
              </a:spcBef>
              <a:buSzPts val="1320"/>
              <a:buChar char="❑"/>
            </a:pPr>
            <a:r>
              <a:rPr lang="en-US" dirty="0"/>
              <a:t>Buy a larger or second hard drive</a:t>
            </a:r>
            <a:endParaRPr dirty="0"/>
          </a:p>
          <a:p>
            <a:pPr marL="669925" lvl="1" indent="-325438">
              <a:spcBef>
                <a:spcPts val="440"/>
              </a:spcBef>
              <a:buSzPts val="1320"/>
              <a:buChar char="❑"/>
            </a:pPr>
            <a:r>
              <a:rPr lang="en-US" dirty="0"/>
              <a:t>Upgrade your Internet connection</a:t>
            </a:r>
            <a:endParaRPr dirty="0"/>
          </a:p>
          <a:p>
            <a:pPr marL="669925" lvl="1" indent="-325438">
              <a:spcBef>
                <a:spcPts val="440"/>
              </a:spcBef>
              <a:buSzPts val="1320"/>
              <a:buChar char="❑"/>
            </a:pPr>
            <a:r>
              <a:rPr lang="en-US" dirty="0"/>
              <a:t>Upgrade your video graphics card</a:t>
            </a:r>
            <a:endParaRPr dirty="0"/>
          </a:p>
        </p:txBody>
      </p:sp>
      <p:sp>
        <p:nvSpPr>
          <p:cNvPr id="196" name="Google Shape;196;p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40</a:t>
            </a:fld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734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sldNum" idx="4294967295"/>
          </p:nvPr>
        </p:nvSpPr>
        <p:spPr>
          <a:xfrm>
            <a:off x="8655050" y="642778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41</a:t>
            </a:fld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 txBox="1">
            <a:spLocks noGrp="1"/>
          </p:cNvSpPr>
          <p:nvPr>
            <p:ph type="title" idx="4294967295"/>
          </p:nvPr>
        </p:nvSpPr>
        <p:spPr>
          <a:xfrm>
            <a:off x="1752601" y="36514"/>
            <a:ext cx="8520113" cy="8778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Making Computers Faster and Better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4294967295"/>
          </p:nvPr>
        </p:nvSpPr>
        <p:spPr>
          <a:xfrm>
            <a:off x="1981201" y="1371600"/>
            <a:ext cx="5783263" cy="5105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560"/>
              <a:buChar char="■"/>
            </a:pPr>
            <a:r>
              <a:rPr lang="en-US" dirty="0"/>
              <a:t>Strategies for faster and better computers</a:t>
            </a:r>
            <a:endParaRPr dirty="0"/>
          </a:p>
          <a:p>
            <a:pPr marL="669925" lvl="1" indent="-325438">
              <a:spcBef>
                <a:spcPts val="460"/>
              </a:spcBef>
              <a:buSzPts val="1320"/>
              <a:buChar char="❑"/>
            </a:pPr>
            <a:r>
              <a:rPr lang="en-US" dirty="0"/>
              <a:t>Improved architecture: Smaller components, faster bus speeds, multiple CPU cores, etc.</a:t>
            </a:r>
            <a:endParaRPr dirty="0"/>
          </a:p>
          <a:p>
            <a:pPr marL="669925" lvl="1" indent="-325438">
              <a:spcBef>
                <a:spcPts val="440"/>
              </a:spcBef>
              <a:buSzPts val="1320"/>
              <a:buChar char="❑"/>
            </a:pPr>
            <a:r>
              <a:rPr lang="en-US" dirty="0"/>
              <a:t>Improved materials: New backing materials, flexible circuits, etc.</a:t>
            </a:r>
            <a:endParaRPr dirty="0"/>
          </a:p>
          <a:p>
            <a:pPr marL="669925" lvl="1" indent="-325438">
              <a:spcBef>
                <a:spcPts val="440"/>
              </a:spcBef>
              <a:buSzPts val="1320"/>
              <a:buChar char="❑"/>
            </a:pPr>
            <a:r>
              <a:rPr lang="en-US" dirty="0"/>
              <a:t>Pipelining: Allows multiple instructions to be processed at one time</a:t>
            </a:r>
            <a:endParaRPr dirty="0"/>
          </a:p>
          <a:p>
            <a:pPr marL="669925" lvl="1" indent="-325438">
              <a:spcBef>
                <a:spcPts val="440"/>
              </a:spcBef>
              <a:buSzPts val="1320"/>
              <a:buChar char="❑"/>
            </a:pPr>
            <a:r>
              <a:rPr lang="en-US" dirty="0"/>
              <a:t>Multiprocessing and parallel processing: Use multiple processors to speed up processing</a:t>
            </a:r>
            <a:endParaRPr dirty="0"/>
          </a:p>
        </p:txBody>
      </p:sp>
      <p:pic>
        <p:nvPicPr>
          <p:cNvPr id="206" name="Google Shape;2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3013" y="2808288"/>
            <a:ext cx="2938462" cy="2565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53559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Pipelining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1" name="Google Shape;211;p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fld id="{00000000-1234-1234-1234-123412341234}" type="slidenum"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pPr/>
              <a:t>42</a:t>
            </a:fld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31"/>
          <p:cNvPicPr preferRelativeResize="0"/>
          <p:nvPr/>
        </p:nvPicPr>
        <p:blipFill rotWithShape="1">
          <a:blip r:embed="rId3">
            <a:alphaModFix/>
          </a:blip>
          <a:srcRect r="20375"/>
          <a:stretch/>
        </p:blipFill>
        <p:spPr>
          <a:xfrm>
            <a:off x="2035175" y="1956594"/>
            <a:ext cx="8121650" cy="4089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771841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1408</TotalTime>
  <Words>1697</Words>
  <Application>Microsoft Office PowerPoint</Application>
  <PresentationFormat>Widescreen</PresentationFormat>
  <Paragraphs>279</Paragraphs>
  <Slides>42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Arial MT</vt:lpstr>
      <vt:lpstr>Calibri</vt:lpstr>
      <vt:lpstr>Calibri Light</vt:lpstr>
      <vt:lpstr>Ebrima</vt:lpstr>
      <vt:lpstr>Tahoma</vt:lpstr>
      <vt:lpstr>Office Theme</vt:lpstr>
      <vt:lpstr>SYSTEM UNIT,  PROCESSOR &amp; MEMORY</vt:lpstr>
      <vt:lpstr>Data Representation</vt:lpstr>
      <vt:lpstr>PowerPoint Presentation</vt:lpstr>
      <vt:lpstr>Encoding Schemes</vt:lpstr>
      <vt:lpstr>Encoding Schemes</vt:lpstr>
      <vt:lpstr>Multimedia  Representation</vt:lpstr>
      <vt:lpstr>Multimedia  Representation</vt:lpstr>
      <vt:lpstr>Inside the System Unit</vt:lpstr>
      <vt:lpstr>Inside System Unit</vt:lpstr>
      <vt:lpstr>Inside the System Unit</vt:lpstr>
      <vt:lpstr>Inside the System Unit</vt:lpstr>
      <vt:lpstr>The CPU</vt:lpstr>
      <vt:lpstr>The CPU</vt:lpstr>
      <vt:lpstr>The CPU</vt:lpstr>
      <vt:lpstr>Processing Speed</vt:lpstr>
      <vt:lpstr>Cache Memory</vt:lpstr>
      <vt:lpstr>How the CPU Works</vt:lpstr>
      <vt:lpstr>Typical CPU Components </vt:lpstr>
      <vt:lpstr>Typical CPU Components </vt:lpstr>
      <vt:lpstr>The System Clock and the Machine  Cycle</vt:lpstr>
      <vt:lpstr>The System Clock and the Machine Cycle </vt:lpstr>
      <vt:lpstr>Memory</vt:lpstr>
      <vt:lpstr>PowerPoint Presentation</vt:lpstr>
      <vt:lpstr>Memory</vt:lpstr>
      <vt:lpstr>Memory</vt:lpstr>
      <vt:lpstr>Memory</vt:lpstr>
      <vt:lpstr>PowerPoint Presentation</vt:lpstr>
      <vt:lpstr>Cooling Components</vt:lpstr>
      <vt:lpstr>Expansion</vt:lpstr>
      <vt:lpstr>Expansion</vt:lpstr>
      <vt:lpstr>Buses</vt:lpstr>
      <vt:lpstr>Buses</vt:lpstr>
      <vt:lpstr>Buses</vt:lpstr>
      <vt:lpstr>Buses</vt:lpstr>
      <vt:lpstr>PowerPoint Presentation</vt:lpstr>
      <vt:lpstr>Ports and Connectors</vt:lpstr>
      <vt:lpstr>Ports and Connectors</vt:lpstr>
      <vt:lpstr>Ports and Connectors</vt:lpstr>
      <vt:lpstr>Ports and Connectors</vt:lpstr>
      <vt:lpstr>Making Computers Faster and Better</vt:lpstr>
      <vt:lpstr>Making Computers Faster and Better</vt:lpstr>
      <vt:lpstr>Pipelining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Theory of Automata</dc:title>
  <dc:creator>Faryal Shamsi</dc:creator>
  <cp:lastModifiedBy>Faryal Shamsi</cp:lastModifiedBy>
  <cp:revision>264</cp:revision>
  <dcterms:created xsi:type="dcterms:W3CDTF">2020-08-15T12:25:58Z</dcterms:created>
  <dcterms:modified xsi:type="dcterms:W3CDTF">2023-09-04T06:33:30Z</dcterms:modified>
</cp:coreProperties>
</file>