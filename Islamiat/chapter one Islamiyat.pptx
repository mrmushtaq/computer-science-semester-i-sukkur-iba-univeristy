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9" r:id="rId3"/>
    <p:sldId id="257" r:id="rId4"/>
    <p:sldId id="258" r:id="rId5"/>
    <p:sldId id="259" r:id="rId6"/>
    <p:sldId id="260" r:id="rId7"/>
    <p:sldId id="261" r:id="rId8"/>
    <p:sldId id="262" r:id="rId9"/>
    <p:sldId id="268" r:id="rId10"/>
    <p:sldId id="263" r:id="rId11"/>
    <p:sldId id="264" r:id="rId12"/>
    <p:sldId id="265" r:id="rId13"/>
    <p:sldId id="266" r:id="rId14"/>
    <p:sldId id="267" r:id="rId15"/>
    <p:sldId id="270" r:id="rId16"/>
    <p:sldId id="271" r:id="rId17"/>
    <p:sldId id="2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24" autoAdjust="0"/>
  </p:normalViewPr>
  <p:slideViewPr>
    <p:cSldViewPr>
      <p:cViewPr varScale="1">
        <p:scale>
          <a:sx n="108" d="100"/>
          <a:sy n="108" d="100"/>
        </p:scale>
        <p:origin x="1704"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a:t>Click to edit Master title style</a:t>
            </a:r>
          </a:p>
        </p:txBody>
      </p:sp>
      <p:sp>
        <p:nvSpPr>
          <p:cNvPr id="28" name="Date Placeholder 27"/>
          <p:cNvSpPr>
            <a:spLocks noGrp="1"/>
          </p:cNvSpPr>
          <p:nvPr>
            <p:ph type="dt" sz="half" idx="10"/>
          </p:nvPr>
        </p:nvSpPr>
        <p:spPr/>
        <p:txBody>
          <a:bodyPr/>
          <a:lstStyle/>
          <a:p>
            <a:fld id="{0E755C2B-331C-4CDB-B618-9C83C7B9646B}" type="datetimeFigureOut">
              <a:rPr lang="en-US" smtClean="0"/>
              <a:pPr/>
              <a:t>10/11/2021</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a:lstStyle/>
          <a:p>
            <a:fld id="{DC71853F-051B-4E03-AB69-F25C37A1A490}" type="slidenum">
              <a:rPr lang="en-US" smtClean="0"/>
              <a:pPr/>
              <a:t>‹#›</a:t>
            </a:fld>
            <a:endParaRPr lang="en-US"/>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E755C2B-331C-4CDB-B618-9C83C7B9646B}" type="datetimeFigureOut">
              <a:rPr lang="en-US" smtClean="0"/>
              <a:pPr/>
              <a:t>10/11/2021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71853F-051B-4E03-AB69-F25C37A1A49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0E755C2B-331C-4CDB-B618-9C83C7B9646B}" type="datetimeFigureOut">
              <a:rPr lang="en-US" smtClean="0"/>
              <a:pPr/>
              <a:t>10/11/2021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924800" y="6416675"/>
            <a:ext cx="762000" cy="365125"/>
          </a:xfrm>
        </p:spPr>
        <p:txBody>
          <a:bodyPr/>
          <a:lstStyle/>
          <a:p>
            <a:fld id="{DC71853F-051B-4E03-AB69-F25C37A1A490}"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E755C2B-331C-4CDB-B618-9C83C7B9646B}" type="datetimeFigureOut">
              <a:rPr lang="en-US" smtClean="0"/>
              <a:pPr/>
              <a:t>10/11/2021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71853F-051B-4E03-AB69-F25C37A1A49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E755C2B-331C-4CDB-B618-9C83C7B9646B}" type="datetimeFigureOut">
              <a:rPr lang="en-US" smtClean="0"/>
              <a:pPr/>
              <a:t>10/11/2021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71853F-051B-4E03-AB69-F25C37A1A49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0E755C2B-331C-4CDB-B618-9C83C7B9646B}" type="datetimeFigureOut">
              <a:rPr lang="en-US" smtClean="0"/>
              <a:pPr/>
              <a:t>10/11/2021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71853F-051B-4E03-AB69-F25C37A1A49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755C2B-331C-4CDB-B618-9C83C7B9646B}" type="datetimeFigureOut">
              <a:rPr lang="en-US" smtClean="0"/>
              <a:pPr/>
              <a:t>10/11/2021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71853F-051B-4E03-AB69-F25C37A1A49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a:t>Click to edit Master title style</a:t>
            </a:r>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E755C2B-331C-4CDB-B618-9C83C7B9646B}" type="datetimeFigureOut">
              <a:rPr lang="en-US" smtClean="0"/>
              <a:pPr/>
              <a:t>10/11/2021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71853F-051B-4E03-AB69-F25C37A1A49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0E755C2B-331C-4CDB-B618-9C83C7B9646B}" type="datetimeFigureOut">
              <a:rPr lang="en-US" smtClean="0"/>
              <a:pPr/>
              <a:t>10/11/2021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71853F-051B-4E03-AB69-F25C37A1A49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E755C2B-331C-4CDB-B618-9C83C7B9646B}" type="datetimeFigureOut">
              <a:rPr lang="en-US" smtClean="0"/>
              <a:pPr/>
              <a:t>10/11/2021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71853F-051B-4E03-AB69-F25C37A1A49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E755C2B-331C-4CDB-B618-9C83C7B9646B}" type="datetimeFigureOut">
              <a:rPr lang="en-US" smtClean="0"/>
              <a:pPr/>
              <a:t>10/11/2021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71853F-051B-4E03-AB69-F25C37A1A49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a:t>Click to edit Master title style</a:t>
            </a:r>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0E755C2B-331C-4CDB-B618-9C83C7B9646B}" type="datetimeFigureOut">
              <a:rPr lang="en-US" smtClean="0"/>
              <a:pPr/>
              <a:t>10/11/2021</a:t>
            </a:fld>
            <a:endParaRPr lang="en-US"/>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US"/>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DC71853F-051B-4E03-AB69-F25C37A1A490}"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BASIC CONCEPT OF ISLAM</a:t>
            </a:r>
          </a:p>
        </p:txBody>
      </p:sp>
      <p:sp>
        <p:nvSpPr>
          <p:cNvPr id="3" name="Subtitle 2"/>
          <p:cNvSpPr>
            <a:spLocks noGrp="1"/>
          </p:cNvSpPr>
          <p:nvPr>
            <p:ph type="subTitle" idx="1"/>
          </p:nvPr>
        </p:nvSpPr>
        <p:spPr/>
        <p:txBody>
          <a:bodyPr>
            <a:normAutofit lnSpcReduction="10000"/>
          </a:bodyPr>
          <a:lstStyle/>
          <a:p>
            <a:r>
              <a:rPr lang="en-US" dirty="0"/>
              <a:t>The literal meaning of Islam is submission, but when the term is used in religious context. It means submission to Allah alone.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ISLAM</a:t>
            </a:r>
          </a:p>
        </p:txBody>
      </p:sp>
      <p:sp>
        <p:nvSpPr>
          <p:cNvPr id="3" name="Content Placeholder 2"/>
          <p:cNvSpPr>
            <a:spLocks noGrp="1"/>
          </p:cNvSpPr>
          <p:nvPr>
            <p:ph idx="1"/>
          </p:nvPr>
        </p:nvSpPr>
        <p:spPr/>
        <p:txBody>
          <a:bodyPr/>
          <a:lstStyle/>
          <a:p>
            <a:r>
              <a:rPr lang="en-US" dirty="0"/>
              <a:t>Following four things are included in Islam:</a:t>
            </a:r>
          </a:p>
          <a:p>
            <a:pPr>
              <a:buNone/>
            </a:pPr>
            <a:r>
              <a:rPr lang="en-US" dirty="0"/>
              <a:t>1.	BELIEFS( </a:t>
            </a:r>
            <a:r>
              <a:rPr lang="en-US" dirty="0" err="1"/>
              <a:t>imaniyat</a:t>
            </a:r>
            <a:r>
              <a:rPr lang="en-US" dirty="0"/>
              <a:t>)</a:t>
            </a:r>
          </a:p>
          <a:p>
            <a:pPr>
              <a:buNone/>
            </a:pPr>
            <a:r>
              <a:rPr lang="en-US" dirty="0"/>
              <a:t>2.	WORSHIPS (</a:t>
            </a:r>
            <a:r>
              <a:rPr lang="en-US" dirty="0" err="1"/>
              <a:t>ibadat</a:t>
            </a:r>
            <a:r>
              <a:rPr lang="en-US" dirty="0"/>
              <a:t>)</a:t>
            </a:r>
          </a:p>
          <a:p>
            <a:pPr>
              <a:buNone/>
            </a:pPr>
            <a:r>
              <a:rPr lang="en-US" dirty="0"/>
              <a:t>3.	AFFAIRS (</a:t>
            </a:r>
            <a:r>
              <a:rPr lang="en-US" dirty="0" err="1"/>
              <a:t>muamlat</a:t>
            </a:r>
            <a:r>
              <a:rPr lang="en-US" dirty="0"/>
              <a:t>)</a:t>
            </a:r>
          </a:p>
          <a:p>
            <a:pPr>
              <a:buNone/>
            </a:pPr>
            <a:r>
              <a:rPr lang="en-US" dirty="0"/>
              <a:t>4.	ETHICS(</a:t>
            </a:r>
            <a:r>
              <a:rPr lang="en-US" dirty="0" err="1"/>
              <a:t>ikhlaqiyat</a:t>
            </a:r>
            <a:r>
              <a:rPr lang="en-US" dirty="0"/>
              <a:t>)</a:t>
            </a:r>
          </a:p>
          <a:p>
            <a:endParaRPr lang="en-US" dirty="0"/>
          </a:p>
          <a:p>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BELIEFS( </a:t>
            </a:r>
            <a:r>
              <a:rPr lang="en-US" dirty="0" err="1"/>
              <a:t>imaniyat</a:t>
            </a:r>
            <a:r>
              <a:rPr lang="en-US" dirty="0"/>
              <a:t>)</a:t>
            </a:r>
            <a:br>
              <a:rPr lang="en-US" dirty="0"/>
            </a:br>
            <a:endParaRPr lang="en-US" dirty="0"/>
          </a:p>
        </p:txBody>
      </p:sp>
      <p:sp>
        <p:nvSpPr>
          <p:cNvPr id="3" name="Content Placeholder 2"/>
          <p:cNvSpPr>
            <a:spLocks noGrp="1"/>
          </p:cNvSpPr>
          <p:nvPr>
            <p:ph idx="1"/>
          </p:nvPr>
        </p:nvSpPr>
        <p:spPr>
          <a:xfrm>
            <a:off x="457200" y="1295400"/>
            <a:ext cx="8229600" cy="5013960"/>
          </a:xfrm>
        </p:spPr>
        <p:txBody>
          <a:bodyPr/>
          <a:lstStyle/>
          <a:p>
            <a:r>
              <a:rPr lang="en-US" dirty="0"/>
              <a:t>Connection of mind and heart of a man with his (creator)Allah</a:t>
            </a:r>
          </a:p>
          <a:p>
            <a:pPr>
              <a:buNone/>
            </a:pPr>
            <a:endParaRPr lang="en-US" dirty="0"/>
          </a:p>
          <a:p>
            <a:r>
              <a:rPr lang="en-US" dirty="0"/>
              <a:t>Oneness of Allah</a:t>
            </a:r>
          </a:p>
          <a:p>
            <a:r>
              <a:rPr lang="en-US" dirty="0" err="1"/>
              <a:t>Prophethood</a:t>
            </a:r>
            <a:endParaRPr lang="en-US" dirty="0"/>
          </a:p>
          <a:p>
            <a:r>
              <a:rPr lang="en-US" dirty="0"/>
              <a:t>Last day</a:t>
            </a:r>
          </a:p>
          <a:p>
            <a:r>
              <a:rPr lang="en-US" dirty="0"/>
              <a:t>Angels</a:t>
            </a:r>
          </a:p>
          <a:p>
            <a:r>
              <a:rPr lang="en-US" dirty="0"/>
              <a:t>Sacred books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20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20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2000"/>
                                        <p:tgtEl>
                                          <p:spTgt spid="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20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WORSHIPS (</a:t>
            </a:r>
            <a:r>
              <a:rPr lang="en-US" dirty="0" err="1"/>
              <a:t>ibadat</a:t>
            </a:r>
            <a:r>
              <a:rPr lang="en-US" dirty="0"/>
              <a:t>)</a:t>
            </a:r>
          </a:p>
        </p:txBody>
      </p:sp>
      <p:sp>
        <p:nvSpPr>
          <p:cNvPr id="3" name="Content Placeholder 2"/>
          <p:cNvSpPr>
            <a:spLocks noGrp="1"/>
          </p:cNvSpPr>
          <p:nvPr>
            <p:ph idx="1"/>
          </p:nvPr>
        </p:nvSpPr>
        <p:spPr/>
        <p:txBody>
          <a:bodyPr/>
          <a:lstStyle/>
          <a:p>
            <a:r>
              <a:rPr lang="en-US" dirty="0"/>
              <a:t>Display of </a:t>
            </a:r>
            <a:r>
              <a:rPr lang="en-US" dirty="0" err="1"/>
              <a:t>bondsmanship</a:t>
            </a:r>
            <a:r>
              <a:rPr lang="en-US" dirty="0"/>
              <a:t> and execution of His orders/commandments</a:t>
            </a:r>
          </a:p>
          <a:p>
            <a:pPr>
              <a:buNone/>
            </a:pPr>
            <a:endParaRPr lang="en-US" dirty="0"/>
          </a:p>
          <a:p>
            <a:r>
              <a:rPr lang="en-US" dirty="0"/>
              <a:t>Prayer (slat)</a:t>
            </a:r>
          </a:p>
          <a:p>
            <a:r>
              <a:rPr lang="en-US" dirty="0"/>
              <a:t> poor's dues(</a:t>
            </a:r>
            <a:r>
              <a:rPr lang="en-US" dirty="0" err="1"/>
              <a:t>zakat</a:t>
            </a:r>
            <a:r>
              <a:rPr lang="en-US" dirty="0"/>
              <a:t>)</a:t>
            </a:r>
          </a:p>
          <a:p>
            <a:r>
              <a:rPr lang="en-US" dirty="0"/>
              <a:t>Fasting (</a:t>
            </a:r>
            <a:r>
              <a:rPr lang="en-US" dirty="0" err="1"/>
              <a:t>saum</a:t>
            </a:r>
            <a:r>
              <a:rPr lang="en-US" dirty="0"/>
              <a:t>/</a:t>
            </a:r>
            <a:r>
              <a:rPr lang="en-US" dirty="0" err="1"/>
              <a:t>roza</a:t>
            </a:r>
            <a:r>
              <a:rPr lang="en-US" dirty="0"/>
              <a:t>)</a:t>
            </a:r>
          </a:p>
          <a:p>
            <a:r>
              <a:rPr lang="en-US" dirty="0"/>
              <a:t>Pilgrimage (hajj)</a:t>
            </a:r>
          </a:p>
          <a:p>
            <a:r>
              <a:rPr lang="en-US" dirty="0"/>
              <a:t>Jihad(struggle)</a:t>
            </a:r>
          </a:p>
          <a:p>
            <a:endParaRPr lang="en-US" dirty="0"/>
          </a:p>
          <a:p>
            <a:endParaRPr lang="en-US" dirty="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20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20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2000"/>
                                        <p:tgtEl>
                                          <p:spTgt spid="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20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AFFAIRS (</a:t>
            </a:r>
            <a:r>
              <a:rPr lang="en-US" dirty="0" err="1"/>
              <a:t>muamlat</a:t>
            </a:r>
            <a:r>
              <a:rPr lang="en-US" dirty="0"/>
              <a:t>)</a:t>
            </a:r>
          </a:p>
        </p:txBody>
      </p:sp>
      <p:sp>
        <p:nvSpPr>
          <p:cNvPr id="3" name="Content Placeholder 2"/>
          <p:cNvSpPr>
            <a:spLocks noGrp="1"/>
          </p:cNvSpPr>
          <p:nvPr>
            <p:ph idx="1"/>
          </p:nvPr>
        </p:nvSpPr>
        <p:spPr/>
        <p:txBody>
          <a:bodyPr/>
          <a:lstStyle/>
          <a:p>
            <a:r>
              <a:rPr lang="en-US" dirty="0"/>
              <a:t>Dealing , business and transaction among the human beings </a:t>
            </a:r>
            <a:r>
              <a:rPr lang="en-US" u="sng" dirty="0"/>
              <a:t>conducted under the Divine code.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ETHICS(</a:t>
            </a:r>
            <a:r>
              <a:rPr lang="en-US" dirty="0" err="1"/>
              <a:t>ikhlaqiyat</a:t>
            </a:r>
            <a:r>
              <a:rPr lang="en-US" dirty="0"/>
              <a:t>)</a:t>
            </a:r>
          </a:p>
        </p:txBody>
      </p:sp>
      <p:sp>
        <p:nvSpPr>
          <p:cNvPr id="3" name="Content Placeholder 2"/>
          <p:cNvSpPr>
            <a:spLocks noGrp="1"/>
          </p:cNvSpPr>
          <p:nvPr>
            <p:ph idx="1"/>
          </p:nvPr>
        </p:nvSpPr>
        <p:spPr/>
        <p:txBody>
          <a:bodyPr/>
          <a:lstStyle/>
          <a:p>
            <a:r>
              <a:rPr lang="en-US" dirty="0"/>
              <a:t>Relationship  of a human with other humans and with other creations of Allah on the </a:t>
            </a:r>
            <a:r>
              <a:rPr lang="en-US" dirty="0">
                <a:solidFill>
                  <a:srgbClr val="FF0000"/>
                </a:solidFill>
              </a:rPr>
              <a:t>basis of love, fraternity, virtue and </a:t>
            </a:r>
            <a:r>
              <a:rPr lang="en-US" dirty="0" err="1">
                <a:solidFill>
                  <a:srgbClr val="FF0000"/>
                </a:solidFill>
              </a:rPr>
              <a:t>wel</a:t>
            </a:r>
            <a:r>
              <a:rPr lang="en-US" dirty="0">
                <a:solidFill>
                  <a:srgbClr val="FF0000"/>
                </a:solidFill>
              </a:rPr>
              <a:t>- wishing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WHO IS A MUSLIM</a:t>
            </a:r>
          </a:p>
        </p:txBody>
      </p:sp>
      <p:sp>
        <p:nvSpPr>
          <p:cNvPr id="3" name="Content Placeholder 2"/>
          <p:cNvSpPr>
            <a:spLocks noGrp="1"/>
          </p:cNvSpPr>
          <p:nvPr>
            <p:ph idx="1"/>
          </p:nvPr>
        </p:nvSpPr>
        <p:spPr/>
        <p:txBody>
          <a:bodyPr>
            <a:normAutofit/>
          </a:bodyPr>
          <a:lstStyle/>
          <a:p>
            <a:r>
              <a:rPr lang="en-US" dirty="0"/>
              <a:t>A Muslim is one who:</a:t>
            </a:r>
          </a:p>
          <a:p>
            <a:pPr marL="137160" indent="0">
              <a:buNone/>
            </a:pPr>
            <a:r>
              <a:rPr lang="en-US" dirty="0"/>
              <a:t>Submits to the divine injunctions and</a:t>
            </a:r>
          </a:p>
          <a:p>
            <a:pPr marL="137160" indent="0">
              <a:buNone/>
            </a:pPr>
            <a:r>
              <a:rPr lang="en-US" dirty="0"/>
              <a:t>Does not deviate (turn back) from them.</a:t>
            </a:r>
          </a:p>
          <a:p>
            <a:r>
              <a:rPr lang="en-US" dirty="0">
                <a:solidFill>
                  <a:srgbClr val="FF0000"/>
                </a:solidFill>
              </a:rPr>
              <a:t>In terms of religion </a:t>
            </a:r>
            <a:r>
              <a:rPr lang="en-US" dirty="0"/>
              <a:t>a person is called Muslim only when he proceeds farther than the inherent injunctions and submits himself voluntarily to the optional injunctions.</a:t>
            </a:r>
          </a:p>
          <a:p>
            <a:r>
              <a:rPr lang="en-US" dirty="0"/>
              <a:t>In the absence of voluntary Islam inherent Islam becomes meaningless, it carries no weight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divine injunctions</a:t>
            </a:r>
          </a:p>
        </p:txBody>
      </p:sp>
      <p:sp>
        <p:nvSpPr>
          <p:cNvPr id="3" name="Content Placeholder 2"/>
          <p:cNvSpPr>
            <a:spLocks noGrp="1"/>
          </p:cNvSpPr>
          <p:nvPr>
            <p:ph idx="1"/>
          </p:nvPr>
        </p:nvSpPr>
        <p:spPr/>
        <p:txBody>
          <a:bodyPr/>
          <a:lstStyle/>
          <a:p>
            <a:r>
              <a:rPr lang="en-US" dirty="0">
                <a:solidFill>
                  <a:srgbClr val="FFFF00"/>
                </a:solidFill>
              </a:rPr>
              <a:t>Inherent</a:t>
            </a:r>
            <a:r>
              <a:rPr lang="en-US" dirty="0"/>
              <a:t> </a:t>
            </a:r>
          </a:p>
          <a:p>
            <a:pPr>
              <a:buNone/>
            </a:pPr>
            <a:r>
              <a:rPr lang="en-US" dirty="0"/>
              <a:t>    Inherent injunctions are those which are unavoidable, it is impossible for any one to defy them. All creatures are so made that they are bound to submit to these injunctions and they are by birth deprived of any discretion of choice between submission or defiance</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p:txBody>
          <a:bodyPr/>
          <a:lstStyle/>
          <a:p>
            <a:r>
              <a:rPr lang="en-US" dirty="0">
                <a:solidFill>
                  <a:srgbClr val="00B0F0"/>
                </a:solidFill>
              </a:rPr>
              <a:t>Voluntary</a:t>
            </a:r>
            <a:r>
              <a:rPr lang="en-US" dirty="0"/>
              <a:t> (optional)</a:t>
            </a:r>
          </a:p>
          <a:p>
            <a:pPr>
              <a:buNone/>
            </a:pPr>
            <a:r>
              <a:rPr lang="en-US" dirty="0"/>
              <a:t>   all such injunctions of Allah which we are not bound to obey because of any inherent compulsion are optional injunctions. We have the choice to obey or to disobey these injunctions.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077200" cy="1447800"/>
          </a:xfrm>
        </p:spPr>
        <p:txBody>
          <a:bodyPr>
            <a:normAutofit fontScale="90000"/>
          </a:bodyPr>
          <a:lstStyle/>
          <a:p>
            <a:br>
              <a:rPr lang="en-US" dirty="0"/>
            </a:br>
            <a:r>
              <a:rPr lang="en-US" dirty="0"/>
              <a:t>Inherent &amp; voluntary injunctions</a:t>
            </a:r>
            <a:br>
              <a:rPr lang="en-US" dirty="0"/>
            </a:br>
            <a:endParaRPr lang="en-US" dirty="0"/>
          </a:p>
        </p:txBody>
      </p:sp>
      <p:sp>
        <p:nvSpPr>
          <p:cNvPr id="3" name="Content Placeholder 2"/>
          <p:cNvSpPr>
            <a:spLocks noGrp="1"/>
          </p:cNvSpPr>
          <p:nvPr>
            <p:ph sz="half" idx="1"/>
          </p:nvPr>
        </p:nvSpPr>
        <p:spPr/>
        <p:txBody>
          <a:bodyPr>
            <a:normAutofit/>
          </a:bodyPr>
          <a:lstStyle/>
          <a:p>
            <a:r>
              <a:rPr lang="en-US" dirty="0"/>
              <a:t>Sun:  rises &amp; sets at appointed time. heat, light, energy</a:t>
            </a:r>
          </a:p>
          <a:p>
            <a:r>
              <a:rPr lang="en-US" dirty="0"/>
              <a:t>Air; blows, tends clouds, nourishes plants, provides life to living beings </a:t>
            </a:r>
          </a:p>
          <a:p>
            <a:r>
              <a:rPr lang="en-US" dirty="0"/>
              <a:t>Water: slakes thirst</a:t>
            </a:r>
          </a:p>
          <a:p>
            <a:r>
              <a:rPr lang="en-US" dirty="0"/>
              <a:t>Fire: burns</a:t>
            </a:r>
          </a:p>
          <a:p>
            <a:r>
              <a:rPr lang="en-US" dirty="0"/>
              <a:t>Tongue: taste &amp; speak</a:t>
            </a:r>
          </a:p>
          <a:p>
            <a:endParaRPr lang="en-US" dirty="0"/>
          </a:p>
        </p:txBody>
      </p:sp>
      <p:sp>
        <p:nvSpPr>
          <p:cNvPr id="4" name="Content Placeholder 3"/>
          <p:cNvSpPr>
            <a:spLocks noGrp="1"/>
          </p:cNvSpPr>
          <p:nvPr>
            <p:ph sz="half" idx="2"/>
          </p:nvPr>
        </p:nvSpPr>
        <p:spPr/>
        <p:txBody>
          <a:bodyPr>
            <a:normAutofit/>
          </a:bodyPr>
          <a:lstStyle/>
          <a:p>
            <a:r>
              <a:rPr lang="en-US" dirty="0"/>
              <a:t>Human beings: </a:t>
            </a:r>
          </a:p>
          <a:p>
            <a:r>
              <a:rPr lang="en-US" dirty="0"/>
              <a:t>Some believe  in His duality.</a:t>
            </a:r>
          </a:p>
          <a:p>
            <a:r>
              <a:rPr lang="en-US" dirty="0"/>
              <a:t>Some believe in </a:t>
            </a:r>
            <a:r>
              <a:rPr lang="en-US"/>
              <a:t>His Trinity.</a:t>
            </a:r>
            <a:endParaRPr lang="en-US" dirty="0"/>
          </a:p>
          <a:p>
            <a:r>
              <a:rPr lang="en-US" dirty="0"/>
              <a:t>Some add other thousands with Him</a:t>
            </a:r>
          </a:p>
          <a:p>
            <a:r>
              <a:rPr lang="en-US" dirty="0"/>
              <a:t>Some are atheist</a:t>
            </a:r>
          </a:p>
          <a:p>
            <a:r>
              <a:rPr lang="en-US" dirty="0"/>
              <a:t>Some are theist</a:t>
            </a:r>
          </a:p>
          <a:p>
            <a:endParaRPr lang="en-US" dirty="0"/>
          </a:p>
          <a:p>
            <a:endParaRPr lang="en-US" dirty="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anim calcmode="lin" valueType="num">
                                      <p:cBhvr additive="base">
                                        <p:cTn id="4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
                                            <p:txEl>
                                              <p:pRg st="1" end="1"/>
                                            </p:txEl>
                                          </p:spTgt>
                                        </p:tgtEl>
                                        <p:attrNameLst>
                                          <p:attrName>style.visibility</p:attrName>
                                        </p:attrNameLst>
                                      </p:cBhvr>
                                      <p:to>
                                        <p:strVal val="visible"/>
                                      </p:to>
                                    </p:set>
                                    <p:anim calcmode="lin" valueType="num">
                                      <p:cBhvr additive="base">
                                        <p:cTn id="49"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
                                            <p:txEl>
                                              <p:pRg st="2" end="2"/>
                                            </p:txEl>
                                          </p:spTgt>
                                        </p:tgtEl>
                                        <p:attrNameLst>
                                          <p:attrName>style.visibility</p:attrName>
                                        </p:attrNameLst>
                                      </p:cBhvr>
                                      <p:to>
                                        <p:strVal val="visible"/>
                                      </p:to>
                                    </p:set>
                                    <p:anim calcmode="lin" valueType="num">
                                      <p:cBhvr additive="base">
                                        <p:cTn id="5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
                                            <p:txEl>
                                              <p:pRg st="3" end="3"/>
                                            </p:txEl>
                                          </p:spTgt>
                                        </p:tgtEl>
                                        <p:attrNameLst>
                                          <p:attrName>style.visibility</p:attrName>
                                        </p:attrNameLst>
                                      </p:cBhvr>
                                      <p:to>
                                        <p:strVal val="visible"/>
                                      </p:to>
                                    </p:set>
                                    <p:anim calcmode="lin" valueType="num">
                                      <p:cBhvr additive="base">
                                        <p:cTn id="6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4">
                                            <p:txEl>
                                              <p:pRg st="4" end="4"/>
                                            </p:txEl>
                                          </p:spTgt>
                                        </p:tgtEl>
                                        <p:attrNameLst>
                                          <p:attrName>style.visibility</p:attrName>
                                        </p:attrNameLst>
                                      </p:cBhvr>
                                      <p:to>
                                        <p:strVal val="visible"/>
                                      </p:to>
                                    </p:set>
                                    <p:anim calcmode="lin" valueType="num">
                                      <p:cBhvr additive="base">
                                        <p:cTn id="6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4">
                                            <p:txEl>
                                              <p:pRg st="5" end="5"/>
                                            </p:txEl>
                                          </p:spTgt>
                                        </p:tgtEl>
                                        <p:attrNameLst>
                                          <p:attrName>style.visibility</p:attrName>
                                        </p:attrNameLst>
                                      </p:cBhvr>
                                      <p:to>
                                        <p:strVal val="visible"/>
                                      </p:to>
                                    </p:set>
                                    <p:anim calcmode="lin" valueType="num">
                                      <p:cBhvr additive="base">
                                        <p:cTn id="73"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Comparison of both injunctions</a:t>
            </a:r>
          </a:p>
        </p:txBody>
      </p:sp>
      <p:sp>
        <p:nvSpPr>
          <p:cNvPr id="3" name="Text Placeholder 2"/>
          <p:cNvSpPr>
            <a:spLocks noGrp="1"/>
          </p:cNvSpPr>
          <p:nvPr>
            <p:ph type="body" idx="1"/>
          </p:nvPr>
        </p:nvSpPr>
        <p:spPr/>
        <p:txBody>
          <a:bodyPr/>
          <a:lstStyle/>
          <a:p>
            <a:r>
              <a:rPr lang="en-US" dirty="0"/>
              <a:t>Inherent </a:t>
            </a:r>
          </a:p>
        </p:txBody>
      </p:sp>
      <p:sp>
        <p:nvSpPr>
          <p:cNvPr id="4" name="Text Placeholder 3"/>
          <p:cNvSpPr>
            <a:spLocks noGrp="1"/>
          </p:cNvSpPr>
          <p:nvPr>
            <p:ph type="body" sz="half" idx="3"/>
          </p:nvPr>
        </p:nvSpPr>
        <p:spPr/>
        <p:txBody>
          <a:bodyPr/>
          <a:lstStyle/>
          <a:p>
            <a:r>
              <a:rPr lang="en-US" dirty="0"/>
              <a:t>voluntary</a:t>
            </a:r>
          </a:p>
        </p:txBody>
      </p:sp>
      <p:sp>
        <p:nvSpPr>
          <p:cNvPr id="5" name="Content Placeholder 4"/>
          <p:cNvSpPr>
            <a:spLocks noGrp="1"/>
          </p:cNvSpPr>
          <p:nvPr>
            <p:ph sz="quarter" idx="2"/>
          </p:nvPr>
        </p:nvSpPr>
        <p:spPr/>
        <p:txBody>
          <a:bodyPr/>
          <a:lstStyle/>
          <a:p>
            <a:r>
              <a:rPr lang="en-US" dirty="0"/>
              <a:t>Physical/natural laws</a:t>
            </a:r>
          </a:p>
          <a:p>
            <a:r>
              <a:rPr lang="en-US" dirty="0"/>
              <a:t>Unavoidable</a:t>
            </a:r>
          </a:p>
          <a:p>
            <a:r>
              <a:rPr lang="en-US" dirty="0"/>
              <a:t>Impossible to defy</a:t>
            </a:r>
          </a:p>
          <a:p>
            <a:r>
              <a:rPr lang="en-US" dirty="0"/>
              <a:t>Bound to submit</a:t>
            </a:r>
          </a:p>
          <a:p>
            <a:r>
              <a:rPr lang="en-US" dirty="0"/>
              <a:t>No choice b/w submission &amp; defiance</a:t>
            </a:r>
          </a:p>
          <a:p>
            <a:r>
              <a:rPr lang="en-US" dirty="0"/>
              <a:t>Deprived of discretion</a:t>
            </a:r>
          </a:p>
        </p:txBody>
      </p:sp>
      <p:sp>
        <p:nvSpPr>
          <p:cNvPr id="6" name="Content Placeholder 5"/>
          <p:cNvSpPr>
            <a:spLocks noGrp="1"/>
          </p:cNvSpPr>
          <p:nvPr>
            <p:ph sz="quarter" idx="4"/>
          </p:nvPr>
        </p:nvSpPr>
        <p:spPr/>
        <p:txBody>
          <a:bodyPr/>
          <a:lstStyle/>
          <a:p>
            <a:r>
              <a:rPr lang="en-US" dirty="0"/>
              <a:t>Laws of </a:t>
            </a:r>
            <a:r>
              <a:rPr lang="en-US" dirty="0" err="1"/>
              <a:t>Shari’ah</a:t>
            </a:r>
            <a:endParaRPr lang="en-US" dirty="0"/>
          </a:p>
          <a:p>
            <a:r>
              <a:rPr lang="en-US" dirty="0"/>
              <a:t>Avoidable/optional</a:t>
            </a:r>
          </a:p>
          <a:p>
            <a:r>
              <a:rPr lang="en-US" dirty="0"/>
              <a:t>Possible to defy</a:t>
            </a:r>
          </a:p>
          <a:p>
            <a:r>
              <a:rPr lang="en-US" dirty="0"/>
              <a:t>Not bound to submit</a:t>
            </a:r>
          </a:p>
          <a:p>
            <a:r>
              <a:rPr lang="en-US" dirty="0"/>
              <a:t>Have choice b/w submission &amp; defiance</a:t>
            </a:r>
          </a:p>
          <a:p>
            <a:r>
              <a:rPr lang="en-US" dirty="0"/>
              <a:t>Bestowed with discretion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 calcmode="lin" valueType="num">
                                      <p:cBhvr additive="base">
                                        <p:cTn id="18"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5">
                                            <p:txEl>
                                              <p:pRg st="1" end="1"/>
                                            </p:txEl>
                                          </p:spTgt>
                                        </p:tgtEl>
                                        <p:attrNameLst>
                                          <p:attrName>style.visibility</p:attrName>
                                        </p:attrNameLst>
                                      </p:cBhvr>
                                      <p:to>
                                        <p:strVal val="visible"/>
                                      </p:to>
                                    </p:set>
                                    <p:anim calcmode="lin" valueType="num">
                                      <p:cBhvr additive="base">
                                        <p:cTn id="24"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5">
                                            <p:txEl>
                                              <p:pRg st="2" end="2"/>
                                            </p:txEl>
                                          </p:spTgt>
                                        </p:tgtEl>
                                        <p:attrNameLst>
                                          <p:attrName>style.visibility</p:attrName>
                                        </p:attrNameLst>
                                      </p:cBhvr>
                                      <p:to>
                                        <p:strVal val="visible"/>
                                      </p:to>
                                    </p:set>
                                    <p:anim calcmode="lin" valueType="num">
                                      <p:cBhvr additive="base">
                                        <p:cTn id="30"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5">
                                            <p:txEl>
                                              <p:pRg st="3" end="3"/>
                                            </p:txEl>
                                          </p:spTgt>
                                        </p:tgtEl>
                                        <p:attrNameLst>
                                          <p:attrName>style.visibility</p:attrName>
                                        </p:attrNameLst>
                                      </p:cBhvr>
                                      <p:to>
                                        <p:strVal val="visible"/>
                                      </p:to>
                                    </p:set>
                                    <p:anim calcmode="lin" valueType="num">
                                      <p:cBhvr additive="base">
                                        <p:cTn id="36"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5">
                                            <p:txEl>
                                              <p:pRg st="4" end="4"/>
                                            </p:txEl>
                                          </p:spTgt>
                                        </p:tgtEl>
                                        <p:attrNameLst>
                                          <p:attrName>style.visibility</p:attrName>
                                        </p:attrNameLst>
                                      </p:cBhvr>
                                      <p:to>
                                        <p:strVal val="visible"/>
                                      </p:to>
                                    </p:set>
                                    <p:anim calcmode="lin" valueType="num">
                                      <p:cBhvr additive="base">
                                        <p:cTn id="42"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5">
                                            <p:txEl>
                                              <p:pRg st="5" end="5"/>
                                            </p:txEl>
                                          </p:spTgt>
                                        </p:tgtEl>
                                        <p:attrNameLst>
                                          <p:attrName>style.visibility</p:attrName>
                                        </p:attrNameLst>
                                      </p:cBhvr>
                                      <p:to>
                                        <p:strVal val="visible"/>
                                      </p:to>
                                    </p:set>
                                    <p:anim calcmode="lin" valueType="num">
                                      <p:cBhvr additive="base">
                                        <p:cTn id="48"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4">
                                            <p:txEl>
                                              <p:pRg st="0" end="0"/>
                                            </p:txEl>
                                          </p:spTgt>
                                        </p:tgtEl>
                                        <p:attrNameLst>
                                          <p:attrName>style.visibility</p:attrName>
                                        </p:attrNameLst>
                                      </p:cBhvr>
                                      <p:to>
                                        <p:strVal val="visible"/>
                                      </p:to>
                                    </p:set>
                                    <p:anim calcmode="lin" valueType="num">
                                      <p:cBhvr additive="base">
                                        <p:cTn id="54"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6">
                                            <p:txEl>
                                              <p:pRg st="0" end="0"/>
                                            </p:txEl>
                                          </p:spTgt>
                                        </p:tgtEl>
                                        <p:attrNameLst>
                                          <p:attrName>style.visibility</p:attrName>
                                        </p:attrNameLst>
                                      </p:cBhvr>
                                      <p:to>
                                        <p:strVal val="visible"/>
                                      </p:to>
                                    </p:set>
                                    <p:anim calcmode="lin" valueType="num">
                                      <p:cBhvr additive="base">
                                        <p:cTn id="60"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6">
                                            <p:txEl>
                                              <p:pRg st="1" end="1"/>
                                            </p:txEl>
                                          </p:spTgt>
                                        </p:tgtEl>
                                        <p:attrNameLst>
                                          <p:attrName>style.visibility</p:attrName>
                                        </p:attrNameLst>
                                      </p:cBhvr>
                                      <p:to>
                                        <p:strVal val="visible"/>
                                      </p:to>
                                    </p:set>
                                    <p:anim calcmode="lin" valueType="num">
                                      <p:cBhvr additive="base">
                                        <p:cTn id="66"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6">
                                            <p:txEl>
                                              <p:pRg st="2" end="2"/>
                                            </p:txEl>
                                          </p:spTgt>
                                        </p:tgtEl>
                                        <p:attrNameLst>
                                          <p:attrName>style.visibility</p:attrName>
                                        </p:attrNameLst>
                                      </p:cBhvr>
                                      <p:to>
                                        <p:strVal val="visible"/>
                                      </p:to>
                                    </p:set>
                                    <p:anim calcmode="lin" valueType="num">
                                      <p:cBhvr additive="base">
                                        <p:cTn id="72"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grpId="0" nodeType="clickEffect">
                                  <p:stCondLst>
                                    <p:cond delay="0"/>
                                  </p:stCondLst>
                                  <p:childTnLst>
                                    <p:set>
                                      <p:cBhvr>
                                        <p:cTn id="77" dur="1" fill="hold">
                                          <p:stCondLst>
                                            <p:cond delay="0"/>
                                          </p:stCondLst>
                                        </p:cTn>
                                        <p:tgtEl>
                                          <p:spTgt spid="6">
                                            <p:txEl>
                                              <p:pRg st="3" end="3"/>
                                            </p:txEl>
                                          </p:spTgt>
                                        </p:tgtEl>
                                        <p:attrNameLst>
                                          <p:attrName>style.visibility</p:attrName>
                                        </p:attrNameLst>
                                      </p:cBhvr>
                                      <p:to>
                                        <p:strVal val="visible"/>
                                      </p:to>
                                    </p:set>
                                    <p:anim calcmode="lin" valueType="num">
                                      <p:cBhvr additive="base">
                                        <p:cTn id="78"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6">
                                            <p:txEl>
                                              <p:pRg st="4" end="4"/>
                                            </p:txEl>
                                          </p:spTgt>
                                        </p:tgtEl>
                                        <p:attrNameLst>
                                          <p:attrName>style.visibility</p:attrName>
                                        </p:attrNameLst>
                                      </p:cBhvr>
                                      <p:to>
                                        <p:strVal val="visible"/>
                                      </p:to>
                                    </p:set>
                                    <p:anim calcmode="lin" valueType="num">
                                      <p:cBhvr additive="base">
                                        <p:cTn id="84"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85"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 presetClass="entr" presetSubtype="4" fill="hold" grpId="0" nodeType="clickEffect">
                                  <p:stCondLst>
                                    <p:cond delay="0"/>
                                  </p:stCondLst>
                                  <p:childTnLst>
                                    <p:set>
                                      <p:cBhvr>
                                        <p:cTn id="89" dur="1" fill="hold">
                                          <p:stCondLst>
                                            <p:cond delay="0"/>
                                          </p:stCondLst>
                                        </p:cTn>
                                        <p:tgtEl>
                                          <p:spTgt spid="6">
                                            <p:txEl>
                                              <p:pRg st="5" end="5"/>
                                            </p:txEl>
                                          </p:spTgt>
                                        </p:tgtEl>
                                        <p:attrNameLst>
                                          <p:attrName>style.visibility</p:attrName>
                                        </p:attrNameLst>
                                      </p:cBhvr>
                                      <p:to>
                                        <p:strVal val="visible"/>
                                      </p:to>
                                    </p:set>
                                    <p:anim calcmode="lin" valueType="num">
                                      <p:cBhvr additive="base">
                                        <p:cTn id="90"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91"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P spid="5" grpId="0" build="p"/>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ISLAM AND MAN</a:t>
            </a:r>
          </a:p>
        </p:txBody>
      </p:sp>
      <p:sp>
        <p:nvSpPr>
          <p:cNvPr id="3" name="Content Placeholder 2"/>
          <p:cNvSpPr>
            <a:spLocks noGrp="1"/>
          </p:cNvSpPr>
          <p:nvPr>
            <p:ph idx="1"/>
          </p:nvPr>
        </p:nvSpPr>
        <p:spPr/>
        <p:txBody>
          <a:bodyPr/>
          <a:lstStyle/>
          <a:p>
            <a:r>
              <a:rPr lang="en-US" dirty="0"/>
              <a:t>Different theories has given the different concepts about the about the human life on the face of the earth.</a:t>
            </a:r>
          </a:p>
          <a:p>
            <a:r>
              <a:rPr lang="en-US" dirty="0"/>
              <a:t>The first man was uncivilized </a:t>
            </a:r>
          </a:p>
          <a:p>
            <a:r>
              <a:rPr lang="en-US" dirty="0"/>
              <a:t> he was beast and barbaric</a:t>
            </a:r>
          </a:p>
          <a:p>
            <a:r>
              <a:rPr lang="en-US" dirty="0"/>
              <a:t>He had no segregation b/w good and bad, about virtue and vice etc.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ISLAMIC CONCEPT ABOUT MAN</a:t>
            </a:r>
          </a:p>
        </p:txBody>
      </p:sp>
      <p:sp>
        <p:nvSpPr>
          <p:cNvPr id="3" name="Content Placeholder 2"/>
          <p:cNvSpPr>
            <a:spLocks noGrp="1"/>
          </p:cNvSpPr>
          <p:nvPr>
            <p:ph idx="1"/>
          </p:nvPr>
        </p:nvSpPr>
        <p:spPr/>
        <p:txBody>
          <a:bodyPr>
            <a:normAutofit fontScale="85000" lnSpcReduction="10000"/>
          </a:bodyPr>
          <a:lstStyle/>
          <a:p>
            <a:r>
              <a:rPr lang="en-US" dirty="0"/>
              <a:t>Man is among such creature who is endowed with the faculty of will and choice.</a:t>
            </a:r>
          </a:p>
          <a:p>
            <a:r>
              <a:rPr lang="en-US" dirty="0"/>
              <a:t>That is why he was bestowed with divine injunctions.</a:t>
            </a:r>
          </a:p>
          <a:p>
            <a:r>
              <a:rPr lang="en-US" dirty="0"/>
              <a:t>When the first man was being sent, Allah announced it</a:t>
            </a:r>
          </a:p>
          <a:p>
            <a:r>
              <a:rPr lang="fa-IR" dirty="0"/>
              <a:t> فَاِمَّا يَاْتِيَنَّكُمْ مِّـنِّىْ ھُدًى </a:t>
            </a:r>
            <a:endParaRPr lang="en-US" dirty="0"/>
          </a:p>
          <a:p>
            <a:r>
              <a:rPr lang="en-US" dirty="0"/>
              <a:t>“surely my injunctions would come to you.”</a:t>
            </a:r>
          </a:p>
          <a:p>
            <a:r>
              <a:rPr lang="en-US" dirty="0"/>
              <a:t>Quran has very explicitly narrated it in following words:</a:t>
            </a:r>
          </a:p>
          <a:p>
            <a:r>
              <a:rPr lang="fa-IR" dirty="0"/>
              <a:t>وَاِنْ مِّنْ اُمَّةٍ اِلَّا خَلَا فِيْهَا نَذِيْرٌ </a:t>
            </a:r>
            <a:endParaRPr lang="en-US" dirty="0"/>
          </a:p>
          <a:p>
            <a:r>
              <a:rPr lang="en-US" dirty="0"/>
              <a:t>There is not a nation but a Warner hath passed among them.</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 calcmode="lin" valueType="num">
                                      <p:cBhvr additive="base">
                                        <p:cTn id="4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 calcmode="lin" valueType="num">
                                      <p:cBhvr additive="base">
                                        <p:cTn id="54"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RELIGION OF EVERY NATION WAS ISLAM</a:t>
            </a:r>
          </a:p>
        </p:txBody>
      </p:sp>
      <p:sp>
        <p:nvSpPr>
          <p:cNvPr id="3" name="Content Placeholder 2"/>
          <p:cNvSpPr>
            <a:spLocks noGrp="1"/>
          </p:cNvSpPr>
          <p:nvPr>
            <p:ph idx="1"/>
          </p:nvPr>
        </p:nvSpPr>
        <p:spPr/>
        <p:txBody>
          <a:bodyPr>
            <a:normAutofit/>
          </a:bodyPr>
          <a:lstStyle/>
          <a:p>
            <a:r>
              <a:rPr lang="en-US" dirty="0"/>
              <a:t>As all codes of divine injunctions ,which have come to man from the day of creation to this day, were sent by Allah. Therefore, each of these religions was nothing but Islam  and their followers were in fact Muslims.</a:t>
            </a:r>
          </a:p>
          <a:p>
            <a:r>
              <a:rPr lang="en-US" dirty="0"/>
              <a:t>Quran has cleared this doubt in this verse:</a:t>
            </a:r>
          </a:p>
          <a:p>
            <a:r>
              <a:rPr lang="fa-IR" dirty="0"/>
              <a:t>مَا كَانَ اِبْرٰهِيْمُ يَهُوْدِيًّا وَّلَا نَصْرَانِيًّا وَّلٰكِنْ كَانَ حَنِيْفًا مُّسْلِمًا </a:t>
            </a:r>
            <a:endParaRPr lang="en-US" dirty="0"/>
          </a:p>
          <a:p>
            <a:r>
              <a:rPr lang="en-US" dirty="0"/>
              <a:t>Abraham was not a Jew, not yet a Christian, but he was an upright man who had surrendered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a:t>
            </a:r>
            <a:r>
              <a:rPr lang="en-US"/>
              <a:t>:</a:t>
            </a:r>
          </a:p>
        </p:txBody>
      </p:sp>
      <p:sp>
        <p:nvSpPr>
          <p:cNvPr id="3" name="Content Placeholder 2"/>
          <p:cNvSpPr>
            <a:spLocks noGrp="1"/>
          </p:cNvSpPr>
          <p:nvPr>
            <p:ph idx="1"/>
          </p:nvPr>
        </p:nvSpPr>
        <p:spPr/>
        <p:txBody>
          <a:bodyPr/>
          <a:lstStyle/>
          <a:p>
            <a:r>
              <a:rPr lang="ar-AE" dirty="0"/>
              <a:t>شَرَعَ لَكُم مِّنَ الدِّينِ مَا وَصَّىٰ بِهِ نُوحًا وَالَّذِي أَوْحَيْنَا إِلَيْكَ وَمَا وَصَّيْنَا بِهِ إِبْرَاهِيمَ وَمُوسَىٰ وَعِيسَىٰ ۖ أَنْ أَقِيمُوا الدِّينَ وَلَا تَتَفَرَّقُوا فِيهِ </a:t>
            </a:r>
            <a:endParaRPr lang="en-US" dirty="0"/>
          </a:p>
          <a:p>
            <a:r>
              <a:rPr lang="en-US" dirty="0"/>
              <a:t>The same religion has He established for you as that which He enjoined on Noah - the which We have sent by inspiration to thee - and that which We enjoined on Abraham, Moses, and Jesus: Namely, that ye should remain steadfast in religion, and make no divisions therein</a:t>
            </a:r>
          </a:p>
          <a:p>
            <a:endParaRPr lang="en-US" dirty="0"/>
          </a:p>
        </p:txBody>
      </p:sp>
    </p:spTree>
    <p:extLst>
      <p:ext uri="{BB962C8B-B14F-4D97-AF65-F5344CB8AC3E}">
        <p14:creationId xmlns:p14="http://schemas.microsoft.com/office/powerpoint/2010/main" val="1802329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Islam &amp; Muslim is only special title given to only this </a:t>
            </a:r>
            <a:r>
              <a:rPr lang="en-US" dirty="0" err="1"/>
              <a:t>Umah</a:t>
            </a:r>
            <a:endParaRPr lang="en-US" dirty="0"/>
          </a:p>
        </p:txBody>
      </p:sp>
      <p:sp>
        <p:nvSpPr>
          <p:cNvPr id="3" name="Content Placeholder 2"/>
          <p:cNvSpPr>
            <a:spLocks noGrp="1"/>
          </p:cNvSpPr>
          <p:nvPr>
            <p:ph idx="1"/>
          </p:nvPr>
        </p:nvSpPr>
        <p:spPr/>
        <p:txBody>
          <a:bodyPr/>
          <a:lstStyle/>
          <a:p>
            <a:r>
              <a:rPr lang="fa-IR" dirty="0"/>
              <a:t>هو سماڪم المسلمين من قبل وفي هذا</a:t>
            </a:r>
          </a:p>
          <a:p>
            <a:r>
              <a:rPr lang="en-US" dirty="0"/>
              <a:t>He has already selected your name as Muslim</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Reason of such distinction</a:t>
            </a:r>
          </a:p>
        </p:txBody>
      </p:sp>
      <p:sp>
        <p:nvSpPr>
          <p:cNvPr id="3" name="Content Placeholder 2"/>
          <p:cNvSpPr>
            <a:spLocks noGrp="1"/>
          </p:cNvSpPr>
          <p:nvPr>
            <p:ph idx="1"/>
          </p:nvPr>
        </p:nvSpPr>
        <p:spPr/>
        <p:txBody>
          <a:bodyPr>
            <a:normAutofit fontScale="92500" lnSpcReduction="10000"/>
          </a:bodyPr>
          <a:lstStyle/>
          <a:p>
            <a:r>
              <a:rPr lang="ur-PK" b="0" i="0" dirty="0">
                <a:solidFill>
                  <a:srgbClr val="FF0000"/>
                </a:solidFill>
                <a:effectLst/>
                <a:latin typeface="noorehuda"/>
              </a:rPr>
              <a:t>كُنتُمْ خَيْرَ أُمَّةٍ أُخْرِجَتْ لِلنَّاسِ تَأْمُرُونَ بِالْمَعْرُوفِ وَتَنْهَوْنَ عَنِ الْمُنكَرِ</a:t>
            </a:r>
            <a:endParaRPr lang="en-US" b="0" i="0" dirty="0">
              <a:solidFill>
                <a:srgbClr val="FF0000"/>
              </a:solidFill>
              <a:effectLst/>
              <a:latin typeface="noorehuda"/>
            </a:endParaRPr>
          </a:p>
          <a:p>
            <a:r>
              <a:rPr lang="en-US" sz="2600" b="0" i="0">
                <a:effectLst/>
                <a:latin typeface="lato"/>
              </a:rPr>
              <a:t>You are indeed </a:t>
            </a:r>
            <a:r>
              <a:rPr lang="en-US" sz="2600" b="0" i="0" dirty="0">
                <a:effectLst/>
                <a:latin typeface="lato"/>
              </a:rPr>
              <a:t>the best community that has ever been brought forth for [the good of] mankind: you </a:t>
            </a:r>
            <a:r>
              <a:rPr lang="en-US" sz="2600" b="0" i="0" dirty="0">
                <a:solidFill>
                  <a:srgbClr val="FF0000"/>
                </a:solidFill>
                <a:effectLst/>
                <a:latin typeface="lato"/>
              </a:rPr>
              <a:t>enjoin the doing of what is right </a:t>
            </a:r>
            <a:r>
              <a:rPr lang="en-US" sz="2600" b="0" i="0" dirty="0">
                <a:effectLst/>
                <a:latin typeface="lato"/>
              </a:rPr>
              <a:t>and </a:t>
            </a:r>
            <a:r>
              <a:rPr lang="en-US" sz="2600" b="0" i="0" dirty="0">
                <a:solidFill>
                  <a:srgbClr val="FFFF00"/>
                </a:solidFill>
                <a:effectLst/>
                <a:latin typeface="lato"/>
              </a:rPr>
              <a:t>forbid the doing of what is wrong</a:t>
            </a:r>
            <a:endParaRPr lang="en-US" sz="2600" dirty="0">
              <a:solidFill>
                <a:srgbClr val="FFFF00"/>
              </a:solidFill>
            </a:endParaRPr>
          </a:p>
          <a:p>
            <a:r>
              <a:rPr lang="en-US" dirty="0"/>
              <a:t>A common law used for assigning some one a title.</a:t>
            </a:r>
          </a:p>
          <a:p>
            <a:r>
              <a:rPr lang="en-US" dirty="0"/>
              <a:t>Every religions’ code of law( </a:t>
            </a:r>
            <a:r>
              <a:rPr lang="en-US" dirty="0" err="1"/>
              <a:t>shria</a:t>
            </a:r>
            <a:r>
              <a:rPr lang="en-US" dirty="0"/>
              <a:t>) was concise and limited</a:t>
            </a:r>
          </a:p>
          <a:p>
            <a:r>
              <a:rPr lang="en-US" dirty="0"/>
              <a:t>It was not universal</a:t>
            </a:r>
          </a:p>
          <a:p>
            <a:r>
              <a:rPr lang="en-US" dirty="0"/>
              <a:t>Its implementation was too limited</a:t>
            </a:r>
          </a:p>
          <a:p>
            <a:r>
              <a:rPr lang="en-US" dirty="0"/>
              <a:t>It was not comprehensive</a:t>
            </a: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1956</TotalTime>
  <Words>888</Words>
  <Application>Microsoft Office PowerPoint</Application>
  <PresentationFormat>On-screen Show (4:3)</PresentationFormat>
  <Paragraphs>108</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Book Antiqua</vt:lpstr>
      <vt:lpstr>lato</vt:lpstr>
      <vt:lpstr>Lucida Sans</vt:lpstr>
      <vt:lpstr>noorehuda</vt:lpstr>
      <vt:lpstr>Wingdings</vt:lpstr>
      <vt:lpstr>Wingdings 2</vt:lpstr>
      <vt:lpstr>Wingdings 3</vt:lpstr>
      <vt:lpstr>Apex</vt:lpstr>
      <vt:lpstr>BASIC CONCEPT OF ISLAM</vt:lpstr>
      <vt:lpstr>WHAT IS ISLAM</vt:lpstr>
      <vt:lpstr>BELIEFS( imaniyat) </vt:lpstr>
      <vt:lpstr>WORSHIPS (ibadat)</vt:lpstr>
      <vt:lpstr>AFFAIRS (muamlat)</vt:lpstr>
      <vt:lpstr>ETHICS(ikhlaqiyat)</vt:lpstr>
      <vt:lpstr>WHO IS A MUSLIM</vt:lpstr>
      <vt:lpstr>Types of divine injunctions</vt:lpstr>
      <vt:lpstr>cont</vt:lpstr>
      <vt:lpstr> Inherent &amp; voluntary injunctions </vt:lpstr>
      <vt:lpstr>Comparison of both injunctions</vt:lpstr>
      <vt:lpstr>ISLAM AND MAN</vt:lpstr>
      <vt:lpstr>ISLAMIC CONCEPT ABOUT MAN</vt:lpstr>
      <vt:lpstr>THE RELIGION OF EVERY NATION WAS ISLAM</vt:lpstr>
      <vt:lpstr>Cont:</vt:lpstr>
      <vt:lpstr>Islam &amp; Muslim is only special title given to only this Umah</vt:lpstr>
      <vt:lpstr>Reason of such distinction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 OF ISLAM</dc:title>
  <dc:creator>Peeral</dc:creator>
  <cp:lastModifiedBy>Peeral Sb</cp:lastModifiedBy>
  <cp:revision>42</cp:revision>
  <dcterms:created xsi:type="dcterms:W3CDTF">2016-08-05T03:49:19Z</dcterms:created>
  <dcterms:modified xsi:type="dcterms:W3CDTF">2021-10-11T08:34:58Z</dcterms:modified>
</cp:coreProperties>
</file>