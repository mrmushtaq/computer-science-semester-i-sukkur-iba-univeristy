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256" r:id="rId2"/>
    <p:sldId id="257" r:id="rId3"/>
    <p:sldId id="258" r:id="rId4"/>
    <p:sldId id="268" r:id="rId5"/>
    <p:sldId id="269" r:id="rId6"/>
    <p:sldId id="271" r:id="rId7"/>
    <p:sldId id="272" r:id="rId8"/>
    <p:sldId id="260" r:id="rId9"/>
    <p:sldId id="259" r:id="rId10"/>
    <p:sldId id="261" r:id="rId11"/>
    <p:sldId id="262" r:id="rId12"/>
    <p:sldId id="263" r:id="rId13"/>
    <p:sldId id="264" r:id="rId14"/>
    <p:sldId id="265" r:id="rId15"/>
    <p:sldId id="266" r:id="rId16"/>
    <p:sldId id="267" r:id="rId17"/>
    <p:sldId id="275" r:id="rId18"/>
    <p:sldId id="276" r:id="rId19"/>
    <p:sldId id="277" r:id="rId20"/>
    <p:sldId id="278" r:id="rId21"/>
    <p:sldId id="279" r:id="rId22"/>
    <p:sldId id="280" r:id="rId23"/>
    <p:sldId id="281" r:id="rId24"/>
    <p:sldId id="282" r:id="rId25"/>
    <p:sldId id="283" r:id="rId26"/>
    <p:sldId id="284"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704"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B9C1FD-D42C-4376-87F4-177055C26993}" type="datetimeFigureOut">
              <a:rPr lang="en-US" smtClean="0"/>
              <a:t>4/10/2021</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CD712C-94F1-4729-AD5B-11AF9F1FEDDD}" type="slidenum">
              <a:rPr lang="en-US" smtClean="0"/>
              <a:t>‹#›</a:t>
            </a:fld>
            <a:endParaRPr lang="en-US"/>
          </a:p>
        </p:txBody>
      </p:sp>
    </p:spTree>
    <p:extLst>
      <p:ext uri="{BB962C8B-B14F-4D97-AF65-F5344CB8AC3E}">
        <p14:creationId xmlns:p14="http://schemas.microsoft.com/office/powerpoint/2010/main" val="5112107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CCD712C-94F1-4729-AD5B-11AF9F1FEDDD}" type="slidenum">
              <a:rPr lang="en-US" smtClean="0"/>
              <a:t>6</a:t>
            </a:fld>
            <a:endParaRPr lang="en-US"/>
          </a:p>
        </p:txBody>
      </p:sp>
    </p:spTree>
    <p:extLst>
      <p:ext uri="{BB962C8B-B14F-4D97-AF65-F5344CB8AC3E}">
        <p14:creationId xmlns:p14="http://schemas.microsoft.com/office/powerpoint/2010/main" val="6953876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422030" y="1371600"/>
            <a:ext cx="82296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en-US"/>
              <a:t>Click to edit Master title style</a:t>
            </a:r>
          </a:p>
        </p:txBody>
      </p:sp>
      <p:sp>
        <p:nvSpPr>
          <p:cNvPr id="28" name="Date Placeholder 27"/>
          <p:cNvSpPr>
            <a:spLocks noGrp="1"/>
          </p:cNvSpPr>
          <p:nvPr>
            <p:ph type="dt" sz="half" idx="10"/>
          </p:nvPr>
        </p:nvSpPr>
        <p:spPr/>
        <p:txBody>
          <a:bodyPr/>
          <a:lstStyle/>
          <a:p>
            <a:fld id="{D9FFEB4B-E0D7-493A-A1B5-97D3B6A253D3}" type="datetimeFigureOut">
              <a:rPr lang="en-US" smtClean="0"/>
              <a:pPr/>
              <a:t>4/10/2021</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a:lstStyle/>
          <a:p>
            <a:fld id="{1A1D1885-EEB6-477F-B07A-091C6B133E5A}" type="slidenum">
              <a:rPr lang="en-US" smtClean="0"/>
              <a:pPr/>
              <a:t>‹#›</a:t>
            </a:fld>
            <a:endParaRPr lang="en-US"/>
          </a:p>
        </p:txBody>
      </p:sp>
      <p:sp>
        <p:nvSpPr>
          <p:cNvPr id="9" name="Subtitle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9FFEB4B-E0D7-493A-A1B5-97D3B6A253D3}" type="datetimeFigureOut">
              <a:rPr lang="en-US" smtClean="0"/>
              <a:pPr/>
              <a:t>4/10/2021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1D1885-EEB6-477F-B07A-091C6B133E5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00200" y="609600"/>
            <a:ext cx="70866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1600200" y="2507786"/>
            <a:ext cx="70866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D9FFEB4B-E0D7-493A-A1B5-97D3B6A253D3}" type="datetimeFigureOut">
              <a:rPr lang="en-US" smtClean="0"/>
              <a:pPr/>
              <a:t>4/10/2021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924800" y="6416675"/>
            <a:ext cx="762000" cy="365125"/>
          </a:xfrm>
        </p:spPr>
        <p:txBody>
          <a:bodyPr/>
          <a:lstStyle/>
          <a:p>
            <a:fld id="{1A1D1885-EEB6-477F-B07A-091C6B133E5A}"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D9FFEB4B-E0D7-493A-A1B5-97D3B6A253D3}" type="datetimeFigureOut">
              <a:rPr lang="en-US" smtClean="0"/>
              <a:pPr/>
              <a:t>4/10/2021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1D1885-EEB6-477F-B07A-091C6B133E5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D9FFEB4B-E0D7-493A-A1B5-97D3B6A253D3}" type="datetimeFigureOut">
              <a:rPr lang="en-US" smtClean="0"/>
              <a:pPr/>
              <a:t>4/10/2021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A1D1885-EEB6-477F-B07A-091C6B133E5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D9FFEB4B-E0D7-493A-A1B5-97D3B6A253D3}" type="datetimeFigureOut">
              <a:rPr lang="en-US" smtClean="0"/>
              <a:pPr/>
              <a:t>4/10/2021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1D1885-EEB6-477F-B07A-091C6B133E5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FFEB4B-E0D7-493A-A1B5-97D3B6A253D3}" type="datetimeFigureOut">
              <a:rPr lang="en-US" smtClean="0"/>
              <a:pPr/>
              <a:t>4/10/2021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A1D1885-EEB6-477F-B07A-091C6B133E5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en-US"/>
              <a:t>Click to edit Master title style</a:t>
            </a:r>
          </a:p>
        </p:txBody>
      </p:sp>
      <p:sp>
        <p:nvSpPr>
          <p:cNvPr id="3" name="Text Placeholder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D9FFEB4B-E0D7-493A-A1B5-97D3B6A253D3}" type="datetimeFigureOut">
              <a:rPr lang="en-US" smtClean="0"/>
              <a:pPr/>
              <a:t>4/10/2021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1D1885-EEB6-477F-B07A-091C6B133E5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kumimoji="0" lang="en-US"/>
              <a:t>Click to edit Master title style</a:t>
            </a:r>
          </a:p>
        </p:txBody>
      </p:sp>
      <p:sp>
        <p:nvSpPr>
          <p:cNvPr id="3" name="Picture Placeholder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en-US">
                <a:solidFill>
                  <a:schemeClr val="lt1"/>
                </a:solidFill>
                <a:latin typeface="+mn-lt"/>
                <a:ea typeface="+mn-ea"/>
                <a:cs typeface="+mn-cs"/>
              </a:rPr>
              <a:t>Click icon to add picture</a:t>
            </a:r>
            <a:endParaRPr kumimoji="0" lang="en-US" dirty="0">
              <a:solidFill>
                <a:schemeClr val="lt1"/>
              </a:solidFill>
              <a:latin typeface="+mn-lt"/>
              <a:ea typeface="+mn-ea"/>
              <a:cs typeface="+mn-cs"/>
            </a:endParaRPr>
          </a:p>
        </p:txBody>
      </p:sp>
      <p:sp>
        <p:nvSpPr>
          <p:cNvPr id="4" name="Text Placeholder 3"/>
          <p:cNvSpPr>
            <a:spLocks noGrp="1"/>
          </p:cNvSpPr>
          <p:nvPr>
            <p:ph type="body" sz="half" idx="2"/>
          </p:nvPr>
        </p:nvSpPr>
        <p:spPr>
          <a:xfrm>
            <a:off x="1828800" y="1166787"/>
            <a:ext cx="54864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D9FFEB4B-E0D7-493A-A1B5-97D3B6A253D3}" type="datetimeFigureOut">
              <a:rPr lang="en-US" smtClean="0"/>
              <a:pPr/>
              <a:t>4/10/2021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1D1885-EEB6-477F-B07A-091C6B133E5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9FFEB4B-E0D7-493A-A1B5-97D3B6A253D3}" type="datetimeFigureOut">
              <a:rPr lang="en-US" smtClean="0"/>
              <a:pPr/>
              <a:t>4/10/2021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1D1885-EEB6-477F-B07A-091C6B133E5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9FFEB4B-E0D7-493A-A1B5-97D3B6A253D3}" type="datetimeFigureOut">
              <a:rPr lang="en-US" smtClean="0"/>
              <a:pPr/>
              <a:t>4/10/2021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1D1885-EEB6-477F-B07A-091C6B133E5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en-US"/>
              <a:t>Click to edit Master title style</a:t>
            </a:r>
          </a:p>
        </p:txBody>
      </p:sp>
      <p:sp>
        <p:nvSpPr>
          <p:cNvPr id="13" name="Text Placeholder 12"/>
          <p:cNvSpPr>
            <a:spLocks noGrp="1"/>
          </p:cNvSpPr>
          <p:nvPr>
            <p:ph type="body" idx="1"/>
          </p:nvPr>
        </p:nvSpPr>
        <p:spPr>
          <a:xfrm>
            <a:off x="457200" y="1600200"/>
            <a:ext cx="8229600" cy="470916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457200" y="6416675"/>
            <a:ext cx="2133600" cy="365125"/>
          </a:xfrm>
          <a:prstGeom prst="rect">
            <a:avLst/>
          </a:prstGeom>
        </p:spPr>
        <p:txBody>
          <a:bodyPr vert="horz" anchor="b"/>
          <a:lstStyle>
            <a:lvl1pPr algn="l" eaLnBrk="1" latinLnBrk="0" hangingPunct="1">
              <a:defRPr kumimoji="0" sz="1200">
                <a:solidFill>
                  <a:schemeClr val="tx1">
                    <a:shade val="50000"/>
                  </a:schemeClr>
                </a:solidFill>
              </a:defRPr>
            </a:lvl1pPr>
          </a:lstStyle>
          <a:p>
            <a:fld id="{D9FFEB4B-E0D7-493A-A1B5-97D3B6A253D3}" type="datetimeFigureOut">
              <a:rPr lang="en-US" smtClean="0"/>
              <a:pPr/>
              <a:t>4/10/2021</a:t>
            </a:fld>
            <a:endParaRPr lang="en-US"/>
          </a:p>
        </p:txBody>
      </p:sp>
      <p:sp>
        <p:nvSpPr>
          <p:cNvPr id="3" name="Footer Placeholder 2"/>
          <p:cNvSpPr>
            <a:spLocks noGrp="1"/>
          </p:cNvSpPr>
          <p:nvPr>
            <p:ph type="ftr" sz="quarter" idx="3"/>
          </p:nvPr>
        </p:nvSpPr>
        <p:spPr>
          <a:xfrm>
            <a:off x="3124200" y="6416675"/>
            <a:ext cx="28956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en-US"/>
          </a:p>
        </p:txBody>
      </p:sp>
      <p:sp>
        <p:nvSpPr>
          <p:cNvPr id="23" name="Slide Number Placeholder 22"/>
          <p:cNvSpPr>
            <a:spLocks noGrp="1"/>
          </p:cNvSpPr>
          <p:nvPr>
            <p:ph type="sldNum" sz="quarter" idx="4"/>
          </p:nvPr>
        </p:nvSpPr>
        <p:spPr>
          <a:xfrm>
            <a:off x="7924800" y="6416675"/>
            <a:ext cx="762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1A1D1885-EEB6-477F-B07A-091C6B133E5A}"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Fast</a:t>
            </a:r>
            <a:br>
              <a:rPr lang="en-US" dirty="0"/>
            </a:br>
            <a:br>
              <a:rPr lang="en-US" dirty="0"/>
            </a:br>
            <a:br>
              <a:rPr lang="en-US" dirty="0"/>
            </a:b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Meaning and concept</a:t>
            </a:r>
          </a:p>
        </p:txBody>
      </p:sp>
      <p:sp>
        <p:nvSpPr>
          <p:cNvPr id="3" name="Content Placeholder 2"/>
          <p:cNvSpPr>
            <a:spLocks noGrp="1"/>
          </p:cNvSpPr>
          <p:nvPr>
            <p:ph idx="1"/>
          </p:nvPr>
        </p:nvSpPr>
        <p:spPr/>
        <p:txBody>
          <a:bodyPr/>
          <a:lstStyle/>
          <a:p>
            <a:r>
              <a:rPr lang="en-US" dirty="0"/>
              <a:t>It is the 4</a:t>
            </a:r>
            <a:r>
              <a:rPr lang="en-US" baseline="30000" dirty="0"/>
              <a:t>th</a:t>
            </a:r>
            <a:r>
              <a:rPr lang="en-US" dirty="0"/>
              <a:t> filler of Islam, the word </a:t>
            </a:r>
            <a:r>
              <a:rPr lang="en-US" dirty="0" err="1"/>
              <a:t>saum</a:t>
            </a:r>
            <a:r>
              <a:rPr lang="en-US" dirty="0"/>
              <a:t>/ </a:t>
            </a:r>
            <a:r>
              <a:rPr lang="en-US" dirty="0" err="1"/>
              <a:t>siyam</a:t>
            </a:r>
            <a:r>
              <a:rPr lang="en-US" dirty="0"/>
              <a:t> means to stop or to halt.</a:t>
            </a:r>
          </a:p>
          <a:p>
            <a:r>
              <a:rPr lang="en-US" dirty="0"/>
              <a:t>In Islamic Terminology: to stop oneself from eating, drinking and conjugal relations from dawn to dusk.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Importance in the light of Holy  Quran</a:t>
            </a:r>
          </a:p>
        </p:txBody>
      </p:sp>
      <p:sp>
        <p:nvSpPr>
          <p:cNvPr id="3" name="Content Placeholder 2"/>
          <p:cNvSpPr>
            <a:spLocks noGrp="1"/>
          </p:cNvSpPr>
          <p:nvPr>
            <p:ph idx="1"/>
          </p:nvPr>
        </p:nvSpPr>
        <p:spPr/>
        <p:txBody>
          <a:bodyPr>
            <a:normAutofit/>
          </a:bodyPr>
          <a:lstStyle/>
          <a:p>
            <a:r>
              <a:rPr lang="fa-IR" dirty="0"/>
              <a:t>يٰٓاَيُّهَا الَّذِيْنَ اٰمَنُوْا كُتِبَ عَلَيْكُمُ الصِّيَامُ كَمَا كُتِبَ عَلَي الَّذِيْنَ مِنْ قَبْلِكُمْ لَعَلَّكُمْ تَتَّقُوْنَ </a:t>
            </a:r>
            <a:endParaRPr lang="en-US" dirty="0"/>
          </a:p>
          <a:p>
            <a:r>
              <a:rPr lang="en-US" dirty="0"/>
              <a:t>It is obligatory on you as was on the previous people, so that you may gain piety.</a:t>
            </a:r>
          </a:p>
          <a:p>
            <a:r>
              <a:rPr lang="ar-AE" dirty="0"/>
              <a:t>فَمَن شَهِدَ مِنكُمُ الشَّهْرَ فَلْيَصُمْهُ </a:t>
            </a:r>
            <a:endParaRPr lang="en-US" dirty="0"/>
          </a:p>
          <a:p>
            <a:r>
              <a:rPr lang="en-US" dirty="0"/>
              <a:t>Whoever finds this month, he should fast</a:t>
            </a:r>
          </a:p>
          <a:p>
            <a:endParaRPr lang="en-US" dirty="0"/>
          </a:p>
          <a:p>
            <a:endParaRPr lang="en-US" dirty="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Importance in the light of Hadith</a:t>
            </a:r>
          </a:p>
        </p:txBody>
      </p:sp>
      <p:sp>
        <p:nvSpPr>
          <p:cNvPr id="3" name="Content Placeholder 2"/>
          <p:cNvSpPr>
            <a:spLocks noGrp="1"/>
          </p:cNvSpPr>
          <p:nvPr>
            <p:ph idx="1"/>
          </p:nvPr>
        </p:nvSpPr>
        <p:spPr>
          <a:xfrm>
            <a:off x="457200" y="1600200"/>
            <a:ext cx="8229600" cy="5105400"/>
          </a:xfrm>
        </p:spPr>
        <p:txBody>
          <a:bodyPr>
            <a:normAutofit fontScale="70000" lnSpcReduction="20000"/>
          </a:bodyPr>
          <a:lstStyle/>
          <a:p>
            <a:r>
              <a:rPr lang="en-US" dirty="0"/>
              <a:t>Each and everything has a zakat and the zakat of body is fast. ( </a:t>
            </a:r>
            <a:r>
              <a:rPr lang="en-US" dirty="0" err="1"/>
              <a:t>ibne</a:t>
            </a:r>
            <a:r>
              <a:rPr lang="en-US" dirty="0"/>
              <a:t> </a:t>
            </a:r>
            <a:r>
              <a:rPr lang="en-US" dirty="0" err="1"/>
              <a:t>Maja</a:t>
            </a:r>
            <a:r>
              <a:rPr lang="en-US" dirty="0"/>
              <a:t>)</a:t>
            </a:r>
          </a:p>
          <a:p>
            <a:r>
              <a:rPr lang="ar-AE" dirty="0"/>
              <a:t>الصِّيَامُ جُنَّةٌ</a:t>
            </a:r>
            <a:endParaRPr lang="en-US" dirty="0"/>
          </a:p>
          <a:p>
            <a:r>
              <a:rPr lang="en-US" dirty="0"/>
              <a:t> Fast is a shield.</a:t>
            </a:r>
          </a:p>
          <a:p>
            <a:r>
              <a:rPr lang="en-US" dirty="0"/>
              <a:t>Each act would be earn from ten to 700 virtue, except fast, it is for Me and I would award for it.</a:t>
            </a:r>
          </a:p>
          <a:p>
            <a:r>
              <a:rPr lang="ar-AE" dirty="0"/>
              <a:t>الصِّيَامُ لِي، وَأَنَا أَجْزِي بِهِ</a:t>
            </a:r>
            <a:r>
              <a:rPr lang="en-US" dirty="0"/>
              <a:t>  </a:t>
            </a:r>
          </a:p>
          <a:p>
            <a:r>
              <a:rPr lang="en-US" dirty="0"/>
              <a:t>There is a gate in Paradise called </a:t>
            </a:r>
            <a:r>
              <a:rPr lang="en-US" dirty="0" err="1"/>
              <a:t>Ar-Raiyan</a:t>
            </a:r>
            <a:r>
              <a:rPr lang="en-US" dirty="0"/>
              <a:t>, and those who observe fasts will enter through it  </a:t>
            </a:r>
          </a:p>
          <a:p>
            <a:r>
              <a:rPr lang="ar-AE" dirty="0"/>
              <a:t>إِنَّ فِي الْجَنَّةِ بَابًا يُقَالُ لَهُ الرَّيَّانُ، يَدْخُلُ مِنْهُ الصَّائِمُونَ</a:t>
            </a:r>
            <a:r>
              <a:rPr lang="en-US" dirty="0"/>
              <a:t>   </a:t>
            </a:r>
          </a:p>
          <a:p>
            <a:r>
              <a:rPr lang="en-US" dirty="0"/>
              <a:t>  "When the month of Ramadan starts, the gates of the heaven are opened and the gates of Hell are closed and the devils are chained."        </a:t>
            </a:r>
          </a:p>
          <a:p>
            <a:r>
              <a:rPr lang="ar-AE" dirty="0"/>
              <a:t>إِذَا دَخَلَ شَهْرُ رَمَضَانَ فُتِّحَتْ أَبْوَابُ السَّمَاءِ، وَغُلِّقَتْ أَبْوَابُ جَهَنَّمَ، وَسُلْسِلَتِ الشَّيَاطِينُ</a:t>
            </a:r>
            <a:endParaRPr lang="en-US" dirty="0"/>
          </a:p>
          <a:p>
            <a:endParaRPr lang="en-US" dirty="0"/>
          </a:p>
          <a:p>
            <a:r>
              <a:rPr lang="en-US" dirty="0"/>
              <a:t>Month o </a:t>
            </a:r>
            <a:r>
              <a:rPr lang="en-US" dirty="0" err="1"/>
              <a:t>Ramdhan</a:t>
            </a:r>
            <a:r>
              <a:rPr lang="en-US" dirty="0"/>
              <a:t> is the month of repentance, month of forgiveness and month of reward.</a:t>
            </a:r>
          </a:p>
          <a:p>
            <a:endParaRPr lang="en-US" dirty="0"/>
          </a:p>
        </p:txBody>
      </p:sp>
    </p:spTree>
    <p:extLst>
      <p:ext uri="{BB962C8B-B14F-4D97-AF65-F5344CB8AC3E}">
        <p14:creationId xmlns:p14="http://schemas.microsoft.com/office/powerpoint/2010/main" val="3163238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pPr marL="137160" indent="0" algn="r">
              <a:buNone/>
            </a:pPr>
            <a:r>
              <a:rPr lang="ar-AE" dirty="0"/>
              <a:t>مَنِ اسْتَطَاعَ الْبَاءَةَ فَلْيَتَزَوَّجْ، فَإِنَّهُ أَغَضُّ لِلْبَصَرِ وَأَحْصَنُ لِلْفَرْجِ، وَمَنْ لَمْ يَسْتَطِعْ فَعَلَيْهِ بِالصَّوْمِ، فَإِنَّهُ لَهُ وِجَاءٌ ‏‏</a:t>
            </a:r>
            <a:endParaRPr lang="en-US" dirty="0"/>
          </a:p>
          <a:p>
            <a:r>
              <a:rPr lang="en-US" dirty="0"/>
              <a:t>He who can afford to marry should marry, because it will help him lower his gaze, and save his private parts from committing illegal act ; </a:t>
            </a:r>
            <a:r>
              <a:rPr lang="en-US" dirty="0">
                <a:solidFill>
                  <a:srgbClr val="FF0000"/>
                </a:solidFill>
              </a:rPr>
              <a:t>and he who cannot afford to marry is advised to fast, </a:t>
            </a:r>
            <a:r>
              <a:rPr lang="en-US" dirty="0">
                <a:solidFill>
                  <a:srgbClr val="00B050"/>
                </a:solidFill>
              </a:rPr>
              <a:t>as fasting is a shield for him</a:t>
            </a:r>
            <a:r>
              <a:rPr lang="en-US" dirty="0"/>
              <a:t>.</a:t>
            </a:r>
          </a:p>
        </p:txBody>
      </p:sp>
    </p:spTree>
    <p:extLst>
      <p:ext uri="{BB962C8B-B14F-4D97-AF65-F5344CB8AC3E}">
        <p14:creationId xmlns:p14="http://schemas.microsoft.com/office/powerpoint/2010/main" val="167271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real demand from fast keepers</a:t>
            </a:r>
          </a:p>
        </p:txBody>
      </p:sp>
      <p:sp>
        <p:nvSpPr>
          <p:cNvPr id="3" name="Content Placeholder 2"/>
          <p:cNvSpPr>
            <a:spLocks noGrp="1"/>
          </p:cNvSpPr>
          <p:nvPr>
            <p:ph idx="1"/>
          </p:nvPr>
        </p:nvSpPr>
        <p:spPr/>
        <p:txBody>
          <a:bodyPr>
            <a:normAutofit lnSpcReduction="10000"/>
          </a:bodyPr>
          <a:lstStyle/>
          <a:p>
            <a:r>
              <a:rPr lang="ar-AE" dirty="0"/>
              <a:t>تَسَحَّرُوا فَإِنَّ فِي السَّحُورِ بَرَكَةً ‏ </a:t>
            </a:r>
            <a:r>
              <a:rPr lang="en-US" dirty="0"/>
              <a:t>"</a:t>
            </a:r>
            <a:endParaRPr lang="ur-PK" dirty="0"/>
          </a:p>
          <a:p>
            <a:r>
              <a:rPr lang="en-US" dirty="0"/>
              <a:t>Take </a:t>
            </a:r>
            <a:r>
              <a:rPr lang="en-US" dirty="0" err="1"/>
              <a:t>Suhur</a:t>
            </a:r>
            <a:r>
              <a:rPr lang="en-US" dirty="0"/>
              <a:t> as there is a blessing in it.“</a:t>
            </a:r>
          </a:p>
          <a:p>
            <a:r>
              <a:rPr lang="ar-AE" dirty="0"/>
              <a:t>‏ لاَ يَزَالُ النَّاسُ بِخَيْرٍ مَا عَجَّلُوا الْفِطْرَ ‏"‏‏.‏</a:t>
            </a:r>
            <a:endParaRPr lang="en-US" dirty="0"/>
          </a:p>
          <a:p>
            <a:r>
              <a:rPr lang="en-US" dirty="0"/>
              <a:t>"The people will remain on the right path as long as they hasten the breaking of the fast.“</a:t>
            </a:r>
          </a:p>
          <a:p>
            <a:r>
              <a:rPr lang="ar-AE" dirty="0"/>
              <a:t>لاَ يَزَالُ الدَين </a:t>
            </a:r>
            <a:r>
              <a:rPr lang="ur-PK" dirty="0"/>
              <a:t>ظا</a:t>
            </a:r>
            <a:r>
              <a:rPr lang="ar-AE" dirty="0"/>
              <a:t>ِ</a:t>
            </a:r>
            <a:r>
              <a:rPr lang="ur-PK" dirty="0"/>
              <a:t>ہ</a:t>
            </a:r>
            <a:r>
              <a:rPr lang="ar-AE" dirty="0"/>
              <a:t>رٍ</a:t>
            </a:r>
            <a:r>
              <a:rPr lang="ur-PK" dirty="0"/>
              <a:t>ا</a:t>
            </a:r>
            <a:r>
              <a:rPr lang="ar-AE" dirty="0"/>
              <a:t> مَا عَجَّلُوا النَّاس</a:t>
            </a:r>
            <a:r>
              <a:rPr lang="ur-PK" dirty="0"/>
              <a:t> </a:t>
            </a:r>
            <a:r>
              <a:rPr lang="ar-AE" dirty="0"/>
              <a:t>الْفِطْرَ</a:t>
            </a:r>
            <a:endParaRPr lang="en-US" dirty="0"/>
          </a:p>
          <a:p>
            <a:r>
              <a:rPr lang="en-US" dirty="0"/>
              <a:t>Din would remain dominant as long as they hasten the breaking of the fast</a:t>
            </a:r>
            <a:endParaRPr lang="ur-PK" dirty="0"/>
          </a:p>
          <a:p>
            <a:r>
              <a:rPr lang="en-US" dirty="0"/>
              <a:t>My beloved slaves are those who </a:t>
            </a:r>
            <a:r>
              <a:rPr lang="en-US" dirty="0" err="1"/>
              <a:t>haseten</a:t>
            </a:r>
            <a:r>
              <a:rPr lang="en-US" dirty="0"/>
              <a:t> in </a:t>
            </a:r>
            <a:r>
              <a:rPr lang="ar-AE" dirty="0"/>
              <a:t>‏</a:t>
            </a:r>
            <a:r>
              <a:rPr lang="en-US" dirty="0"/>
              <a:t> breaking of the fast</a:t>
            </a:r>
          </a:p>
        </p:txBody>
      </p:sp>
    </p:spTree>
    <p:extLst>
      <p:ext uri="{BB962C8B-B14F-4D97-AF65-F5344CB8AC3E}">
        <p14:creationId xmlns:p14="http://schemas.microsoft.com/office/powerpoint/2010/main" val="21529476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Fast in other nations</a:t>
            </a:r>
          </a:p>
        </p:txBody>
      </p:sp>
      <p:sp>
        <p:nvSpPr>
          <p:cNvPr id="3" name="Content Placeholder 2"/>
          <p:cNvSpPr>
            <a:spLocks noGrp="1"/>
          </p:cNvSpPr>
          <p:nvPr>
            <p:ph idx="1"/>
          </p:nvPr>
        </p:nvSpPr>
        <p:spPr>
          <a:xfrm>
            <a:off x="457200" y="1828800"/>
            <a:ext cx="8229600" cy="4800600"/>
          </a:xfrm>
        </p:spPr>
        <p:txBody>
          <a:bodyPr>
            <a:normAutofit fontScale="92500" lnSpcReduction="10000"/>
          </a:bodyPr>
          <a:lstStyle/>
          <a:p>
            <a:r>
              <a:rPr lang="en-US" dirty="0">
                <a:solidFill>
                  <a:srgbClr val="FF0000"/>
                </a:solidFill>
              </a:rPr>
              <a:t>Greeks , Egyptians and Romans </a:t>
            </a:r>
            <a:r>
              <a:rPr lang="en-US" dirty="0"/>
              <a:t>use to fast in order to get rid of different dieses.</a:t>
            </a:r>
          </a:p>
          <a:p>
            <a:r>
              <a:rPr lang="en-US" dirty="0">
                <a:solidFill>
                  <a:srgbClr val="7030A0"/>
                </a:solidFill>
              </a:rPr>
              <a:t>Egyptians</a:t>
            </a:r>
            <a:r>
              <a:rPr lang="en-US" dirty="0"/>
              <a:t> believed that fasting thrice in a month is necessary in order keep oneself physically and mentally fit.</a:t>
            </a:r>
          </a:p>
          <a:p>
            <a:r>
              <a:rPr lang="en-US" dirty="0"/>
              <a:t>Barbaric tribes of </a:t>
            </a:r>
            <a:r>
              <a:rPr lang="en-US" dirty="0">
                <a:solidFill>
                  <a:srgbClr val="C00000"/>
                </a:solidFill>
              </a:rPr>
              <a:t>Red Indians of North America </a:t>
            </a:r>
            <a:r>
              <a:rPr lang="en-US" dirty="0"/>
              <a:t>used to give weightage to fasting</a:t>
            </a:r>
          </a:p>
          <a:p>
            <a:r>
              <a:rPr lang="en-US" dirty="0"/>
              <a:t> Ancient  </a:t>
            </a:r>
            <a:r>
              <a:rPr lang="en-US" dirty="0">
                <a:solidFill>
                  <a:srgbClr val="00B050"/>
                </a:solidFill>
              </a:rPr>
              <a:t>Athenian</a:t>
            </a:r>
            <a:r>
              <a:rPr lang="en-US" dirty="0"/>
              <a:t>  philosopher, </a:t>
            </a:r>
            <a:r>
              <a:rPr lang="en-US" dirty="0">
                <a:solidFill>
                  <a:srgbClr val="002060"/>
                </a:solidFill>
              </a:rPr>
              <a:t>Socrates</a:t>
            </a:r>
            <a:r>
              <a:rPr lang="en-US" dirty="0"/>
              <a:t> and </a:t>
            </a:r>
            <a:r>
              <a:rPr lang="en-US" dirty="0">
                <a:solidFill>
                  <a:srgbClr val="C00000"/>
                </a:solidFill>
              </a:rPr>
              <a:t>Plato</a:t>
            </a:r>
            <a:r>
              <a:rPr lang="en-US" dirty="0"/>
              <a:t> used to fast for the sake of learning (knowledge)</a:t>
            </a:r>
          </a:p>
          <a:p>
            <a:endParaRPr lang="en-US" dirty="0"/>
          </a:p>
          <a:p>
            <a:pPr marL="137160" indent="0">
              <a:buNone/>
            </a:pPr>
            <a:r>
              <a:rPr lang="en-US" dirty="0"/>
              <a:t> </a:t>
            </a:r>
          </a:p>
        </p:txBody>
      </p:sp>
    </p:spTree>
    <p:extLst>
      <p:ext uri="{BB962C8B-B14F-4D97-AF65-F5344CB8AC3E}">
        <p14:creationId xmlns:p14="http://schemas.microsoft.com/office/powerpoint/2010/main" val="32793089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fast is not</a:t>
            </a:r>
          </a:p>
        </p:txBody>
      </p:sp>
      <p:sp>
        <p:nvSpPr>
          <p:cNvPr id="3" name="Content Placeholder 2"/>
          <p:cNvSpPr>
            <a:spLocks noGrp="1"/>
          </p:cNvSpPr>
          <p:nvPr>
            <p:ph idx="1"/>
          </p:nvPr>
        </p:nvSpPr>
        <p:spPr/>
        <p:txBody>
          <a:bodyPr>
            <a:normAutofit fontScale="77500" lnSpcReduction="20000"/>
          </a:bodyPr>
          <a:lstStyle/>
          <a:p>
            <a:r>
              <a:rPr lang="en-US" dirty="0"/>
              <a:t>It is not virtue to fast during travelling.</a:t>
            </a:r>
          </a:p>
          <a:p>
            <a:r>
              <a:rPr lang="ar-AE" dirty="0"/>
              <a:t>انَ رَسُولُ اللَّهِ صلى الله عليه وسلم فِي سَفَرٍ، فَرَأَى زِحَامًا، وَرَجُلاً قَدْ ظُلِّلَ عَلَيْهِ، مَا هَذَا فَقَالُوا صَائِمٌ‏.‏ فَقَالَ ‏"‏ لَيْسَ مِنَ الْبِرِّ الصَّوْمُ فِي السَّفَرِ ‏“</a:t>
            </a:r>
            <a:endParaRPr lang="en-US" dirty="0"/>
          </a:p>
          <a:p>
            <a:r>
              <a:rPr lang="en-US" dirty="0"/>
              <a:t>Allah's Messenger (</a:t>
            </a:r>
            <a:r>
              <a:rPr lang="ar-AE" dirty="0"/>
              <a:t>ﷺ) </a:t>
            </a:r>
            <a:r>
              <a:rPr lang="en-US" dirty="0"/>
              <a:t>was on a journey and saw a crowd of people, and a man was being shaded (by them). He asked, "What is the matter?" They said, "He (the man) is fasting." The Prophet (</a:t>
            </a:r>
            <a:r>
              <a:rPr lang="ar-AE" dirty="0"/>
              <a:t>ﷺ) </a:t>
            </a:r>
            <a:r>
              <a:rPr lang="en-US" dirty="0"/>
              <a:t>said, "It is not righteousness that you fast during a journey."</a:t>
            </a:r>
            <a:r>
              <a:rPr lang="ar-AE" dirty="0"/>
              <a:t>‏‏‏</a:t>
            </a:r>
            <a:endParaRPr lang="en-US" dirty="0"/>
          </a:p>
          <a:p>
            <a:r>
              <a:rPr lang="en-US" dirty="0"/>
              <a:t>Whoever did not give up lying and practicing falsehood, Allah is in no need of his giving up food and water.</a:t>
            </a:r>
          </a:p>
          <a:p>
            <a:pPr algn="r"/>
            <a:r>
              <a:rPr lang="ar-AE" dirty="0"/>
              <a:t>مَنْ لَمْ يَدَعْ قَوْلَ الزُّورِ وَالْعَمَلَ بِهِ فَلَيْسَ لِلَّهِ حَاجَةٌ فِي أَنْ يَدَعَ طَعَامَهُ وَشَرَابَهُ ‏“</a:t>
            </a:r>
            <a:endParaRPr lang="en-US" dirty="0"/>
          </a:p>
          <a:p>
            <a:r>
              <a:rPr lang="ar-AE" dirty="0"/>
              <a:t>لاَ صَامَ مَنْ صَامَ الأَبَدَ </a:t>
            </a:r>
            <a:endParaRPr lang="en-US" dirty="0"/>
          </a:p>
          <a:p>
            <a:r>
              <a:rPr lang="en-US" dirty="0"/>
              <a:t>Many are the faster whose fasting does not bring them anything except hunger and thirst.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Purposes of </a:t>
            </a:r>
            <a:r>
              <a:rPr lang="en-US" dirty="0" err="1"/>
              <a:t>Saum</a:t>
            </a:r>
            <a:endParaRPr lang="en-US" dirty="0"/>
          </a:p>
        </p:txBody>
      </p:sp>
      <p:sp>
        <p:nvSpPr>
          <p:cNvPr id="3" name="Content Placeholder 2"/>
          <p:cNvSpPr>
            <a:spLocks noGrp="1"/>
          </p:cNvSpPr>
          <p:nvPr>
            <p:ph idx="1"/>
          </p:nvPr>
        </p:nvSpPr>
        <p:spPr/>
        <p:txBody>
          <a:bodyPr>
            <a:normAutofit fontScale="92500" lnSpcReduction="20000"/>
          </a:bodyPr>
          <a:lstStyle/>
          <a:p>
            <a:r>
              <a:rPr lang="en-US" b="1" dirty="0">
                <a:solidFill>
                  <a:srgbClr val="FFFF00"/>
                </a:solidFill>
              </a:rPr>
              <a:t>Fast, source of becoming pious</a:t>
            </a:r>
            <a:endParaRPr lang="en-US" dirty="0">
              <a:solidFill>
                <a:srgbClr val="FFFF00"/>
              </a:solidFill>
            </a:endParaRPr>
          </a:p>
          <a:p>
            <a:r>
              <a:rPr lang="en-US" dirty="0"/>
              <a:t>This is why Allah said after ordaining fasting :</a:t>
            </a:r>
            <a:br>
              <a:rPr lang="en-US" dirty="0"/>
            </a:br>
            <a:r>
              <a:rPr lang="en-US" i="1" dirty="0"/>
              <a:t>"</a:t>
            </a:r>
            <a:r>
              <a:rPr lang="en-US" i="1" dirty="0" err="1"/>
              <a:t>La'allakum</a:t>
            </a:r>
            <a:r>
              <a:rPr lang="en-US" i="1" dirty="0"/>
              <a:t> </a:t>
            </a:r>
            <a:r>
              <a:rPr lang="en-US" i="1" dirty="0" err="1"/>
              <a:t>tattaqoon</a:t>
            </a:r>
            <a:r>
              <a:rPr lang="en-US" i="1" dirty="0"/>
              <a:t>"</a:t>
            </a:r>
            <a:br>
              <a:rPr lang="en-US" dirty="0"/>
            </a:br>
            <a:r>
              <a:rPr lang="en-US" dirty="0"/>
              <a:t>i.e. fasting is made obligatory on you, may be you become pious and virtuous. </a:t>
            </a:r>
          </a:p>
          <a:p>
            <a:r>
              <a:rPr lang="en-US" dirty="0"/>
              <a:t>It is not said that you will certainly become pious and virtuous because </a:t>
            </a:r>
            <a:r>
              <a:rPr lang="en-US" dirty="0">
                <a:solidFill>
                  <a:srgbClr val="002060"/>
                </a:solidFill>
              </a:rPr>
              <a:t>this outcome of fasting depends on the perception and intention of the man concerned</a:t>
            </a:r>
            <a:r>
              <a:rPr lang="en-US" dirty="0"/>
              <a:t>. Whoever will understand its purpose and would try through it to achieve its objective, will become pious to the desired extent, but one who will not comprehend its purpose and will not even try to get at it, cannot hope to gain any thing out of it.</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Abstention from lying</a:t>
            </a:r>
            <a:br>
              <a:rPr lang="en-US" dirty="0"/>
            </a:br>
            <a:endParaRPr lang="en-US" dirty="0"/>
          </a:p>
        </p:txBody>
      </p:sp>
      <p:sp>
        <p:nvSpPr>
          <p:cNvPr id="3" name="Content Placeholder 2"/>
          <p:cNvSpPr>
            <a:spLocks noGrp="1"/>
          </p:cNvSpPr>
          <p:nvPr>
            <p:ph idx="1"/>
          </p:nvPr>
        </p:nvSpPr>
        <p:spPr/>
        <p:txBody>
          <a:bodyPr>
            <a:normAutofit/>
          </a:bodyPr>
          <a:lstStyle/>
          <a:p>
            <a:r>
              <a:rPr lang="en-US" dirty="0"/>
              <a:t>Prophet Muhammad (peace be upon him) has drawn attention in various ways towards the real aim of fasting and has explained that to be hungry and thirsty without keeping in view the objective is in no way useful. He said :</a:t>
            </a:r>
          </a:p>
          <a:p>
            <a:r>
              <a:rPr lang="en-US" i="1" dirty="0"/>
              <a:t>" Whoever did not give up lying and practicing falsehood, Allah is in no need of his giving up food and water."</a:t>
            </a:r>
            <a:endParaRPr lang="en-US" dirty="0"/>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Faith and self-scrutiny</a:t>
            </a:r>
            <a:endParaRPr lang="en-US" dirty="0"/>
          </a:p>
        </p:txBody>
      </p:sp>
      <p:sp>
        <p:nvSpPr>
          <p:cNvPr id="3" name="Content Placeholder 2"/>
          <p:cNvSpPr>
            <a:spLocks noGrp="1"/>
          </p:cNvSpPr>
          <p:nvPr>
            <p:ph idx="1"/>
          </p:nvPr>
        </p:nvSpPr>
        <p:spPr/>
        <p:txBody>
          <a:bodyPr>
            <a:normAutofit/>
          </a:bodyPr>
          <a:lstStyle/>
          <a:p>
            <a:r>
              <a:rPr lang="en-US" dirty="0"/>
              <a:t>The Prophet has drawn attention to the real aim of fasting thus :</a:t>
            </a:r>
          </a:p>
          <a:p>
            <a:pPr algn="r"/>
            <a:r>
              <a:rPr lang="ar-AE" dirty="0"/>
              <a:t>مَنْ لَمْ يَدَعْ قَوْلَ الزُّورِ وَالْعَمَلَ بِهِ فَلَيْسَ لِلَّهِ حَاجَةٌ فِي أَنْ يَدَعَ طَعَامَهُ وَشَرَابَهُ ‏“</a:t>
            </a:r>
            <a:endParaRPr lang="en-US" dirty="0"/>
          </a:p>
          <a:p>
            <a:r>
              <a:rPr lang="en-US" i="1" dirty="0"/>
              <a:t>" Whoever observed fast imbued with faith and with the expectation of reward from Allah, all his past sins are forgiven".</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Shield for protection from sins</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dirty="0"/>
              <a:t>In another </a:t>
            </a:r>
            <a:r>
              <a:rPr lang="en-US" dirty="0" err="1"/>
              <a:t>Hadith</a:t>
            </a:r>
            <a:r>
              <a:rPr lang="en-US" dirty="0"/>
              <a:t> it is said :</a:t>
            </a:r>
          </a:p>
          <a:p>
            <a:pPr>
              <a:buFont typeface="Wingdings" panose="05000000000000000000" pitchFamily="2" charset="2"/>
              <a:buChar char="q"/>
            </a:pPr>
            <a:r>
              <a:rPr lang="en-US" dirty="0"/>
              <a:t>" Fasts are like a shield (just as a shield is meant for protection from the enemy's assault, so is fasting for protection from Satan's attack). Therefore, when a man observes fast he should (utilize this shield and) abstain from disorderly behavior. If anybody abused him or quarreled with him, the person who keeps fast should tell him: " Brother, I am fasting (do not expect from me that I shall take part in such activities of yours").</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Temptation of goodness</a:t>
            </a:r>
            <a:br>
              <a:rPr lang="en-US" dirty="0"/>
            </a:br>
            <a:endParaRPr lang="en-US" dirty="0"/>
          </a:p>
        </p:txBody>
      </p:sp>
      <p:sp>
        <p:nvSpPr>
          <p:cNvPr id="3" name="Content Placeholder 2"/>
          <p:cNvSpPr>
            <a:spLocks noGrp="1"/>
          </p:cNvSpPr>
          <p:nvPr>
            <p:ph idx="1"/>
          </p:nvPr>
        </p:nvSpPr>
        <p:spPr/>
        <p:txBody>
          <a:bodyPr>
            <a:normAutofit fontScale="85000" lnSpcReduction="20000"/>
          </a:bodyPr>
          <a:lstStyle/>
          <a:p>
            <a:r>
              <a:rPr lang="en-US" dirty="0"/>
              <a:t>The Prophet (peace be on him) has directed in other </a:t>
            </a:r>
            <a:r>
              <a:rPr lang="en-US" dirty="0" err="1"/>
              <a:t>Ahadith</a:t>
            </a:r>
            <a:r>
              <a:rPr lang="en-US" dirty="0"/>
              <a:t> that man while fasting ought to do more and more good works and should be eager to perform benevolent acts. Particularly during fasting, he must develop with full </a:t>
            </a:r>
            <a:r>
              <a:rPr lang="en-US" dirty="0">
                <a:solidFill>
                  <a:srgbClr val="00B0F0"/>
                </a:solidFill>
              </a:rPr>
              <a:t>intensity a sympathetic sentiment for his other brothers because being himself in the throes of hunger and thirst he can all the more realize what is befalling other slaves of God in their plight of destitution and misery</a:t>
            </a:r>
            <a:r>
              <a:rPr lang="en-US" dirty="0"/>
              <a:t>. </a:t>
            </a:r>
          </a:p>
          <a:p>
            <a:r>
              <a:rPr lang="en-US" dirty="0"/>
              <a:t>It is related by </a:t>
            </a:r>
            <a:r>
              <a:rPr lang="en-US" dirty="0" err="1"/>
              <a:t>Hadrat</a:t>
            </a:r>
            <a:r>
              <a:rPr lang="en-US" dirty="0"/>
              <a:t> Ibn 'Abbas (Allah be pleased with him) that the Prophet (peace be on him) used to become especially kind and benevolent during Ramadan. No beggar in that period went empty-handed from his door, and the slaves secured emancipation.(freedom)</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Reward for providing '</a:t>
            </a:r>
            <a:r>
              <a:rPr lang="en-US" b="1" dirty="0" err="1"/>
              <a:t>Iftar</a:t>
            </a:r>
            <a:r>
              <a:rPr lang="en-US" b="1" dirty="0"/>
              <a:t>'</a:t>
            </a:r>
            <a:br>
              <a:rPr lang="en-US" dirty="0"/>
            </a:br>
            <a:endParaRPr lang="en-US" dirty="0"/>
          </a:p>
        </p:txBody>
      </p:sp>
      <p:sp>
        <p:nvSpPr>
          <p:cNvPr id="3" name="Content Placeholder 2"/>
          <p:cNvSpPr>
            <a:spLocks noGrp="1"/>
          </p:cNvSpPr>
          <p:nvPr>
            <p:ph idx="1"/>
          </p:nvPr>
        </p:nvSpPr>
        <p:spPr/>
        <p:txBody>
          <a:bodyPr>
            <a:normAutofit/>
          </a:bodyPr>
          <a:lstStyle/>
          <a:p>
            <a:r>
              <a:rPr lang="en-US" dirty="0"/>
              <a:t>According to a </a:t>
            </a:r>
            <a:r>
              <a:rPr lang="en-US" dirty="0" err="1"/>
              <a:t>Hadith</a:t>
            </a:r>
            <a:r>
              <a:rPr lang="en-US" dirty="0"/>
              <a:t> the Prophet ( peace be on him ) said :</a:t>
            </a:r>
            <a:br>
              <a:rPr lang="en-US" dirty="0"/>
            </a:br>
            <a:r>
              <a:rPr lang="en-US" i="1" dirty="0"/>
              <a:t>"Whoever in Ramadan provide a person who is keeping fast with </a:t>
            </a:r>
            <a:r>
              <a:rPr lang="en-US" i="1" dirty="0" err="1"/>
              <a:t>Iftar</a:t>
            </a:r>
            <a:r>
              <a:rPr lang="en-US" i="1" dirty="0"/>
              <a:t>, this act will become a source of forgiveness for his sins and safety from Hell Fire and he will get as much reward as will the keeper of fast get without any reduction in the recompense of the latter."</a:t>
            </a:r>
            <a:endParaRPr lang="en-US" dirty="0"/>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It creates sympathy and brotherhood.</a:t>
            </a:r>
          </a:p>
          <a:p>
            <a:r>
              <a:rPr lang="en-US" dirty="0"/>
              <a:t>It creates equality</a:t>
            </a:r>
          </a:p>
          <a:p>
            <a:r>
              <a:rPr lang="en-US" dirty="0"/>
              <a:t>It prepares a believer for the Jihad</a:t>
            </a:r>
          </a:p>
          <a:p>
            <a:r>
              <a:rPr lang="en-US" dirty="0"/>
              <a:t>It creates the sense of united and </a:t>
            </a:r>
            <a:r>
              <a:rPr lang="en-US"/>
              <a:t>one nation</a:t>
            </a:r>
            <a:endParaRPr lang="en-US" dirty="0"/>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Health benefits of fasting</a:t>
            </a:r>
          </a:p>
        </p:txBody>
      </p:sp>
      <p:sp>
        <p:nvSpPr>
          <p:cNvPr id="3" name="Content Placeholder 2"/>
          <p:cNvSpPr>
            <a:spLocks noGrp="1"/>
          </p:cNvSpPr>
          <p:nvPr>
            <p:ph idx="1"/>
          </p:nvPr>
        </p:nvSpPr>
        <p:spPr/>
        <p:txBody>
          <a:bodyPr>
            <a:normAutofit fontScale="85000" lnSpcReduction="10000"/>
          </a:bodyPr>
          <a:lstStyle/>
          <a:p>
            <a:r>
              <a:rPr lang="en-US" dirty="0"/>
              <a:t>Pakistan biological science journal has published an article in 2007 saying that fasting may help </a:t>
            </a:r>
            <a:r>
              <a:rPr lang="en-US" dirty="0">
                <a:solidFill>
                  <a:srgbClr val="FF0000"/>
                </a:solidFill>
              </a:rPr>
              <a:t>obese people to lose weight</a:t>
            </a:r>
          </a:p>
          <a:p>
            <a:r>
              <a:rPr lang="en-US" dirty="0"/>
              <a:t>American cancer association and cancer causes control  journal have published that fasting may </a:t>
            </a:r>
            <a:r>
              <a:rPr lang="en-US" dirty="0">
                <a:solidFill>
                  <a:srgbClr val="C00000"/>
                </a:solidFill>
              </a:rPr>
              <a:t>reduce long term cancer risks </a:t>
            </a:r>
          </a:p>
          <a:p>
            <a:r>
              <a:rPr lang="en-US" dirty="0"/>
              <a:t>According Mayo clinic articles and Harvard science, fasting was found to have beneficial </a:t>
            </a:r>
            <a:r>
              <a:rPr lang="en-US" dirty="0">
                <a:solidFill>
                  <a:srgbClr val="FFC000"/>
                </a:solidFill>
              </a:rPr>
              <a:t>effects on heart health.</a:t>
            </a:r>
          </a:p>
          <a:p>
            <a:r>
              <a:rPr lang="en-US" dirty="0"/>
              <a:t>It is also thought that fasting causes our bodies to metabolize cholesterol and glucose in a better fashion( during fasting)</a:t>
            </a:r>
          </a:p>
          <a:p>
            <a:r>
              <a:rPr lang="en-US" dirty="0"/>
              <a:t>Fasting increase </a:t>
            </a:r>
            <a:r>
              <a:rPr lang="en-US" dirty="0">
                <a:solidFill>
                  <a:srgbClr val="002060"/>
                </a:solidFill>
              </a:rPr>
              <a:t>memory function and clarity of mind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Promotes detoxification</a:t>
            </a:r>
          </a:p>
        </p:txBody>
      </p:sp>
      <p:sp>
        <p:nvSpPr>
          <p:cNvPr id="3" name="Content Placeholder 2"/>
          <p:cNvSpPr>
            <a:spLocks noGrp="1"/>
          </p:cNvSpPr>
          <p:nvPr>
            <p:ph idx="1"/>
          </p:nvPr>
        </p:nvSpPr>
        <p:spPr/>
        <p:txBody>
          <a:bodyPr/>
          <a:lstStyle/>
          <a:p>
            <a:r>
              <a:rPr lang="en-US" dirty="0"/>
              <a:t>The act of fasting promotes detoxification, since fat is burned and toxins are released. As the body breaks down its fat reserves, it mobilizes and eliminates </a:t>
            </a:r>
            <a:r>
              <a:rPr lang="en-US"/>
              <a:t>stored toxins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Improves insulin sensitivity</a:t>
            </a:r>
          </a:p>
        </p:txBody>
      </p:sp>
      <p:sp>
        <p:nvSpPr>
          <p:cNvPr id="3" name="Content Placeholder 2"/>
          <p:cNvSpPr>
            <a:spLocks noGrp="1"/>
          </p:cNvSpPr>
          <p:nvPr>
            <p:ph idx="1"/>
          </p:nvPr>
        </p:nvSpPr>
        <p:spPr/>
        <p:txBody>
          <a:bodyPr/>
          <a:lstStyle/>
          <a:p>
            <a:r>
              <a:rPr lang="en-US" dirty="0"/>
              <a:t>It improves insulin sensitivity, when your cells are tickled by the effects of insulin, they do much better job modulating your blood sugar levels after meals and this makes life a lot easier for your pancreas.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Rests digestive system</a:t>
            </a:r>
          </a:p>
        </p:txBody>
      </p:sp>
      <p:sp>
        <p:nvSpPr>
          <p:cNvPr id="3" name="Content Placeholder 2"/>
          <p:cNvSpPr>
            <a:spLocks noGrp="1"/>
          </p:cNvSpPr>
          <p:nvPr>
            <p:ph idx="1"/>
          </p:nvPr>
        </p:nvSpPr>
        <p:spPr/>
        <p:txBody>
          <a:bodyPr/>
          <a:lstStyle/>
          <a:p>
            <a:r>
              <a:rPr lang="en-US" dirty="0"/>
              <a:t>During fasting, the digestive organs rest. Fasting gives the digestive system a much needed rest. After fasting , both digestion and elimination are invigorated.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Boosts immunity</a:t>
            </a:r>
          </a:p>
        </p:txBody>
      </p:sp>
      <p:sp>
        <p:nvSpPr>
          <p:cNvPr id="3" name="Content Placeholder 2"/>
          <p:cNvSpPr>
            <a:spLocks noGrp="1"/>
          </p:cNvSpPr>
          <p:nvPr>
            <p:ph idx="1"/>
          </p:nvPr>
        </p:nvSpPr>
        <p:spPr/>
        <p:txBody>
          <a:bodyPr/>
          <a:lstStyle/>
          <a:p>
            <a:r>
              <a:rPr lang="en-US" dirty="0"/>
              <a:t>It boosts immunity if one is careful not to break their fast with an abnormally excessive amount of food. Fruits contain vitamins A and E which boost immunity.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Corrects high blood pressure</a:t>
            </a:r>
          </a:p>
        </p:txBody>
      </p:sp>
      <p:sp>
        <p:nvSpPr>
          <p:cNvPr id="3" name="Content Placeholder 2"/>
          <p:cNvSpPr>
            <a:spLocks noGrp="1"/>
          </p:cNvSpPr>
          <p:nvPr>
            <p:ph idx="1"/>
          </p:nvPr>
        </p:nvSpPr>
        <p:spPr/>
        <p:txBody>
          <a:bodyPr/>
          <a:lstStyle/>
          <a:p>
            <a:r>
              <a:rPr lang="en-US" dirty="0"/>
              <a:t>It correct high blood pressure with out drugs. It normalizes blood pressure in the vast majority of the cases, the blood pressure will remain low after the fast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Helps to overcome addiction</a:t>
            </a:r>
          </a:p>
        </p:txBody>
      </p:sp>
      <p:sp>
        <p:nvSpPr>
          <p:cNvPr id="3" name="Content Placeholder 2"/>
          <p:cNvSpPr>
            <a:spLocks noGrp="1"/>
          </p:cNvSpPr>
          <p:nvPr>
            <p:ph idx="1"/>
          </p:nvPr>
        </p:nvSpPr>
        <p:spPr/>
        <p:txBody>
          <a:bodyPr/>
          <a:lstStyle/>
          <a:p>
            <a:r>
              <a:rPr lang="en-US" dirty="0"/>
              <a:t>It makes it easy to overcome bad habits and addictions. Many people have overcome tobacco and alcohol addiction by fasting. It dissipates the craving for nicotine, alcohol, caffeine and other drugs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Promotes weight loss</a:t>
            </a:r>
          </a:p>
        </p:txBody>
      </p:sp>
      <p:sp>
        <p:nvSpPr>
          <p:cNvPr id="3" name="Content Placeholder 2"/>
          <p:cNvSpPr>
            <a:spLocks noGrp="1"/>
          </p:cNvSpPr>
          <p:nvPr>
            <p:ph idx="1"/>
          </p:nvPr>
        </p:nvSpPr>
        <p:spPr/>
        <p:txBody>
          <a:bodyPr/>
          <a:lstStyle/>
          <a:p>
            <a:r>
              <a:rPr lang="en-US" dirty="0"/>
              <a:t>It initiates rapid weight loss with little or no hunger. It reduces the store fats in the body.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Resolves inflammatory diseases</a:t>
            </a:r>
          </a:p>
        </p:txBody>
      </p:sp>
      <p:sp>
        <p:nvSpPr>
          <p:cNvPr id="3" name="Content Placeholder 2"/>
          <p:cNvSpPr>
            <a:spLocks noGrp="1"/>
          </p:cNvSpPr>
          <p:nvPr>
            <p:ph idx="1"/>
          </p:nvPr>
        </p:nvSpPr>
        <p:spPr/>
        <p:txBody>
          <a:bodyPr/>
          <a:lstStyle/>
          <a:p>
            <a:r>
              <a:rPr lang="en-US" dirty="0"/>
              <a:t>Studies show that it triggers resolution of inflammatory diseases and allergies, </a:t>
            </a:r>
            <a:r>
              <a:rPr lang="en-US" dirty="0" err="1"/>
              <a:t>exemples</a:t>
            </a:r>
            <a:r>
              <a:rPr lang="en-US" dirty="0"/>
              <a:t> of such being arthritis and skin diseases. Some experts even suggest that fasting could magically heal the inflammatory bowel diseases .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Promotes healthy diet</a:t>
            </a:r>
          </a:p>
        </p:txBody>
      </p:sp>
      <p:sp>
        <p:nvSpPr>
          <p:cNvPr id="3" name="Content Placeholder 2"/>
          <p:cNvSpPr>
            <a:spLocks noGrp="1"/>
          </p:cNvSpPr>
          <p:nvPr>
            <p:ph idx="1"/>
          </p:nvPr>
        </p:nvSpPr>
        <p:spPr/>
        <p:txBody>
          <a:bodyPr/>
          <a:lstStyle/>
          <a:p>
            <a:r>
              <a:rPr lang="en-US" dirty="0"/>
              <a:t>It is perfect gateway to a healthful diet and lifestyle. Going on a fast gives you the motivation and enthusiasm to make a fresh start. It reduces craving for processed food. It promotes desire for natural foods, especially water and fruit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Clears skin &amp; whitens eyes </a:t>
            </a:r>
          </a:p>
        </p:txBody>
      </p:sp>
      <p:sp>
        <p:nvSpPr>
          <p:cNvPr id="3" name="Content Placeholder 2"/>
          <p:cNvSpPr>
            <a:spLocks noGrp="1"/>
          </p:cNvSpPr>
          <p:nvPr>
            <p:ph idx="1"/>
          </p:nvPr>
        </p:nvSpPr>
        <p:spPr/>
        <p:txBody>
          <a:bodyPr/>
          <a:lstStyle/>
          <a:p>
            <a:r>
              <a:rPr lang="en-US" dirty="0"/>
              <a:t>It is common to see skin eruptions clear while fasting, and the </a:t>
            </a:r>
            <a:r>
              <a:rPr lang="en-US"/>
              <a:t>whitenin </a:t>
            </a:r>
            <a:r>
              <a:rPr lang="en-US" dirty="0"/>
              <a:t>of eyes never look so clear and bright as they do after fasting</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ex">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Apex</Template>
  <TotalTime>279</TotalTime>
  <Words>1702</Words>
  <Application>Microsoft Office PowerPoint</Application>
  <PresentationFormat>On-screen Show (4:3)</PresentationFormat>
  <Paragraphs>97</Paragraphs>
  <Slides>26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Book Antiqua</vt:lpstr>
      <vt:lpstr>Calibri</vt:lpstr>
      <vt:lpstr>Lucida Sans</vt:lpstr>
      <vt:lpstr>Wingdings</vt:lpstr>
      <vt:lpstr>Wingdings 2</vt:lpstr>
      <vt:lpstr>Wingdings 3</vt:lpstr>
      <vt:lpstr>Apex</vt:lpstr>
      <vt:lpstr>Fast   </vt:lpstr>
      <vt:lpstr>Meaning and concept</vt:lpstr>
      <vt:lpstr>Importance in the light of Holy  Quran</vt:lpstr>
      <vt:lpstr>Importance in the light of Hadith</vt:lpstr>
      <vt:lpstr>PowerPoint Presentation</vt:lpstr>
      <vt:lpstr>The real demand from fast keepers</vt:lpstr>
      <vt:lpstr>Fast in other nations</vt:lpstr>
      <vt:lpstr>What fast is not</vt:lpstr>
      <vt:lpstr>Purposes of Saum</vt:lpstr>
      <vt:lpstr>Abstention from lying </vt:lpstr>
      <vt:lpstr>Faith and self-scrutiny</vt:lpstr>
      <vt:lpstr>Shield for protection from sins </vt:lpstr>
      <vt:lpstr>Temptation of goodness </vt:lpstr>
      <vt:lpstr>Reward for providing 'Iftar' </vt:lpstr>
      <vt:lpstr>PowerPoint Presentation</vt:lpstr>
      <vt:lpstr>Health benefits of fasting</vt:lpstr>
      <vt:lpstr>Promotes detoxification</vt:lpstr>
      <vt:lpstr>Improves insulin sensitivity</vt:lpstr>
      <vt:lpstr>Rests digestive system</vt:lpstr>
      <vt:lpstr>Boosts immunity</vt:lpstr>
      <vt:lpstr>Corrects high blood pressure</vt:lpstr>
      <vt:lpstr>Helps to overcome addiction</vt:lpstr>
      <vt:lpstr>Promotes weight loss</vt:lpstr>
      <vt:lpstr>Resolves inflammatory diseases</vt:lpstr>
      <vt:lpstr>Promotes healthy diet</vt:lpstr>
      <vt:lpstr>Clears skin &amp; whitens eyes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dc:title>
  <dc:creator>Peeral</dc:creator>
  <cp:lastModifiedBy>Peeral Sb</cp:lastModifiedBy>
  <cp:revision>39</cp:revision>
  <dcterms:created xsi:type="dcterms:W3CDTF">2016-08-27T04:08:17Z</dcterms:created>
  <dcterms:modified xsi:type="dcterms:W3CDTF">2021-04-10T05:47:07Z</dcterms:modified>
</cp:coreProperties>
</file>