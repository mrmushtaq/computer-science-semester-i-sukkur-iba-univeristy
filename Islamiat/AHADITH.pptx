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8" r:id="rId2"/>
    <p:sldId id="276" r:id="rId3"/>
    <p:sldId id="277" r:id="rId4"/>
    <p:sldId id="285" r:id="rId5"/>
    <p:sldId id="286" r:id="rId6"/>
    <p:sldId id="287" r:id="rId7"/>
    <p:sldId id="288" r:id="rId8"/>
    <p:sldId id="279" r:id="rId9"/>
    <p:sldId id="280" r:id="rId10"/>
    <p:sldId id="281" r:id="rId11"/>
    <p:sldId id="282" r:id="rId12"/>
    <p:sldId id="283" r:id="rId13"/>
    <p:sldId id="284" r:id="rId14"/>
    <p:sldId id="290" r:id="rId15"/>
    <p:sldId id="298" r:id="rId16"/>
    <p:sldId id="291" r:id="rId17"/>
    <p:sldId id="292" r:id="rId18"/>
    <p:sldId id="293" r:id="rId19"/>
    <p:sldId id="294" r:id="rId20"/>
    <p:sldId id="295" r:id="rId21"/>
    <p:sldId id="296" r:id="rId22"/>
    <p:sldId id="299" r:id="rId23"/>
    <p:sldId id="297" r:id="rId24"/>
    <p:sldId id="300" r:id="rId25"/>
    <p:sldId id="301" r:id="rId26"/>
    <p:sldId id="302" r:id="rId27"/>
    <p:sldId id="303" r:id="rId28"/>
    <p:sldId id="256" r:id="rId29"/>
    <p:sldId id="257" r:id="rId30"/>
    <p:sldId id="258" r:id="rId31"/>
    <p:sldId id="259" r:id="rId32"/>
    <p:sldId id="260" r:id="rId33"/>
    <p:sldId id="261" r:id="rId34"/>
    <p:sldId id="262" r:id="rId35"/>
    <p:sldId id="263" r:id="rId36"/>
    <p:sldId id="264" r:id="rId37"/>
    <p:sldId id="265" r:id="rId38"/>
    <p:sldId id="266" r:id="rId39"/>
    <p:sldId id="267" r:id="rId40"/>
    <p:sldId id="268" r:id="rId41"/>
    <p:sldId id="269" r:id="rId42"/>
    <p:sldId id="270" r:id="rId43"/>
    <p:sldId id="271" r:id="rId44"/>
    <p:sldId id="272" r:id="rId45"/>
    <p:sldId id="273" r:id="rId46"/>
    <p:sldId id="274" r:id="rId47"/>
    <p:sldId id="275"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91" autoAdjust="0"/>
    <p:restoredTop sz="94660"/>
  </p:normalViewPr>
  <p:slideViewPr>
    <p:cSldViewPr snapToGrid="0">
      <p:cViewPr varScale="1">
        <p:scale>
          <a:sx n="114" d="100"/>
          <a:sy n="114" d="100"/>
        </p:scale>
        <p:origin x="516"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pPr/>
              <a:t>11/7/2020</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11/7/2020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11/7/2020</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en.wikipedia.org/wiki/Hadith"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Hadith &amp; </a:t>
            </a:r>
            <a:r>
              <a:rPr lang="en-US" dirty="0" err="1"/>
              <a:t>sunnah</a:t>
            </a:r>
            <a:endParaRPr lang="en-US" dirty="0"/>
          </a:p>
        </p:txBody>
      </p:sp>
      <p:sp>
        <p:nvSpPr>
          <p:cNvPr id="3" name="Subtitle 2"/>
          <p:cNvSpPr>
            <a:spLocks noGrp="1"/>
          </p:cNvSpPr>
          <p:nvPr>
            <p:ph type="subTitle" idx="1"/>
          </p:nvPr>
        </p:nvSpPr>
        <p:spPr/>
        <p:txBody>
          <a:bodyPr/>
          <a:lstStyle/>
          <a:p>
            <a:r>
              <a:rPr lang="en-US" dirty="0"/>
              <a:t>2</a:t>
            </a:r>
            <a:r>
              <a:rPr lang="en-US" baseline="30000" dirty="0"/>
              <a:t>nd</a:t>
            </a:r>
            <a:r>
              <a:rPr lang="en-US" dirty="0"/>
              <a:t> source of Islamic law</a:t>
            </a:r>
          </a:p>
        </p:txBody>
      </p:sp>
    </p:spTree>
    <p:extLst>
      <p:ext uri="{BB962C8B-B14F-4D97-AF65-F5344CB8AC3E}">
        <p14:creationId xmlns:p14="http://schemas.microsoft.com/office/powerpoint/2010/main" val="50969147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855175"/>
          </a:xfrm>
        </p:spPr>
        <p:txBody>
          <a:bodyPr>
            <a:normAutofit fontScale="90000"/>
          </a:bodyPr>
          <a:lstStyle/>
          <a:p>
            <a:r>
              <a:rPr lang="en-US" dirty="0"/>
              <a:t> Literal meaning of hadith</a:t>
            </a:r>
            <a:br>
              <a:rPr lang="en-US" dirty="0"/>
            </a:br>
            <a:endParaRPr lang="en-US" dirty="0"/>
          </a:p>
        </p:txBody>
      </p:sp>
      <p:sp>
        <p:nvSpPr>
          <p:cNvPr id="3" name="Content Placeholder 2"/>
          <p:cNvSpPr>
            <a:spLocks noGrp="1"/>
          </p:cNvSpPr>
          <p:nvPr>
            <p:ph idx="1"/>
          </p:nvPr>
        </p:nvSpPr>
        <p:spPr>
          <a:xfrm>
            <a:off x="1141412" y="1473693"/>
            <a:ext cx="9905999" cy="4317508"/>
          </a:xfrm>
        </p:spPr>
        <p:txBody>
          <a:bodyPr/>
          <a:lstStyle/>
          <a:p>
            <a:r>
              <a:rPr lang="en-US" dirty="0"/>
              <a:t>The root  word  of Hadith is “</a:t>
            </a:r>
            <a:r>
              <a:rPr lang="en-US" dirty="0" err="1"/>
              <a:t>Hadas</a:t>
            </a:r>
            <a:r>
              <a:rPr lang="en-US" dirty="0"/>
              <a:t>”  that gives following meanings:</a:t>
            </a:r>
          </a:p>
          <a:p>
            <a:r>
              <a:rPr lang="en-US" dirty="0"/>
              <a:t>Information</a:t>
            </a:r>
          </a:p>
          <a:p>
            <a:r>
              <a:rPr lang="en-US" dirty="0"/>
              <a:t>Talk</a:t>
            </a:r>
          </a:p>
          <a:p>
            <a:r>
              <a:rPr lang="en-US" dirty="0"/>
              <a:t>News </a:t>
            </a:r>
          </a:p>
          <a:p>
            <a:r>
              <a:rPr lang="en-US" dirty="0"/>
              <a:t>Accident </a:t>
            </a:r>
          </a:p>
          <a:p>
            <a:r>
              <a:rPr lang="en-US" dirty="0"/>
              <a:t>Incident etc.</a:t>
            </a:r>
          </a:p>
          <a:p>
            <a:endParaRPr lang="en-US" dirty="0"/>
          </a:p>
        </p:txBody>
      </p:sp>
    </p:spTree>
    <p:extLst>
      <p:ext uri="{BB962C8B-B14F-4D97-AF65-F5344CB8AC3E}">
        <p14:creationId xmlns:p14="http://schemas.microsoft.com/office/powerpoint/2010/main" val="41820086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Islamic terminology</a:t>
            </a:r>
          </a:p>
        </p:txBody>
      </p:sp>
      <p:sp>
        <p:nvSpPr>
          <p:cNvPr id="3" name="Content Placeholder 2"/>
          <p:cNvSpPr>
            <a:spLocks noGrp="1"/>
          </p:cNvSpPr>
          <p:nvPr>
            <p:ph idx="1"/>
          </p:nvPr>
        </p:nvSpPr>
        <p:spPr/>
        <p:txBody>
          <a:bodyPr/>
          <a:lstStyle/>
          <a:p>
            <a:r>
              <a:rPr lang="en-US" dirty="0"/>
              <a:t>Sayings, doings of Holy Prophet and remaining silent on the sayings and doings of his companions</a:t>
            </a:r>
          </a:p>
        </p:txBody>
      </p:sp>
    </p:spTree>
    <p:extLst>
      <p:ext uri="{BB962C8B-B14F-4D97-AF65-F5344CB8AC3E}">
        <p14:creationId xmlns:p14="http://schemas.microsoft.com/office/powerpoint/2010/main" val="294812528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Kinds of </a:t>
            </a:r>
            <a:r>
              <a:rPr lang="en-US" dirty="0" err="1"/>
              <a:t>Ahadith</a:t>
            </a:r>
            <a:endParaRPr lang="en-US" dirty="0"/>
          </a:p>
        </p:txBody>
      </p:sp>
      <p:sp>
        <p:nvSpPr>
          <p:cNvPr id="3" name="Content Placeholder 2"/>
          <p:cNvSpPr>
            <a:spLocks noGrp="1"/>
          </p:cNvSpPr>
          <p:nvPr>
            <p:ph idx="1"/>
          </p:nvPr>
        </p:nvSpPr>
        <p:spPr/>
        <p:txBody>
          <a:bodyPr/>
          <a:lstStyle/>
          <a:p>
            <a:r>
              <a:rPr lang="en-US" dirty="0" err="1"/>
              <a:t>Quali</a:t>
            </a:r>
            <a:endParaRPr lang="en-US" dirty="0"/>
          </a:p>
          <a:p>
            <a:r>
              <a:rPr lang="en-US" dirty="0" err="1"/>
              <a:t>Fali</a:t>
            </a:r>
            <a:endParaRPr lang="en-US" dirty="0"/>
          </a:p>
          <a:p>
            <a:r>
              <a:rPr lang="en-US" dirty="0" err="1"/>
              <a:t>taqriri</a:t>
            </a:r>
            <a:endParaRPr lang="en-US" dirty="0"/>
          </a:p>
        </p:txBody>
      </p:sp>
    </p:spTree>
    <p:extLst>
      <p:ext uri="{BB962C8B-B14F-4D97-AF65-F5344CB8AC3E}">
        <p14:creationId xmlns:p14="http://schemas.microsoft.com/office/powerpoint/2010/main" val="41099994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hadith </a:t>
            </a:r>
            <a:r>
              <a:rPr lang="en-US" dirty="0" err="1"/>
              <a:t>quali</a:t>
            </a:r>
            <a:endParaRPr lang="en-US" dirty="0"/>
          </a:p>
        </p:txBody>
      </p:sp>
      <p:sp>
        <p:nvSpPr>
          <p:cNvPr id="3" name="Content Placeholder 2"/>
          <p:cNvSpPr>
            <a:spLocks noGrp="1"/>
          </p:cNvSpPr>
          <p:nvPr>
            <p:ph idx="1"/>
          </p:nvPr>
        </p:nvSpPr>
        <p:spPr/>
        <p:txBody>
          <a:bodyPr/>
          <a:lstStyle/>
          <a:p>
            <a:r>
              <a:rPr lang="en-US" dirty="0"/>
              <a:t>What ever verbal commandments given by the Holy Prophet</a:t>
            </a:r>
          </a:p>
        </p:txBody>
      </p:sp>
    </p:spTree>
    <p:extLst>
      <p:ext uri="{BB962C8B-B14F-4D97-AF65-F5344CB8AC3E}">
        <p14:creationId xmlns:p14="http://schemas.microsoft.com/office/powerpoint/2010/main" val="26630934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Hadith </a:t>
            </a:r>
            <a:r>
              <a:rPr lang="en-US" dirty="0" err="1"/>
              <a:t>faili</a:t>
            </a:r>
            <a:endParaRPr lang="en-US" dirty="0"/>
          </a:p>
        </p:txBody>
      </p:sp>
      <p:sp>
        <p:nvSpPr>
          <p:cNvPr id="3" name="Content Placeholder 2"/>
          <p:cNvSpPr>
            <a:spLocks noGrp="1"/>
          </p:cNvSpPr>
          <p:nvPr>
            <p:ph idx="1"/>
          </p:nvPr>
        </p:nvSpPr>
        <p:spPr/>
        <p:txBody>
          <a:bodyPr/>
          <a:lstStyle/>
          <a:p>
            <a:r>
              <a:rPr lang="en-US" dirty="0"/>
              <a:t>Narrator has described the practical performance of Holy </a:t>
            </a:r>
            <a:r>
              <a:rPr lang="en-US" dirty="0" err="1"/>
              <a:t>Prohet</a:t>
            </a:r>
            <a:endParaRPr lang="en-US" dirty="0"/>
          </a:p>
        </p:txBody>
      </p:sp>
    </p:spTree>
    <p:extLst>
      <p:ext uri="{BB962C8B-B14F-4D97-AF65-F5344CB8AC3E}">
        <p14:creationId xmlns:p14="http://schemas.microsoft.com/office/powerpoint/2010/main" val="25548390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Hadith </a:t>
            </a:r>
            <a:r>
              <a:rPr lang="en-US" dirty="0" err="1"/>
              <a:t>taqriri</a:t>
            </a:r>
            <a:endParaRPr lang="en-US" dirty="0"/>
          </a:p>
        </p:txBody>
      </p:sp>
      <p:sp>
        <p:nvSpPr>
          <p:cNvPr id="3" name="Content Placeholder 2"/>
          <p:cNvSpPr>
            <a:spLocks noGrp="1"/>
          </p:cNvSpPr>
          <p:nvPr>
            <p:ph idx="1"/>
          </p:nvPr>
        </p:nvSpPr>
        <p:spPr/>
        <p:txBody>
          <a:bodyPr/>
          <a:lstStyle/>
          <a:p>
            <a:r>
              <a:rPr lang="en-US" dirty="0"/>
              <a:t>Any kind of statement or action performed by any of the companion in front of the Holy Prophet and He remained silent </a:t>
            </a:r>
            <a:r>
              <a:rPr lang="en-US" dirty="0" err="1"/>
              <a:t>i.e</a:t>
            </a:r>
            <a:r>
              <a:rPr lang="en-US" dirty="0"/>
              <a:t> didn’t react on that. ( it proved the authenticity of that statement or the act) </a:t>
            </a:r>
          </a:p>
        </p:txBody>
      </p:sp>
    </p:spTree>
    <p:extLst>
      <p:ext uri="{BB962C8B-B14F-4D97-AF65-F5344CB8AC3E}">
        <p14:creationId xmlns:p14="http://schemas.microsoft.com/office/powerpoint/2010/main" val="14684827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Literal meaning of </a:t>
            </a:r>
            <a:r>
              <a:rPr lang="en-US" dirty="0" err="1"/>
              <a:t>Sunnah</a:t>
            </a:r>
            <a:endParaRPr lang="en-US" dirty="0"/>
          </a:p>
        </p:txBody>
      </p:sp>
      <p:sp>
        <p:nvSpPr>
          <p:cNvPr id="3" name="Content Placeholder 2"/>
          <p:cNvSpPr>
            <a:spLocks noGrp="1"/>
          </p:cNvSpPr>
          <p:nvPr>
            <p:ph idx="1"/>
          </p:nvPr>
        </p:nvSpPr>
        <p:spPr/>
        <p:txBody>
          <a:bodyPr/>
          <a:lstStyle/>
          <a:p>
            <a:r>
              <a:rPr lang="en-US" dirty="0"/>
              <a:t>It means:</a:t>
            </a:r>
          </a:p>
          <a:p>
            <a:r>
              <a:rPr lang="en-US" dirty="0"/>
              <a:t>Method</a:t>
            </a:r>
          </a:p>
          <a:p>
            <a:r>
              <a:rPr lang="en-US" dirty="0"/>
              <a:t>Way</a:t>
            </a:r>
          </a:p>
          <a:p>
            <a:r>
              <a:rPr lang="en-US" dirty="0"/>
              <a:t>Procedure</a:t>
            </a:r>
          </a:p>
          <a:p>
            <a:r>
              <a:rPr lang="en-US" dirty="0"/>
              <a:t>Footstep</a:t>
            </a:r>
          </a:p>
          <a:p>
            <a:r>
              <a:rPr lang="en-US" dirty="0"/>
              <a:t>following</a:t>
            </a:r>
          </a:p>
        </p:txBody>
      </p:sp>
    </p:spTree>
    <p:extLst>
      <p:ext uri="{BB962C8B-B14F-4D97-AF65-F5344CB8AC3E}">
        <p14:creationId xmlns:p14="http://schemas.microsoft.com/office/powerpoint/2010/main" val="423808170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Islamic terminology</a:t>
            </a:r>
          </a:p>
        </p:txBody>
      </p:sp>
      <p:sp>
        <p:nvSpPr>
          <p:cNvPr id="3" name="Content Placeholder 2"/>
          <p:cNvSpPr>
            <a:spLocks noGrp="1"/>
          </p:cNvSpPr>
          <p:nvPr>
            <p:ph idx="1"/>
          </p:nvPr>
        </p:nvSpPr>
        <p:spPr/>
        <p:txBody>
          <a:bodyPr/>
          <a:lstStyle/>
          <a:p>
            <a:r>
              <a:rPr lang="en-US" dirty="0"/>
              <a:t>Method and procedure for the performance of religious rituals, manners of conduct, ethic and morality, style of living and attitude towards others of the Holy Prophet (S.A.W)</a:t>
            </a:r>
          </a:p>
        </p:txBody>
      </p:sp>
    </p:spTree>
    <p:extLst>
      <p:ext uri="{BB962C8B-B14F-4D97-AF65-F5344CB8AC3E}">
        <p14:creationId xmlns:p14="http://schemas.microsoft.com/office/powerpoint/2010/main" val="231798573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the collection and compilation of hadith</a:t>
            </a:r>
          </a:p>
        </p:txBody>
      </p:sp>
      <p:sp>
        <p:nvSpPr>
          <p:cNvPr id="3" name="Content Placeholder 2"/>
          <p:cNvSpPr>
            <a:spLocks noGrp="1"/>
          </p:cNvSpPr>
          <p:nvPr>
            <p:ph idx="1"/>
          </p:nvPr>
        </p:nvSpPr>
        <p:spPr/>
        <p:txBody>
          <a:bodyPr/>
          <a:lstStyle/>
          <a:p>
            <a:r>
              <a:rPr lang="en-US" dirty="0"/>
              <a:t>Following are  main phases of the collection and compilation of the Hadith:</a:t>
            </a:r>
          </a:p>
          <a:p>
            <a:r>
              <a:rPr lang="en-US" b="1" i="1" dirty="0"/>
              <a:t>Compilation during Life of Holy Prophet (</a:t>
            </a:r>
            <a:r>
              <a:rPr lang="en-US" b="1" i="1" dirty="0" err="1"/>
              <a:t>pbuh</a:t>
            </a:r>
            <a:r>
              <a:rPr lang="en-US" b="1" i="1" dirty="0"/>
              <a:t>):</a:t>
            </a:r>
            <a:r>
              <a:rPr lang="en-US" b="1" i="1" u="sng" dirty="0"/>
              <a:t> </a:t>
            </a:r>
          </a:p>
          <a:p>
            <a:r>
              <a:rPr lang="en-US" b="1" i="1" dirty="0"/>
              <a:t>The Age of Companion ( 11-100 AH ) </a:t>
            </a:r>
          </a:p>
          <a:p>
            <a:r>
              <a:rPr lang="en-US" b="1" i="1" dirty="0"/>
              <a:t>The Age of followers of the Companions (</a:t>
            </a:r>
            <a:r>
              <a:rPr lang="en-US" b="1" i="1" dirty="0" err="1"/>
              <a:t>Tabaeens</a:t>
            </a:r>
            <a:r>
              <a:rPr lang="en-US" b="1" i="1" dirty="0"/>
              <a:t> 101-200 AH)</a:t>
            </a:r>
          </a:p>
          <a:p>
            <a:r>
              <a:rPr lang="en-US" b="1" i="1" dirty="0"/>
              <a:t>Age of followers of the followers (</a:t>
            </a:r>
            <a:r>
              <a:rPr lang="en-US" b="1" i="1" dirty="0" err="1"/>
              <a:t>Taba</a:t>
            </a:r>
            <a:r>
              <a:rPr lang="en-US" b="1" i="1" dirty="0"/>
              <a:t> </a:t>
            </a:r>
            <a:r>
              <a:rPr lang="en-US" b="1" i="1" dirty="0" err="1"/>
              <a:t>Tabaeen</a:t>
            </a:r>
            <a:r>
              <a:rPr lang="en-US" b="1" i="1" dirty="0"/>
              <a:t> 200-300 AH)</a:t>
            </a:r>
          </a:p>
        </p:txBody>
      </p:sp>
    </p:spTree>
    <p:extLst>
      <p:ext uri="{BB962C8B-B14F-4D97-AF65-F5344CB8AC3E}">
        <p14:creationId xmlns:p14="http://schemas.microsoft.com/office/powerpoint/2010/main" val="186164817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2637" y="547497"/>
            <a:ext cx="9905998" cy="1478570"/>
          </a:xfrm>
        </p:spPr>
        <p:txBody>
          <a:bodyPr>
            <a:normAutofit fontScale="90000"/>
          </a:bodyPr>
          <a:lstStyle/>
          <a:p>
            <a:r>
              <a:rPr lang="en-US" b="1" i="1" u="sng" dirty="0"/>
              <a:t>Compilation during Life of Holy Prophet (</a:t>
            </a:r>
            <a:r>
              <a:rPr lang="en-US" b="1" i="1" u="sng" dirty="0" err="1"/>
              <a:t>pbuh</a:t>
            </a:r>
            <a:r>
              <a:rPr lang="en-US" b="1" i="1" u="sng" dirty="0"/>
              <a:t>):</a:t>
            </a:r>
            <a:br>
              <a:rPr lang="en-US" dirty="0"/>
            </a:br>
            <a:endParaRPr lang="en-US" dirty="0"/>
          </a:p>
        </p:txBody>
      </p:sp>
      <p:sp>
        <p:nvSpPr>
          <p:cNvPr id="3" name="Content Placeholder 2"/>
          <p:cNvSpPr>
            <a:spLocks noGrp="1"/>
          </p:cNvSpPr>
          <p:nvPr>
            <p:ph idx="1"/>
          </p:nvPr>
        </p:nvSpPr>
        <p:spPr>
          <a:xfrm>
            <a:off x="1052637" y="1592540"/>
            <a:ext cx="9905999" cy="3541714"/>
          </a:xfrm>
        </p:spPr>
        <p:txBody>
          <a:bodyPr>
            <a:normAutofit fontScale="92500" lnSpcReduction="20000"/>
          </a:bodyPr>
          <a:lstStyle/>
          <a:p>
            <a:r>
              <a:rPr lang="en-US" dirty="0"/>
              <a:t>In the initial days of His </a:t>
            </a:r>
            <a:r>
              <a:rPr lang="en-US" dirty="0" err="1"/>
              <a:t>Prophethood</a:t>
            </a:r>
            <a:r>
              <a:rPr lang="en-US" dirty="0"/>
              <a:t>, while Quran was being revealed, prophet discouraged the writing of the </a:t>
            </a:r>
            <a:r>
              <a:rPr lang="en-US" dirty="0" err="1"/>
              <a:t>Ahadith</a:t>
            </a:r>
            <a:r>
              <a:rPr lang="en-US" dirty="0"/>
              <a:t>. </a:t>
            </a:r>
          </a:p>
          <a:p>
            <a:r>
              <a:rPr lang="en-US" dirty="0"/>
              <a:t>Later on, He himself allowed to write down. He ordered Ali (R.A) to write down the last sermon for the Abu shah </a:t>
            </a:r>
            <a:r>
              <a:rPr lang="en-US" dirty="0" err="1"/>
              <a:t>yamni</a:t>
            </a:r>
            <a:r>
              <a:rPr lang="en-US" dirty="0"/>
              <a:t> and he also sent a written directives to the governor of </a:t>
            </a:r>
            <a:r>
              <a:rPr lang="en-US" dirty="0" err="1"/>
              <a:t>Yamen</a:t>
            </a:r>
            <a:r>
              <a:rPr lang="en-US" dirty="0"/>
              <a:t>, Umar bin </a:t>
            </a:r>
            <a:r>
              <a:rPr lang="en-US" dirty="0" err="1"/>
              <a:t>Hazam</a:t>
            </a:r>
            <a:r>
              <a:rPr lang="en-US" dirty="0"/>
              <a:t>, in which obligations, </a:t>
            </a:r>
            <a:r>
              <a:rPr lang="en-US" dirty="0" err="1"/>
              <a:t>sadqat</a:t>
            </a:r>
            <a:r>
              <a:rPr lang="en-US" dirty="0"/>
              <a:t>, divorce and </a:t>
            </a:r>
            <a:r>
              <a:rPr lang="en-US" dirty="0" err="1"/>
              <a:t>salat</a:t>
            </a:r>
            <a:r>
              <a:rPr lang="en-US" dirty="0"/>
              <a:t> were included.</a:t>
            </a:r>
          </a:p>
          <a:p>
            <a:r>
              <a:rPr lang="en-US" dirty="0"/>
              <a:t>Different treaties and pacts, </a:t>
            </a:r>
            <a:r>
              <a:rPr lang="en-US" dirty="0" err="1"/>
              <a:t>i.e</a:t>
            </a:r>
            <a:r>
              <a:rPr lang="en-US" dirty="0"/>
              <a:t> treaty of </a:t>
            </a:r>
            <a:r>
              <a:rPr lang="en-US" dirty="0" err="1"/>
              <a:t>Hudebeya</a:t>
            </a:r>
            <a:r>
              <a:rPr lang="en-US" dirty="0"/>
              <a:t>, charter of </a:t>
            </a:r>
            <a:r>
              <a:rPr lang="en-US" dirty="0" err="1"/>
              <a:t>Madina</a:t>
            </a:r>
            <a:r>
              <a:rPr lang="en-US" dirty="0"/>
              <a:t>, were in written form</a:t>
            </a:r>
          </a:p>
          <a:p>
            <a:pPr marL="0" indent="0">
              <a:buNone/>
            </a:pPr>
            <a:r>
              <a:rPr lang="en-US" dirty="0"/>
              <a:t> </a:t>
            </a:r>
          </a:p>
        </p:txBody>
      </p:sp>
    </p:spTree>
    <p:extLst>
      <p:ext uri="{BB962C8B-B14F-4D97-AF65-F5344CB8AC3E}">
        <p14:creationId xmlns:p14="http://schemas.microsoft.com/office/powerpoint/2010/main" val="31298620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The Age of Companion ( 11-100 AH )</a:t>
            </a:r>
            <a:endParaRPr lang="en-US" dirty="0"/>
          </a:p>
        </p:txBody>
      </p:sp>
      <p:sp>
        <p:nvSpPr>
          <p:cNvPr id="3" name="Content Placeholder 2"/>
          <p:cNvSpPr>
            <a:spLocks noGrp="1"/>
          </p:cNvSpPr>
          <p:nvPr>
            <p:ph idx="1"/>
          </p:nvPr>
        </p:nvSpPr>
        <p:spPr/>
        <p:txBody>
          <a:bodyPr>
            <a:normAutofit fontScale="92500"/>
          </a:bodyPr>
          <a:lstStyle/>
          <a:p>
            <a:r>
              <a:rPr lang="en-US" dirty="0" err="1"/>
              <a:t>Hazrat</a:t>
            </a:r>
            <a:r>
              <a:rPr lang="en-US" dirty="0"/>
              <a:t> Ali had collected a booklet named “</a:t>
            </a:r>
            <a:r>
              <a:rPr lang="en-US" dirty="0" err="1"/>
              <a:t>Sahifa</a:t>
            </a:r>
            <a:r>
              <a:rPr lang="en-US" dirty="0"/>
              <a:t> e Ali” it consisted the orders  </a:t>
            </a:r>
          </a:p>
          <a:p>
            <a:pPr marL="0" indent="0">
              <a:buNone/>
            </a:pPr>
            <a:r>
              <a:rPr lang="en-US" dirty="0"/>
              <a:t>  of </a:t>
            </a:r>
            <a:r>
              <a:rPr lang="en-US" dirty="0" err="1"/>
              <a:t>Qisas</a:t>
            </a:r>
            <a:r>
              <a:rPr lang="en-US" dirty="0"/>
              <a:t> and </a:t>
            </a:r>
            <a:r>
              <a:rPr lang="en-US" dirty="0" err="1"/>
              <a:t>Diyat</a:t>
            </a:r>
            <a:r>
              <a:rPr lang="en-US" dirty="0"/>
              <a:t> (revenge and death compensation) which he used to keep in the scabbard of his sword</a:t>
            </a:r>
          </a:p>
          <a:p>
            <a:pPr marL="0" indent="0">
              <a:buNone/>
            </a:pPr>
            <a:r>
              <a:rPr lang="en-US" dirty="0" err="1"/>
              <a:t>Sahifae</a:t>
            </a:r>
            <a:r>
              <a:rPr lang="en-US" dirty="0"/>
              <a:t> </a:t>
            </a:r>
            <a:r>
              <a:rPr lang="en-US" dirty="0" err="1"/>
              <a:t>Saheha</a:t>
            </a:r>
            <a:r>
              <a:rPr lang="en-US" dirty="0"/>
              <a:t>  compiled by Abu </a:t>
            </a:r>
            <a:r>
              <a:rPr lang="en-US" dirty="0" err="1"/>
              <a:t>Hurerah</a:t>
            </a:r>
            <a:endParaRPr lang="en-US" dirty="0"/>
          </a:p>
          <a:p>
            <a:pPr marL="0" indent="0">
              <a:buNone/>
            </a:pPr>
            <a:r>
              <a:rPr lang="en-US" dirty="0"/>
              <a:t>"</a:t>
            </a:r>
            <a:r>
              <a:rPr lang="en-US" dirty="0" err="1"/>
              <a:t>Sahifa</a:t>
            </a:r>
            <a:r>
              <a:rPr lang="en-US" dirty="0"/>
              <a:t>-e-</a:t>
            </a:r>
            <a:r>
              <a:rPr lang="en-US" dirty="0" err="1"/>
              <a:t>Sadiqa</a:t>
            </a:r>
            <a:r>
              <a:rPr lang="en-US" dirty="0"/>
              <a:t>. compiled by “</a:t>
            </a:r>
            <a:r>
              <a:rPr lang="en-US" b="1" dirty="0" err="1"/>
              <a:t>Hazrat</a:t>
            </a:r>
            <a:r>
              <a:rPr lang="en-US" b="1" dirty="0"/>
              <a:t> Abdullah </a:t>
            </a:r>
            <a:r>
              <a:rPr lang="en-US" b="1" dirty="0" err="1"/>
              <a:t>ibn</a:t>
            </a:r>
            <a:r>
              <a:rPr lang="en-US" b="1" dirty="0"/>
              <a:t> </a:t>
            </a:r>
            <a:r>
              <a:rPr lang="en-US" b="1" dirty="0" err="1"/>
              <a:t>Umer</a:t>
            </a:r>
            <a:r>
              <a:rPr lang="en-US" b="1" dirty="0"/>
              <a:t> (RA) </a:t>
            </a:r>
          </a:p>
          <a:p>
            <a:pPr marL="0" indent="0">
              <a:buNone/>
            </a:pPr>
            <a:r>
              <a:rPr lang="en-US" dirty="0"/>
              <a:t>During this period Caliph Umar bin Abdul Aziz wrote to the governor of </a:t>
            </a:r>
            <a:r>
              <a:rPr lang="en-US" dirty="0" err="1"/>
              <a:t>Madina</a:t>
            </a:r>
            <a:r>
              <a:rPr lang="en-US" dirty="0"/>
              <a:t> to write down all the tradition of the Holy Prophet(</a:t>
            </a:r>
            <a:r>
              <a:rPr lang="en-US" dirty="0" err="1"/>
              <a:t>p.b.u.h</a:t>
            </a:r>
            <a:r>
              <a:rPr lang="en-US" dirty="0"/>
              <a:t>)</a:t>
            </a:r>
          </a:p>
          <a:p>
            <a:pPr marL="0" indent="0">
              <a:buNone/>
            </a:pPr>
            <a:endParaRPr lang="en-US" dirty="0"/>
          </a:p>
        </p:txBody>
      </p:sp>
    </p:spTree>
    <p:extLst>
      <p:ext uri="{BB962C8B-B14F-4D97-AF65-F5344CB8AC3E}">
        <p14:creationId xmlns:p14="http://schemas.microsoft.com/office/powerpoint/2010/main" val="12073099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t>The Age of followers of the Companions (</a:t>
            </a:r>
            <a:r>
              <a:rPr lang="en-US" b="1" i="1" dirty="0" err="1"/>
              <a:t>Tabaeens</a:t>
            </a:r>
            <a:r>
              <a:rPr lang="en-US" b="1" i="1" dirty="0"/>
              <a:t> 101-200 AH)</a:t>
            </a:r>
            <a:endParaRPr lang="en-US" dirty="0"/>
          </a:p>
        </p:txBody>
      </p:sp>
      <p:sp>
        <p:nvSpPr>
          <p:cNvPr id="3" name="Content Placeholder 2"/>
          <p:cNvSpPr>
            <a:spLocks noGrp="1"/>
          </p:cNvSpPr>
          <p:nvPr>
            <p:ph idx="1"/>
          </p:nvPr>
        </p:nvSpPr>
        <p:spPr/>
        <p:txBody>
          <a:bodyPr/>
          <a:lstStyle/>
          <a:p>
            <a:r>
              <a:rPr lang="en-US" dirty="0"/>
              <a:t>This is the age of followers of the companions of the Prophet (</a:t>
            </a:r>
            <a:r>
              <a:rPr lang="en-US" dirty="0" err="1"/>
              <a:t>pbuh</a:t>
            </a:r>
            <a:r>
              <a:rPr lang="en-US" dirty="0"/>
              <a:t>). The most important works of this period were carried out by:</a:t>
            </a:r>
          </a:p>
          <a:p>
            <a:r>
              <a:rPr lang="en-US" dirty="0" err="1"/>
              <a:t>Abudullah</a:t>
            </a:r>
            <a:r>
              <a:rPr lang="en-US" dirty="0"/>
              <a:t> bin </a:t>
            </a:r>
            <a:r>
              <a:rPr lang="en-US" dirty="0" err="1"/>
              <a:t>Mubarik</a:t>
            </a:r>
            <a:r>
              <a:rPr lang="en-US" dirty="0"/>
              <a:t> at </a:t>
            </a:r>
            <a:r>
              <a:rPr lang="en-US" dirty="0" err="1"/>
              <a:t>Khorasan</a:t>
            </a:r>
            <a:r>
              <a:rPr lang="en-US" dirty="0"/>
              <a:t>.</a:t>
            </a:r>
          </a:p>
          <a:p>
            <a:r>
              <a:rPr lang="en-US" dirty="0"/>
              <a:t> Abu </a:t>
            </a:r>
            <a:r>
              <a:rPr lang="en-US" dirty="0" err="1"/>
              <a:t>Bakr</a:t>
            </a:r>
            <a:r>
              <a:rPr lang="en-US" dirty="0"/>
              <a:t> </a:t>
            </a:r>
            <a:r>
              <a:rPr lang="en-US" dirty="0" err="1"/>
              <a:t>Shybah</a:t>
            </a:r>
            <a:r>
              <a:rPr lang="en-US" dirty="0"/>
              <a:t> at </a:t>
            </a:r>
            <a:r>
              <a:rPr lang="en-US" dirty="0" err="1"/>
              <a:t>Kufa</a:t>
            </a:r>
            <a:endParaRPr lang="en-US" dirty="0"/>
          </a:p>
          <a:p>
            <a:r>
              <a:rPr lang="en-US" dirty="0" err="1"/>
              <a:t>Sufyan</a:t>
            </a:r>
            <a:r>
              <a:rPr lang="en-US" dirty="0"/>
              <a:t> </a:t>
            </a:r>
            <a:r>
              <a:rPr lang="en-US" dirty="0" err="1"/>
              <a:t>bin’Uyaina</a:t>
            </a:r>
            <a:r>
              <a:rPr lang="en-US" dirty="0"/>
              <a:t> at </a:t>
            </a:r>
            <a:r>
              <a:rPr lang="en-US" dirty="0" err="1"/>
              <a:t>Madina</a:t>
            </a:r>
            <a:endParaRPr lang="en-US" dirty="0"/>
          </a:p>
          <a:p>
            <a:r>
              <a:rPr lang="en-US" dirty="0"/>
              <a:t>Imam </a:t>
            </a:r>
            <a:r>
              <a:rPr lang="en-US" dirty="0" err="1"/>
              <a:t>Makhul</a:t>
            </a:r>
            <a:r>
              <a:rPr lang="en-US" dirty="0"/>
              <a:t> at </a:t>
            </a:r>
            <a:r>
              <a:rPr lang="en-US" dirty="0" err="1"/>
              <a:t>syria</a:t>
            </a:r>
            <a:endParaRPr lang="en-US" dirty="0"/>
          </a:p>
        </p:txBody>
      </p:sp>
    </p:spTree>
    <p:extLst>
      <p:ext uri="{BB962C8B-B14F-4D97-AF65-F5344CB8AC3E}">
        <p14:creationId xmlns:p14="http://schemas.microsoft.com/office/powerpoint/2010/main" val="325430571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i="1" dirty="0"/>
              <a:t>Age of followers of the followers (</a:t>
            </a:r>
            <a:r>
              <a:rPr lang="en-US" sz="3200" b="1" i="1" dirty="0" err="1"/>
              <a:t>Taba</a:t>
            </a:r>
            <a:r>
              <a:rPr lang="en-US" sz="3200" b="1" i="1" dirty="0"/>
              <a:t> </a:t>
            </a:r>
            <a:r>
              <a:rPr lang="en-US" sz="3200" b="1" i="1" dirty="0" err="1"/>
              <a:t>Tabaeen</a:t>
            </a:r>
            <a:r>
              <a:rPr lang="en-US" sz="3200" b="1" i="1" dirty="0"/>
              <a:t> 200-300 AH)</a:t>
            </a:r>
            <a:endParaRPr lang="en-US" sz="3200" dirty="0"/>
          </a:p>
        </p:txBody>
      </p:sp>
      <p:sp>
        <p:nvSpPr>
          <p:cNvPr id="3" name="Content Placeholder 2"/>
          <p:cNvSpPr>
            <a:spLocks noGrp="1"/>
          </p:cNvSpPr>
          <p:nvPr>
            <p:ph idx="1"/>
          </p:nvPr>
        </p:nvSpPr>
        <p:spPr/>
        <p:txBody>
          <a:bodyPr/>
          <a:lstStyle/>
          <a:p>
            <a:r>
              <a:rPr lang="en-US" dirty="0"/>
              <a:t>This is Golden age of Traditions. The six authentic books of traditions (al </a:t>
            </a:r>
            <a:r>
              <a:rPr lang="en-US" dirty="0" err="1"/>
              <a:t>Sahah</a:t>
            </a:r>
            <a:r>
              <a:rPr lang="en-US" dirty="0"/>
              <a:t> –al </a:t>
            </a:r>
            <a:r>
              <a:rPr lang="en-US" dirty="0" err="1"/>
              <a:t>Sitta</a:t>
            </a:r>
            <a:r>
              <a:rPr lang="en-US" dirty="0"/>
              <a:t>) were written. These are the most reliable books of traditions.</a:t>
            </a:r>
          </a:p>
          <a:p>
            <a:endParaRPr lang="en-US" dirty="0"/>
          </a:p>
        </p:txBody>
      </p:sp>
    </p:spTree>
    <p:extLst>
      <p:ext uri="{BB962C8B-B14F-4D97-AF65-F5344CB8AC3E}">
        <p14:creationId xmlns:p14="http://schemas.microsoft.com/office/powerpoint/2010/main" val="19265314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t> </a:t>
            </a:r>
            <a:r>
              <a:rPr lang="en-US" sz="4000" dirty="0" err="1"/>
              <a:t>sihah</a:t>
            </a:r>
            <a:r>
              <a:rPr lang="en-US" sz="4000" dirty="0"/>
              <a:t> </a:t>
            </a:r>
            <a:r>
              <a:rPr lang="en-US" sz="4000" dirty="0" err="1"/>
              <a:t>sitta</a:t>
            </a:r>
            <a:br>
              <a:rPr lang="en-US" sz="4000" dirty="0"/>
            </a:br>
            <a:endParaRPr lang="en-US" sz="4000" dirty="0"/>
          </a:p>
        </p:txBody>
      </p:sp>
      <p:sp>
        <p:nvSpPr>
          <p:cNvPr id="3" name="Subtitle 2"/>
          <p:cNvSpPr>
            <a:spLocks noGrp="1"/>
          </p:cNvSpPr>
          <p:nvPr>
            <p:ph type="subTitle" idx="1"/>
          </p:nvPr>
        </p:nvSpPr>
        <p:spPr/>
        <p:txBody>
          <a:bodyPr/>
          <a:lstStyle/>
          <a:p>
            <a:r>
              <a:rPr lang="en-US" dirty="0"/>
              <a:t>(Six authentic or canonical books)</a:t>
            </a:r>
          </a:p>
          <a:p>
            <a:endParaRPr lang="en-US" dirty="0"/>
          </a:p>
        </p:txBody>
      </p:sp>
    </p:spTree>
    <p:extLst>
      <p:ext uri="{BB962C8B-B14F-4D97-AF65-F5344CB8AC3E}">
        <p14:creationId xmlns:p14="http://schemas.microsoft.com/office/powerpoint/2010/main" val="34386439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i="1" dirty="0" err="1"/>
              <a:t>Sahih</a:t>
            </a:r>
            <a:r>
              <a:rPr lang="en-US" i="1" dirty="0"/>
              <a:t> </a:t>
            </a:r>
            <a:r>
              <a:rPr lang="en-US" i="1" dirty="0" err="1"/>
              <a:t>Bukhari</a:t>
            </a:r>
            <a:r>
              <a:rPr lang="en-US" dirty="0"/>
              <a:t>:</a:t>
            </a:r>
          </a:p>
        </p:txBody>
      </p:sp>
      <p:sp>
        <p:nvSpPr>
          <p:cNvPr id="3" name="Content Placeholder 2"/>
          <p:cNvSpPr>
            <a:spLocks noGrp="1"/>
          </p:cNvSpPr>
          <p:nvPr>
            <p:ph idx="1"/>
          </p:nvPr>
        </p:nvSpPr>
        <p:spPr/>
        <p:txBody>
          <a:bodyPr/>
          <a:lstStyle/>
          <a:p>
            <a:r>
              <a:rPr lang="en-US" dirty="0"/>
              <a:t>Written by Muhammad bin ‘Abdullah’ Ismael al-Bukhari (195-256 AH) </a:t>
            </a:r>
          </a:p>
          <a:p>
            <a:r>
              <a:rPr lang="en-US" dirty="0"/>
              <a:t>Took 40 years for collection.</a:t>
            </a:r>
          </a:p>
          <a:p>
            <a:r>
              <a:rPr lang="en-US" dirty="0"/>
              <a:t> His </a:t>
            </a:r>
            <a:r>
              <a:rPr lang="en-US" dirty="0" err="1"/>
              <a:t>Sahih</a:t>
            </a:r>
            <a:r>
              <a:rPr lang="en-US" dirty="0"/>
              <a:t> is next to Quran in authenticity. </a:t>
            </a:r>
          </a:p>
          <a:p>
            <a:r>
              <a:rPr lang="en-US" dirty="0"/>
              <a:t>He selected nearly 7275 out of 600,000 traditions. </a:t>
            </a:r>
          </a:p>
          <a:p>
            <a:r>
              <a:rPr lang="en-US" dirty="0"/>
              <a:t>He accepted only reliable traditions.</a:t>
            </a:r>
          </a:p>
        </p:txBody>
      </p:sp>
    </p:spTree>
    <p:extLst>
      <p:ext uri="{BB962C8B-B14F-4D97-AF65-F5344CB8AC3E}">
        <p14:creationId xmlns:p14="http://schemas.microsoft.com/office/powerpoint/2010/main" val="269634970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i="1" dirty="0" err="1"/>
              <a:t>Sahih</a:t>
            </a:r>
            <a:r>
              <a:rPr lang="en-US" i="1" dirty="0"/>
              <a:t> Muslim</a:t>
            </a:r>
            <a:endParaRPr lang="en-US" dirty="0"/>
          </a:p>
        </p:txBody>
      </p:sp>
      <p:sp>
        <p:nvSpPr>
          <p:cNvPr id="3" name="Content Placeholder 2"/>
          <p:cNvSpPr>
            <a:spLocks noGrp="1"/>
          </p:cNvSpPr>
          <p:nvPr>
            <p:ph idx="1"/>
          </p:nvPr>
        </p:nvSpPr>
        <p:spPr/>
        <p:txBody>
          <a:bodyPr>
            <a:normAutofit lnSpcReduction="10000"/>
          </a:bodyPr>
          <a:lstStyle/>
          <a:p>
            <a:r>
              <a:rPr lang="en-US" dirty="0"/>
              <a:t>written by ‘Abdul </a:t>
            </a:r>
            <a:r>
              <a:rPr lang="en-US" dirty="0" err="1"/>
              <a:t>Hussain</a:t>
            </a:r>
            <a:r>
              <a:rPr lang="en-US" dirty="0"/>
              <a:t> Muslim bin al </a:t>
            </a:r>
            <a:r>
              <a:rPr lang="en-US" dirty="0" err="1"/>
              <a:t>Hajaj</a:t>
            </a:r>
            <a:r>
              <a:rPr lang="en-US" dirty="0"/>
              <a:t> al-</a:t>
            </a:r>
            <a:r>
              <a:rPr lang="en-US" dirty="0" err="1"/>
              <a:t>Nishapuri</a:t>
            </a:r>
            <a:r>
              <a:rPr lang="en-US" dirty="0"/>
              <a:t>-</a:t>
            </a:r>
            <a:r>
              <a:rPr lang="en-US" dirty="0" err="1"/>
              <a:t>Qushaieri</a:t>
            </a:r>
            <a:r>
              <a:rPr lang="en-US" dirty="0"/>
              <a:t> (216-304 A.H) . </a:t>
            </a:r>
          </a:p>
          <a:p>
            <a:r>
              <a:rPr lang="en-US" dirty="0"/>
              <a:t>He travelled many places to learn Hadith. </a:t>
            </a:r>
          </a:p>
          <a:p>
            <a:r>
              <a:rPr lang="en-US" dirty="0"/>
              <a:t>His </a:t>
            </a:r>
            <a:r>
              <a:rPr lang="en-US" dirty="0" err="1"/>
              <a:t>Sahih</a:t>
            </a:r>
            <a:r>
              <a:rPr lang="en-US" dirty="0"/>
              <a:t> consist of 9200 traditions selected out of 300,000. </a:t>
            </a:r>
          </a:p>
          <a:p>
            <a:r>
              <a:rPr lang="en-US" dirty="0"/>
              <a:t>It is considered next to </a:t>
            </a:r>
            <a:r>
              <a:rPr lang="en-US" dirty="0" err="1"/>
              <a:t>Bukhari</a:t>
            </a:r>
            <a:r>
              <a:rPr lang="en-US" dirty="0"/>
              <a:t> . </a:t>
            </a:r>
          </a:p>
          <a:p>
            <a:r>
              <a:rPr lang="en-US" dirty="0"/>
              <a:t>Any tradition accepted by both </a:t>
            </a:r>
            <a:r>
              <a:rPr lang="en-US" dirty="0" err="1"/>
              <a:t>Bukahri</a:t>
            </a:r>
            <a:r>
              <a:rPr lang="en-US" dirty="0"/>
              <a:t> and Muslim has been termed as agreed.</a:t>
            </a:r>
          </a:p>
        </p:txBody>
      </p:sp>
    </p:spTree>
    <p:extLst>
      <p:ext uri="{BB962C8B-B14F-4D97-AF65-F5344CB8AC3E}">
        <p14:creationId xmlns:p14="http://schemas.microsoft.com/office/powerpoint/2010/main" val="17575365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i="1" dirty="0" err="1"/>
              <a:t>Sunan</a:t>
            </a:r>
            <a:r>
              <a:rPr lang="en-US" i="1"/>
              <a:t> Abu </a:t>
            </a:r>
            <a:r>
              <a:rPr lang="en-US" i="1" dirty="0" err="1"/>
              <a:t>Daud</a:t>
            </a:r>
            <a:endParaRPr lang="en-US" dirty="0"/>
          </a:p>
        </p:txBody>
      </p:sp>
      <p:sp>
        <p:nvSpPr>
          <p:cNvPr id="3" name="Content Placeholder 2"/>
          <p:cNvSpPr>
            <a:spLocks noGrp="1"/>
          </p:cNvSpPr>
          <p:nvPr>
            <p:ph idx="1"/>
          </p:nvPr>
        </p:nvSpPr>
        <p:spPr/>
        <p:txBody>
          <a:bodyPr/>
          <a:lstStyle/>
          <a:p>
            <a:r>
              <a:rPr lang="en-US" dirty="0"/>
              <a:t>It consists of 4800 traditions selected out of 500,000 </a:t>
            </a:r>
          </a:p>
          <a:p>
            <a:r>
              <a:rPr lang="en-US" dirty="0"/>
              <a:t>Abu Daud collected it during 202-275 AH. </a:t>
            </a:r>
          </a:p>
          <a:p>
            <a:r>
              <a:rPr lang="en-US" dirty="0"/>
              <a:t>He travelled to all important centers of traditions. </a:t>
            </a:r>
          </a:p>
          <a:p>
            <a:r>
              <a:rPr lang="en-US" dirty="0"/>
              <a:t>And it took him 20 years to complete his book.</a:t>
            </a:r>
          </a:p>
        </p:txBody>
      </p:sp>
    </p:spTree>
    <p:extLst>
      <p:ext uri="{BB962C8B-B14F-4D97-AF65-F5344CB8AC3E}">
        <p14:creationId xmlns:p14="http://schemas.microsoft.com/office/powerpoint/2010/main" val="93991043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a:t>
            </a:r>
            <a:r>
              <a:rPr lang="en-US" i="1" dirty="0"/>
              <a:t>Jami </a:t>
            </a:r>
            <a:r>
              <a:rPr lang="en-US" i="1" dirty="0" err="1"/>
              <a:t>Tirmidhi</a:t>
            </a:r>
            <a:endParaRPr lang="en-US" dirty="0"/>
          </a:p>
        </p:txBody>
      </p:sp>
      <p:sp>
        <p:nvSpPr>
          <p:cNvPr id="3" name="Content Placeholder 2"/>
          <p:cNvSpPr>
            <a:spLocks noGrp="1"/>
          </p:cNvSpPr>
          <p:nvPr>
            <p:ph idx="1"/>
          </p:nvPr>
        </p:nvSpPr>
        <p:spPr/>
        <p:txBody>
          <a:bodyPr/>
          <a:lstStyle/>
          <a:p>
            <a:r>
              <a:rPr lang="en-US" dirty="0"/>
              <a:t>written by Abu ’Isa-al-</a:t>
            </a:r>
            <a:r>
              <a:rPr lang="en-US" dirty="0" err="1"/>
              <a:t>Tirmidhi</a:t>
            </a:r>
            <a:r>
              <a:rPr lang="en-US" dirty="0"/>
              <a:t> during 209-279 AH. </a:t>
            </a:r>
          </a:p>
          <a:p>
            <a:r>
              <a:rPr lang="en-US" dirty="0"/>
              <a:t>He was first man to determine the names, surnames and titles of narrators of traditions.</a:t>
            </a:r>
          </a:p>
        </p:txBody>
      </p:sp>
    </p:spTree>
    <p:extLst>
      <p:ext uri="{BB962C8B-B14F-4D97-AF65-F5344CB8AC3E}">
        <p14:creationId xmlns:p14="http://schemas.microsoft.com/office/powerpoint/2010/main" val="34154864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a:t>
            </a:r>
            <a:r>
              <a:rPr lang="en-US" i="1" dirty="0" err="1"/>
              <a:t>Sunan</a:t>
            </a:r>
            <a:r>
              <a:rPr lang="en-US" i="1" dirty="0"/>
              <a:t> </a:t>
            </a:r>
            <a:r>
              <a:rPr lang="en-US" i="1" dirty="0" err="1"/>
              <a:t>Nisai</a:t>
            </a:r>
            <a:endParaRPr lang="en-US" dirty="0"/>
          </a:p>
        </p:txBody>
      </p:sp>
      <p:sp>
        <p:nvSpPr>
          <p:cNvPr id="3" name="Content Placeholder 2"/>
          <p:cNvSpPr>
            <a:spLocks noGrp="1"/>
          </p:cNvSpPr>
          <p:nvPr>
            <p:ph idx="1"/>
          </p:nvPr>
        </p:nvSpPr>
        <p:spPr/>
        <p:txBody>
          <a:bodyPr/>
          <a:lstStyle/>
          <a:p>
            <a:r>
              <a:rPr lang="en-US" dirty="0"/>
              <a:t>was written by </a:t>
            </a:r>
            <a:r>
              <a:rPr lang="en-US" dirty="0" err="1"/>
              <a:t>Abu’Abdur</a:t>
            </a:r>
            <a:r>
              <a:rPr lang="en-US" dirty="0"/>
              <a:t> Rahman an </a:t>
            </a:r>
            <a:r>
              <a:rPr lang="en-US" dirty="0" err="1"/>
              <a:t>Nisai</a:t>
            </a:r>
            <a:r>
              <a:rPr lang="en-US" dirty="0"/>
              <a:t> during 214-303 AH . </a:t>
            </a:r>
          </a:p>
          <a:p>
            <a:r>
              <a:rPr lang="en-US" dirty="0"/>
              <a:t>It also contains weak and doubtful traditions.</a:t>
            </a:r>
          </a:p>
        </p:txBody>
      </p:sp>
    </p:spTree>
    <p:extLst>
      <p:ext uri="{BB962C8B-B14F-4D97-AF65-F5344CB8AC3E}">
        <p14:creationId xmlns:p14="http://schemas.microsoft.com/office/powerpoint/2010/main" val="385987958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a:t>
            </a:r>
            <a:r>
              <a:rPr lang="en-US" i="1" dirty="0" err="1"/>
              <a:t>Sunan</a:t>
            </a:r>
            <a:r>
              <a:rPr lang="en-US" i="1" dirty="0"/>
              <a:t> </a:t>
            </a:r>
            <a:r>
              <a:rPr lang="en-US" i="1" dirty="0" err="1"/>
              <a:t>ibn</a:t>
            </a:r>
            <a:r>
              <a:rPr lang="en-US" i="1" dirty="0"/>
              <a:t> </a:t>
            </a:r>
            <a:r>
              <a:rPr lang="en-US" i="1" dirty="0" err="1"/>
              <a:t>Majah</a:t>
            </a:r>
            <a:endParaRPr lang="en-US" dirty="0"/>
          </a:p>
        </p:txBody>
      </p:sp>
      <p:sp>
        <p:nvSpPr>
          <p:cNvPr id="3" name="Content Placeholder 2"/>
          <p:cNvSpPr>
            <a:spLocks noGrp="1"/>
          </p:cNvSpPr>
          <p:nvPr>
            <p:ph idx="1"/>
          </p:nvPr>
        </p:nvSpPr>
        <p:spPr/>
        <p:txBody>
          <a:bodyPr/>
          <a:lstStyle/>
          <a:p>
            <a:r>
              <a:rPr lang="en-US" dirty="0"/>
              <a:t>written by Mohammad bin </a:t>
            </a:r>
            <a:r>
              <a:rPr lang="en-US" dirty="0" err="1"/>
              <a:t>Yezid</a:t>
            </a:r>
            <a:r>
              <a:rPr lang="en-US" dirty="0"/>
              <a:t> ibn </a:t>
            </a:r>
            <a:r>
              <a:rPr lang="en-US" dirty="0" err="1"/>
              <a:t>Majah</a:t>
            </a:r>
            <a:r>
              <a:rPr lang="en-US" dirty="0"/>
              <a:t> during 209-273.AH</a:t>
            </a:r>
          </a:p>
          <a:p>
            <a:r>
              <a:rPr lang="en-US" b="0" i="0" dirty="0">
                <a:effectLst/>
                <a:latin typeface="Arial" panose="020B0604020202020204" pitchFamily="34" charset="0"/>
              </a:rPr>
              <a:t>It contains over 4,000 </a:t>
            </a:r>
            <a:r>
              <a:rPr lang="en-US" b="0" i="0" u="none" strike="noStrike" dirty="0" err="1">
                <a:effectLst/>
                <a:latin typeface="Arial" panose="020B0604020202020204" pitchFamily="34" charset="0"/>
                <a:hlinkClick r:id="rId2" tooltip="Hadith">
                  <a:extLst>
                    <a:ext uri="{A12FA001-AC4F-418D-AE19-62706E023703}">
                      <ahyp:hlinkClr xmlns:ahyp="http://schemas.microsoft.com/office/drawing/2018/hyperlinkcolor" val="tx"/>
                    </a:ext>
                  </a:extLst>
                </a:hlinkClick>
              </a:rPr>
              <a:t>aḥādīth</a:t>
            </a:r>
            <a:r>
              <a:rPr lang="en-US" b="0" i="0" dirty="0">
                <a:effectLst/>
                <a:latin typeface="Arial" panose="020B0604020202020204" pitchFamily="34" charset="0"/>
              </a:rPr>
              <a:t> in 32 books </a:t>
            </a:r>
            <a:r>
              <a:rPr lang="en-US" b="0" i="1" dirty="0">
                <a:effectLst/>
                <a:latin typeface="Arial" panose="020B0604020202020204" pitchFamily="34" charset="0"/>
              </a:rPr>
              <a:t>(</a:t>
            </a:r>
            <a:r>
              <a:rPr lang="en-US" b="0" i="1" dirty="0" err="1">
                <a:effectLst/>
                <a:latin typeface="Arial" panose="020B0604020202020204" pitchFamily="34" charset="0"/>
              </a:rPr>
              <a:t>kutub</a:t>
            </a:r>
            <a:r>
              <a:rPr lang="en-US" b="0" i="1" dirty="0">
                <a:effectLst/>
                <a:latin typeface="Arial" panose="020B0604020202020204" pitchFamily="34" charset="0"/>
              </a:rPr>
              <a:t>)</a:t>
            </a:r>
            <a:r>
              <a:rPr lang="en-US" b="0" i="0" dirty="0">
                <a:effectLst/>
                <a:latin typeface="Arial" panose="020B0604020202020204" pitchFamily="34" charset="0"/>
              </a:rPr>
              <a:t> divided into 1,500 chapters </a:t>
            </a:r>
            <a:r>
              <a:rPr lang="en-US" b="0" i="1" dirty="0">
                <a:effectLst/>
                <a:latin typeface="Arial" panose="020B0604020202020204" pitchFamily="34" charset="0"/>
              </a:rPr>
              <a:t>(</a:t>
            </a:r>
            <a:r>
              <a:rPr lang="en-US" b="0" i="1" dirty="0" err="1">
                <a:effectLst/>
                <a:latin typeface="Arial" panose="020B0604020202020204" pitchFamily="34" charset="0"/>
              </a:rPr>
              <a:t>abwāb</a:t>
            </a:r>
            <a:r>
              <a:rPr lang="en-US" b="0" i="1" dirty="0">
                <a:effectLst/>
                <a:latin typeface="Arial" panose="020B0604020202020204" pitchFamily="34" charset="0"/>
              </a:rPr>
              <a:t>)</a:t>
            </a:r>
            <a:endParaRPr lang="en-US" dirty="0"/>
          </a:p>
        </p:txBody>
      </p:sp>
    </p:spTree>
    <p:extLst>
      <p:ext uri="{BB962C8B-B14F-4D97-AF65-F5344CB8AC3E}">
        <p14:creationId xmlns:p14="http://schemas.microsoft.com/office/powerpoint/2010/main" val="408835929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SHI’A BOOKS- </a:t>
            </a:r>
            <a:r>
              <a:rPr lang="en-US" sz="2400" dirty="0" err="1"/>
              <a:t>Usool</a:t>
            </a:r>
            <a:r>
              <a:rPr lang="en-US" sz="2400" dirty="0"/>
              <a:t> e </a:t>
            </a:r>
            <a:r>
              <a:rPr lang="en-US" sz="2400" dirty="0" err="1"/>
              <a:t>arbae</a:t>
            </a:r>
            <a:r>
              <a:rPr lang="en-US" sz="2400" dirty="0"/>
              <a:t> ( four principle )</a:t>
            </a:r>
          </a:p>
        </p:txBody>
      </p:sp>
      <p:sp>
        <p:nvSpPr>
          <p:cNvPr id="3" name="Subtitle 2"/>
          <p:cNvSpPr>
            <a:spLocks noGrp="1"/>
          </p:cNvSpPr>
          <p:nvPr>
            <p:ph type="subTitle" idx="1"/>
          </p:nvPr>
        </p:nvSpPr>
        <p:spPr/>
        <p:txBody>
          <a:bodyPr/>
          <a:lstStyle/>
          <a:p>
            <a:r>
              <a:rPr lang="en-US" dirty="0"/>
              <a:t>Authentic books of Shia’s were also compiled during that period</a:t>
            </a:r>
          </a:p>
        </p:txBody>
      </p:sp>
    </p:spTree>
    <p:extLst>
      <p:ext uri="{BB962C8B-B14F-4D97-AF65-F5344CB8AC3E}">
        <p14:creationId xmlns:p14="http://schemas.microsoft.com/office/powerpoint/2010/main" val="32256440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sz="2800" dirty="0"/>
              <a:t>(</a:t>
            </a:r>
            <a:r>
              <a:rPr lang="en-US" sz="4000" dirty="0"/>
              <a:t>1)</a:t>
            </a:r>
            <a:r>
              <a:rPr lang="en-US" sz="4000" b="1" dirty="0"/>
              <a:t>Al-</a:t>
            </a:r>
            <a:r>
              <a:rPr lang="en-US" sz="4000" b="1" dirty="0" err="1"/>
              <a:t>Kafi</a:t>
            </a:r>
            <a:r>
              <a:rPr lang="en-US" sz="4000" b="1" dirty="0"/>
              <a:t> fi </a:t>
            </a:r>
            <a:r>
              <a:rPr lang="en-US" sz="4000" b="1" dirty="0" err="1"/>
              <a:t>ilm</a:t>
            </a:r>
            <a:r>
              <a:rPr lang="en-US" sz="4000" b="1" dirty="0"/>
              <a:t> UD </a:t>
            </a:r>
            <a:r>
              <a:rPr lang="en-US" sz="4000" b="1" dirty="0" err="1"/>
              <a:t>deen</a:t>
            </a:r>
            <a:r>
              <a:rPr lang="en-US" sz="2800" b="1" dirty="0"/>
              <a:t> </a:t>
            </a:r>
            <a:r>
              <a:rPr lang="en-US" sz="1800" i="1" dirty="0"/>
              <a:t>(the sufficient in the science of religion)</a:t>
            </a:r>
            <a:endParaRPr lang="en-US" sz="2800" dirty="0"/>
          </a:p>
        </p:txBody>
      </p:sp>
      <p:sp>
        <p:nvSpPr>
          <p:cNvPr id="3" name="Content Placeholder 2"/>
          <p:cNvSpPr>
            <a:spLocks noGrp="1"/>
          </p:cNvSpPr>
          <p:nvPr>
            <p:ph idx="1"/>
          </p:nvPr>
        </p:nvSpPr>
        <p:spPr/>
        <p:txBody>
          <a:bodyPr/>
          <a:lstStyle/>
          <a:p>
            <a:r>
              <a:rPr lang="en-US" dirty="0"/>
              <a:t>it was written by Abu </a:t>
            </a:r>
            <a:r>
              <a:rPr lang="en-US" dirty="0" err="1"/>
              <a:t>J’afar</a:t>
            </a:r>
            <a:r>
              <a:rPr lang="en-US" dirty="0"/>
              <a:t> </a:t>
            </a:r>
            <a:r>
              <a:rPr lang="en-US" dirty="0" err="1"/>
              <a:t>Muhammed</a:t>
            </a:r>
            <a:r>
              <a:rPr lang="en-US" dirty="0"/>
              <a:t> who died in 339 AH.</a:t>
            </a:r>
          </a:p>
        </p:txBody>
      </p:sp>
    </p:spTree>
    <p:extLst>
      <p:ext uri="{BB962C8B-B14F-4D97-AF65-F5344CB8AC3E}">
        <p14:creationId xmlns:p14="http://schemas.microsoft.com/office/powerpoint/2010/main" val="5916284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en-US" b="1" dirty="0"/>
              <a:t>Al-</a:t>
            </a:r>
            <a:r>
              <a:rPr lang="en-US" b="1" dirty="0" err="1"/>
              <a:t>Istibsar</a:t>
            </a:r>
            <a:r>
              <a:rPr lang="en-US" b="1" dirty="0"/>
              <a:t> </a:t>
            </a:r>
            <a:r>
              <a:rPr lang="en-US" sz="2400" i="1" dirty="0"/>
              <a:t>(the </a:t>
            </a:r>
            <a:r>
              <a:rPr lang="en-US" sz="2400" i="1" dirty="0" err="1"/>
              <a:t>prespective</a:t>
            </a:r>
            <a:r>
              <a:rPr lang="en-US" sz="2400" i="1" dirty="0"/>
              <a:t>)</a:t>
            </a:r>
            <a:endParaRPr lang="en-US" dirty="0"/>
          </a:p>
        </p:txBody>
      </p:sp>
      <p:sp>
        <p:nvSpPr>
          <p:cNvPr id="3" name="Content Placeholder 2"/>
          <p:cNvSpPr>
            <a:spLocks noGrp="1"/>
          </p:cNvSpPr>
          <p:nvPr>
            <p:ph idx="1"/>
          </p:nvPr>
        </p:nvSpPr>
        <p:spPr/>
        <p:txBody>
          <a:bodyPr/>
          <a:lstStyle/>
          <a:p>
            <a:r>
              <a:rPr lang="en-US" dirty="0"/>
              <a:t>written by Abu </a:t>
            </a:r>
            <a:r>
              <a:rPr lang="en-US" dirty="0" err="1"/>
              <a:t>J’afar</a:t>
            </a:r>
            <a:r>
              <a:rPr lang="en-US" dirty="0"/>
              <a:t> Bin Al </a:t>
            </a:r>
            <a:r>
              <a:rPr lang="en-US"/>
              <a:t>Hassan </a:t>
            </a:r>
            <a:endParaRPr lang="en-US" dirty="0"/>
          </a:p>
        </p:txBody>
      </p:sp>
    </p:spTree>
    <p:extLst>
      <p:ext uri="{BB962C8B-B14F-4D97-AF65-F5344CB8AC3E}">
        <p14:creationId xmlns:p14="http://schemas.microsoft.com/office/powerpoint/2010/main" val="16584840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8248" y="458720"/>
            <a:ext cx="9905998" cy="1478570"/>
          </a:xfrm>
        </p:spPr>
        <p:txBody>
          <a:bodyPr/>
          <a:lstStyle/>
          <a:p>
            <a:r>
              <a:rPr lang="en-US" sz="2800" dirty="0"/>
              <a:t>(3) </a:t>
            </a:r>
            <a:r>
              <a:rPr lang="en-US" sz="2800" b="1" dirty="0"/>
              <a:t>Tehzeeb-ul-</a:t>
            </a:r>
            <a:r>
              <a:rPr lang="en-US" sz="2800" b="1" dirty="0" err="1"/>
              <a:t>Ahkam</a:t>
            </a:r>
            <a:r>
              <a:rPr lang="en-US" sz="2800" i="1" dirty="0"/>
              <a:t> </a:t>
            </a:r>
            <a:r>
              <a:rPr lang="en-US" sz="2000" i="1" dirty="0"/>
              <a:t>(the revision of </a:t>
            </a:r>
            <a:r>
              <a:rPr lang="en-US" sz="2000" i="1" dirty="0" err="1"/>
              <a:t>judgemens</a:t>
            </a:r>
            <a:r>
              <a:rPr lang="en-US" sz="2000" i="1" dirty="0"/>
              <a:t>)</a:t>
            </a:r>
            <a:endParaRPr lang="en-US" sz="2800" dirty="0"/>
          </a:p>
        </p:txBody>
      </p:sp>
      <p:sp>
        <p:nvSpPr>
          <p:cNvPr id="3" name="Content Placeholder 2"/>
          <p:cNvSpPr>
            <a:spLocks noGrp="1"/>
          </p:cNvSpPr>
          <p:nvPr>
            <p:ph idx="1"/>
          </p:nvPr>
        </p:nvSpPr>
        <p:spPr/>
        <p:txBody>
          <a:bodyPr/>
          <a:lstStyle/>
          <a:p>
            <a:r>
              <a:rPr lang="en-US" dirty="0"/>
              <a:t>written by Abu </a:t>
            </a:r>
            <a:r>
              <a:rPr lang="en-US" dirty="0" err="1"/>
              <a:t>J’afar</a:t>
            </a:r>
            <a:r>
              <a:rPr lang="en-US" dirty="0"/>
              <a:t> Mohammed Bin Al Hassan</a:t>
            </a:r>
          </a:p>
        </p:txBody>
      </p:sp>
    </p:spTree>
    <p:extLst>
      <p:ext uri="{BB962C8B-B14F-4D97-AF65-F5344CB8AC3E}">
        <p14:creationId xmlns:p14="http://schemas.microsoft.com/office/powerpoint/2010/main" val="331387790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a:t>
            </a:r>
            <a:r>
              <a:rPr lang="en-US" sz="3200" b="1" i="1" dirty="0"/>
              <a:t>4)Man la </a:t>
            </a:r>
            <a:r>
              <a:rPr lang="en-US" sz="3200" b="1" i="1" dirty="0" err="1"/>
              <a:t>Yahzoroh</a:t>
            </a:r>
            <a:r>
              <a:rPr lang="en-US" sz="3200" b="1" i="1" dirty="0"/>
              <a:t> </a:t>
            </a:r>
            <a:r>
              <a:rPr lang="en-US" sz="3200" b="1" i="1" dirty="0" err="1"/>
              <a:t>ul</a:t>
            </a:r>
            <a:r>
              <a:rPr lang="en-US" sz="3200" b="1" i="1" dirty="0"/>
              <a:t> </a:t>
            </a:r>
            <a:r>
              <a:rPr lang="en-US" sz="3200" b="1" i="1" dirty="0" err="1"/>
              <a:t>Fiqh</a:t>
            </a:r>
            <a:r>
              <a:rPr lang="en-US" sz="2800" i="1" dirty="0"/>
              <a:t> </a:t>
            </a:r>
            <a:r>
              <a:rPr lang="en-US" sz="1800" i="1" dirty="0"/>
              <a:t>(one who has no legal expert present)</a:t>
            </a:r>
            <a:endParaRPr lang="en-US" sz="2800" dirty="0"/>
          </a:p>
        </p:txBody>
      </p:sp>
      <p:sp>
        <p:nvSpPr>
          <p:cNvPr id="3" name="Content Placeholder 2"/>
          <p:cNvSpPr>
            <a:spLocks noGrp="1"/>
          </p:cNvSpPr>
          <p:nvPr>
            <p:ph idx="1"/>
          </p:nvPr>
        </p:nvSpPr>
        <p:spPr/>
        <p:txBody>
          <a:bodyPr/>
          <a:lstStyle/>
          <a:p>
            <a:r>
              <a:rPr lang="en-US" dirty="0"/>
              <a:t>written by Abu </a:t>
            </a:r>
            <a:r>
              <a:rPr lang="en-US" dirty="0" err="1"/>
              <a:t>J’afar</a:t>
            </a:r>
            <a:r>
              <a:rPr lang="en-US" dirty="0"/>
              <a:t> Muhammad’ Ali</a:t>
            </a:r>
          </a:p>
        </p:txBody>
      </p:sp>
    </p:spTree>
    <p:extLst>
      <p:ext uri="{BB962C8B-B14F-4D97-AF65-F5344CB8AC3E}">
        <p14:creationId xmlns:p14="http://schemas.microsoft.com/office/powerpoint/2010/main" val="7223522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Twenty selected </a:t>
            </a:r>
            <a:r>
              <a:rPr lang="en-US" dirty="0" err="1"/>
              <a:t>ahadith</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0020437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65265" y="1210616"/>
            <a:ext cx="10302239" cy="1326522"/>
          </a:xfrm>
        </p:spPr>
        <p:txBody>
          <a:bodyPr/>
          <a:lstStyle/>
          <a:p>
            <a:r>
              <a:rPr lang="fa-IR" dirty="0"/>
              <a:t>حديث </a:t>
            </a:r>
            <a:r>
              <a:rPr lang="fa-IR" sz="2800" dirty="0"/>
              <a:t>1</a:t>
            </a:r>
            <a:r>
              <a:rPr lang="fa-IR" dirty="0"/>
              <a:t>. ان الله يحب ان يريٰ اثر نعمته علٰي عبده </a:t>
            </a:r>
            <a:endParaRPr lang="en-US" dirty="0"/>
          </a:p>
        </p:txBody>
      </p:sp>
      <p:sp>
        <p:nvSpPr>
          <p:cNvPr id="3" name="Subtitle 2"/>
          <p:cNvSpPr>
            <a:spLocks noGrp="1"/>
          </p:cNvSpPr>
          <p:nvPr>
            <p:ph type="subTitle" idx="1"/>
          </p:nvPr>
        </p:nvSpPr>
        <p:spPr>
          <a:xfrm>
            <a:off x="565266" y="3075709"/>
            <a:ext cx="10302239" cy="3029989"/>
          </a:xfrm>
        </p:spPr>
        <p:txBody>
          <a:bodyPr>
            <a:normAutofit/>
          </a:bodyPr>
          <a:lstStyle/>
          <a:p>
            <a:r>
              <a:rPr lang="en-US" sz="4000" dirty="0">
                <a:latin typeface="Algerian" panose="04020705040A02060702" pitchFamily="82" charset="0"/>
              </a:rPr>
              <a:t>ALLAH LIKES TO SEE THE SIGNS OF HIS BLESSING CONSPICIOUS ON HIS BONDSMAN</a:t>
            </a:r>
          </a:p>
        </p:txBody>
      </p:sp>
    </p:spTree>
    <p:extLst>
      <p:ext uri="{BB962C8B-B14F-4D97-AF65-F5344CB8AC3E}">
        <p14:creationId xmlns:p14="http://schemas.microsoft.com/office/powerpoint/2010/main" val="105347113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7288" y="1498810"/>
            <a:ext cx="8248454" cy="1281141"/>
          </a:xfrm>
        </p:spPr>
        <p:txBody>
          <a:bodyPr>
            <a:noAutofit/>
          </a:bodyPr>
          <a:lstStyle/>
          <a:p>
            <a:pPr algn="r" rtl="1"/>
            <a:r>
              <a:rPr lang="fa-IR" b="1" dirty="0"/>
              <a:t>2</a:t>
            </a:r>
            <a:r>
              <a:rPr lang="fa-IR" sz="4800" b="1" dirty="0"/>
              <a:t>. </a:t>
            </a:r>
            <a:r>
              <a:rPr lang="fa-IR" sz="4800" dirty="0"/>
              <a:t>اذا نظر احدڪم الٰي من فضل عليه في المال و الخلق فلينظرالٰي من هو اسفل منه</a:t>
            </a:r>
            <a:endParaRPr lang="en-US" sz="4800" dirty="0"/>
          </a:p>
        </p:txBody>
      </p:sp>
      <p:sp>
        <p:nvSpPr>
          <p:cNvPr id="3" name="Content Placeholder 2"/>
          <p:cNvSpPr>
            <a:spLocks noGrp="1"/>
          </p:cNvSpPr>
          <p:nvPr>
            <p:ph idx="1"/>
          </p:nvPr>
        </p:nvSpPr>
        <p:spPr>
          <a:xfrm>
            <a:off x="1141412" y="3567447"/>
            <a:ext cx="9905999" cy="2223753"/>
          </a:xfrm>
        </p:spPr>
        <p:txBody>
          <a:bodyPr/>
          <a:lstStyle/>
          <a:p>
            <a:r>
              <a:rPr lang="en-US" dirty="0"/>
              <a:t>IF ANY ONE AMONGEST YOU SEES A PERSON BETTER THAN HIM IN RESPECT OHEALTH, WEALTH OR APPEARANCE. HE SHOULD LOOK AT A PERSON WHO IF SINFERIOR TO HIM  IN THIS </a:t>
            </a:r>
            <a:r>
              <a:rPr lang="en-US" sz="2800" dirty="0"/>
              <a:t>REGARD</a:t>
            </a:r>
            <a:r>
              <a:rPr lang="en-US" dirty="0"/>
              <a:t>.</a:t>
            </a:r>
          </a:p>
        </p:txBody>
      </p:sp>
    </p:spTree>
    <p:extLst>
      <p:ext uri="{BB962C8B-B14F-4D97-AF65-F5344CB8AC3E}">
        <p14:creationId xmlns:p14="http://schemas.microsoft.com/office/powerpoint/2010/main" val="36840525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r"/>
            <a:r>
              <a:rPr lang="fa-IR" sz="4000" dirty="0"/>
              <a:t>3</a:t>
            </a:r>
            <a:r>
              <a:rPr lang="fa-IR" sz="5400" dirty="0"/>
              <a:t>. اذا احب الرجل اخاه فليخبره انه يحبه</a:t>
            </a:r>
            <a:br>
              <a:rPr lang="en-US" sz="5400" dirty="0"/>
            </a:br>
            <a:endParaRPr lang="en-US" sz="5400" dirty="0"/>
          </a:p>
        </p:txBody>
      </p:sp>
      <p:sp>
        <p:nvSpPr>
          <p:cNvPr id="3" name="Content Placeholder 2"/>
          <p:cNvSpPr>
            <a:spLocks noGrp="1"/>
          </p:cNvSpPr>
          <p:nvPr>
            <p:ph idx="1"/>
          </p:nvPr>
        </p:nvSpPr>
        <p:spPr>
          <a:xfrm>
            <a:off x="909592" y="2326760"/>
            <a:ext cx="9905999" cy="3541714"/>
          </a:xfrm>
        </p:spPr>
        <p:txBody>
          <a:bodyPr/>
          <a:lstStyle/>
          <a:p>
            <a:r>
              <a:rPr lang="en-US" sz="4000" cap="all" dirty="0">
                <a:solidFill>
                  <a:schemeClr val="tx2"/>
                </a:solidFill>
                <a:latin typeface="Algerian" panose="04020705040A02060702" pitchFamily="82" charset="0"/>
              </a:rPr>
              <a:t>WHEN A PERSON LOVES ANOTHER MAN(HIS BROTHER) HE SHOULD INFORM HIM THAT HE LOVES HIM</a:t>
            </a:r>
          </a:p>
        </p:txBody>
      </p:sp>
    </p:spTree>
    <p:extLst>
      <p:ext uri="{BB962C8B-B14F-4D97-AF65-F5344CB8AC3E}">
        <p14:creationId xmlns:p14="http://schemas.microsoft.com/office/powerpoint/2010/main" val="41492522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a:r>
              <a:rPr lang="fa-IR" dirty="0"/>
              <a:t>4</a:t>
            </a:r>
            <a:r>
              <a:rPr lang="fa-IR" sz="4800" dirty="0"/>
              <a:t>. اذا طبخت مرقه فاڪثر ماءها و تعاهد جيرانڪ</a:t>
            </a:r>
            <a:br>
              <a:rPr lang="en-US" sz="4800" dirty="0"/>
            </a:br>
            <a:endParaRPr lang="en-US" sz="4800" dirty="0"/>
          </a:p>
        </p:txBody>
      </p:sp>
      <p:sp>
        <p:nvSpPr>
          <p:cNvPr id="3" name="Content Placeholder 2"/>
          <p:cNvSpPr>
            <a:spLocks noGrp="1"/>
          </p:cNvSpPr>
          <p:nvPr>
            <p:ph idx="1"/>
          </p:nvPr>
        </p:nvSpPr>
        <p:spPr/>
        <p:txBody>
          <a:bodyPr/>
          <a:lstStyle/>
          <a:p>
            <a:r>
              <a:rPr lang="en-US" sz="4000" cap="all" dirty="0">
                <a:solidFill>
                  <a:schemeClr val="tx2"/>
                </a:solidFill>
                <a:latin typeface="Algerian" panose="04020705040A02060702" pitchFamily="82" charset="0"/>
              </a:rPr>
              <a:t>WHEN YOU COOK A CURRY, YOU SHOULD ADD SOME WATER IN IT, AND SEND TO YOU NEIGHBOUR TOO</a:t>
            </a:r>
            <a:r>
              <a:rPr lang="en-US" dirty="0"/>
              <a:t>.</a:t>
            </a:r>
          </a:p>
        </p:txBody>
      </p:sp>
    </p:spTree>
    <p:extLst>
      <p:ext uri="{BB962C8B-B14F-4D97-AF65-F5344CB8AC3E}">
        <p14:creationId xmlns:p14="http://schemas.microsoft.com/office/powerpoint/2010/main" val="397722307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dirty="0"/>
              <a:t>5</a:t>
            </a:r>
            <a:r>
              <a:rPr lang="fa-IR" sz="5400" dirty="0"/>
              <a:t>. افضل الجهاد کلمه عدل عند سلطان جابر</a:t>
            </a:r>
            <a:endParaRPr lang="en-US" sz="5400" dirty="0"/>
          </a:p>
        </p:txBody>
      </p:sp>
      <p:sp>
        <p:nvSpPr>
          <p:cNvPr id="3" name="Content Placeholder 2"/>
          <p:cNvSpPr>
            <a:spLocks noGrp="1"/>
          </p:cNvSpPr>
          <p:nvPr>
            <p:ph idx="1"/>
          </p:nvPr>
        </p:nvSpPr>
        <p:spPr/>
        <p:txBody>
          <a:bodyPr/>
          <a:lstStyle/>
          <a:p>
            <a:r>
              <a:rPr lang="en-US" sz="4000" cap="all" dirty="0">
                <a:solidFill>
                  <a:schemeClr val="tx2"/>
                </a:solidFill>
                <a:latin typeface="Algerian" panose="04020705040A02060702" pitchFamily="82" charset="0"/>
              </a:rPr>
              <a:t>UTTERING( SPEAKING) RIGHTFUL WORDS BEFORE A CRUEL KING IS THE BEST JEHAD</a:t>
            </a:r>
          </a:p>
        </p:txBody>
      </p:sp>
    </p:spTree>
    <p:extLst>
      <p:ext uri="{BB962C8B-B14F-4D97-AF65-F5344CB8AC3E}">
        <p14:creationId xmlns:p14="http://schemas.microsoft.com/office/powerpoint/2010/main" val="187064175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r" rtl="1"/>
            <a:r>
              <a:rPr lang="fa-IR" sz="3200" dirty="0"/>
              <a:t>6</a:t>
            </a:r>
            <a:r>
              <a:rPr lang="fa-IR" sz="4400" dirty="0"/>
              <a:t>.آيت المنافق ثلاث اذا حدث کذب واذا وعداخلف واذائتمن خان وان صام وصلٰي وزعم انه مسلم</a:t>
            </a:r>
            <a:endParaRPr lang="en-US" sz="4400" dirty="0"/>
          </a:p>
        </p:txBody>
      </p:sp>
      <p:sp>
        <p:nvSpPr>
          <p:cNvPr id="3" name="Content Placeholder 2"/>
          <p:cNvSpPr>
            <a:spLocks noGrp="1"/>
          </p:cNvSpPr>
          <p:nvPr>
            <p:ph idx="1"/>
          </p:nvPr>
        </p:nvSpPr>
        <p:spPr/>
        <p:txBody>
          <a:bodyPr/>
          <a:lstStyle/>
          <a:p>
            <a:r>
              <a:rPr lang="en-US" dirty="0"/>
              <a:t>A HYPOCRITE HAS THREE SINGNS: </a:t>
            </a:r>
          </a:p>
          <a:p>
            <a:r>
              <a:rPr lang="en-US" dirty="0"/>
              <a:t>WHEN HE SPESK, HE LIES</a:t>
            </a:r>
          </a:p>
          <a:p>
            <a:r>
              <a:rPr lang="en-US" dirty="0"/>
              <a:t>WHEN HE PROMISES, HE BREAKS IT</a:t>
            </a:r>
          </a:p>
          <a:p>
            <a:r>
              <a:rPr lang="en-US" dirty="0"/>
              <a:t>WHEN HE IS GIVEN TRUST, HE EMBEZZLES IN IT.</a:t>
            </a:r>
          </a:p>
          <a:p>
            <a:r>
              <a:rPr lang="en-US" dirty="0"/>
              <a:t>HE MAY FAST, PRAY AND THINK</a:t>
            </a:r>
            <a:r>
              <a:rPr lang="en-US" sz="2800" dirty="0"/>
              <a:t>s</a:t>
            </a:r>
            <a:r>
              <a:rPr lang="en-US" dirty="0"/>
              <a:t> HIMSELF TO BE A MUSLIM</a:t>
            </a:r>
          </a:p>
        </p:txBody>
      </p:sp>
    </p:spTree>
    <p:extLst>
      <p:ext uri="{BB962C8B-B14F-4D97-AF65-F5344CB8AC3E}">
        <p14:creationId xmlns:p14="http://schemas.microsoft.com/office/powerpoint/2010/main" val="12970609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887768"/>
            <a:ext cx="9905998" cy="2050742"/>
          </a:xfrm>
        </p:spPr>
        <p:txBody>
          <a:bodyPr>
            <a:noAutofit/>
          </a:bodyPr>
          <a:lstStyle/>
          <a:p>
            <a:pPr algn="r"/>
            <a:r>
              <a:rPr lang="fa-IR" sz="2800" dirty="0"/>
              <a:t>7</a:t>
            </a:r>
            <a:r>
              <a:rPr lang="fa-IR" sz="4400" dirty="0"/>
              <a:t>.اتقوا الشح فان اشح اهلڪ من کان قبلڪم حملهم علٰي ان سفکو دماءَهم وستحلوا محارمهم</a:t>
            </a:r>
            <a:br>
              <a:rPr lang="en-US" sz="4400" dirty="0"/>
            </a:br>
            <a:endParaRPr lang="en-US" sz="4400" dirty="0"/>
          </a:p>
        </p:txBody>
      </p:sp>
      <p:sp>
        <p:nvSpPr>
          <p:cNvPr id="3" name="Content Placeholder 2"/>
          <p:cNvSpPr>
            <a:spLocks noGrp="1"/>
          </p:cNvSpPr>
          <p:nvPr>
            <p:ph idx="1"/>
          </p:nvPr>
        </p:nvSpPr>
        <p:spPr>
          <a:xfrm>
            <a:off x="1141412" y="3089429"/>
            <a:ext cx="9905999" cy="2701772"/>
          </a:xfrm>
        </p:spPr>
        <p:txBody>
          <a:bodyPr/>
          <a:lstStyle/>
          <a:p>
            <a:r>
              <a:rPr lang="en-US" dirty="0"/>
              <a:t>SAVE YOUSELF FROM GREED, BECAUSE IT HAS DESTROYED MANY PEOPLE BEFORE YOU. THIS EVIL HAS URGED PEOPLE TO  ATTACK THEM AND SHED THEIR BLOOD AND MADE THEIR UNLAFULS AS LAWFUL. </a:t>
            </a:r>
          </a:p>
        </p:txBody>
      </p:sp>
    </p:spTree>
    <p:extLst>
      <p:ext uri="{BB962C8B-B14F-4D97-AF65-F5344CB8AC3E}">
        <p14:creationId xmlns:p14="http://schemas.microsoft.com/office/powerpoint/2010/main" val="40084474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559294"/>
            <a:ext cx="9905998" cy="2246050"/>
          </a:xfrm>
        </p:spPr>
        <p:txBody>
          <a:bodyPr>
            <a:noAutofit/>
          </a:bodyPr>
          <a:lstStyle/>
          <a:p>
            <a:pPr algn="r"/>
            <a:r>
              <a:rPr lang="fa-IR" sz="3200" dirty="0"/>
              <a:t>8</a:t>
            </a:r>
            <a:r>
              <a:rPr lang="fa-IR" sz="4000" dirty="0"/>
              <a:t>.عن النواس بن سمعان رضه عن النبي صه قال سالت رسول الله صه عن البروالاثم، قال البر حسن الخلق والاثم</a:t>
            </a:r>
            <a:br>
              <a:rPr lang="en-US" sz="4000" dirty="0"/>
            </a:br>
            <a:r>
              <a:rPr lang="fa-IR" sz="4000" dirty="0"/>
              <a:t> ما حاڪ في صدرڪ وڪرهت ان يطلع عليه الناس</a:t>
            </a:r>
            <a:br>
              <a:rPr lang="en-US" sz="4000" dirty="0"/>
            </a:br>
            <a:endParaRPr lang="en-US" sz="4000" dirty="0"/>
          </a:p>
        </p:txBody>
      </p:sp>
      <p:sp>
        <p:nvSpPr>
          <p:cNvPr id="3" name="Content Placeholder 2"/>
          <p:cNvSpPr>
            <a:spLocks noGrp="1"/>
          </p:cNvSpPr>
          <p:nvPr>
            <p:ph idx="1"/>
          </p:nvPr>
        </p:nvSpPr>
        <p:spPr>
          <a:xfrm>
            <a:off x="816779" y="3073735"/>
            <a:ext cx="9905999" cy="3541714"/>
          </a:xfrm>
        </p:spPr>
        <p:txBody>
          <a:bodyPr/>
          <a:lstStyle/>
          <a:p>
            <a:r>
              <a:rPr lang="en-US" dirty="0"/>
              <a:t>HAZRAT NAWAS THE SON OF SAM’AAN (RAA) SAY THAT I HE ASKED HOLY PROPHET ABOUT VIRTUE AND VICE. HE (PROPHET) SAID” VIRTUE IS THE NAME OF GOOD ACT WHILE SIN IS THAT WHICH PRICKS YOUR HEART AND YOU DISLIKE IT TO BE KNOWN TO OTHERS”</a:t>
            </a:r>
          </a:p>
        </p:txBody>
      </p:sp>
    </p:spTree>
    <p:extLst>
      <p:ext uri="{BB962C8B-B14F-4D97-AF65-F5344CB8AC3E}">
        <p14:creationId xmlns:p14="http://schemas.microsoft.com/office/powerpoint/2010/main" val="208519946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r"/>
            <a:r>
              <a:rPr lang="fa-IR" sz="3200" dirty="0"/>
              <a:t>9</a:t>
            </a:r>
            <a:r>
              <a:rPr lang="fa-IR" sz="4400" dirty="0"/>
              <a:t>. حجبت النار بالشهوات وحجبت الجنه با المڪاره</a:t>
            </a:r>
            <a:br>
              <a:rPr lang="en-US" sz="4400" dirty="0"/>
            </a:br>
            <a:endParaRPr lang="en-US" sz="4400" dirty="0"/>
          </a:p>
        </p:txBody>
      </p:sp>
      <p:sp>
        <p:nvSpPr>
          <p:cNvPr id="3" name="Content Placeholder 2"/>
          <p:cNvSpPr>
            <a:spLocks noGrp="1"/>
          </p:cNvSpPr>
          <p:nvPr>
            <p:ph idx="1"/>
          </p:nvPr>
        </p:nvSpPr>
        <p:spPr/>
        <p:txBody>
          <a:bodyPr/>
          <a:lstStyle/>
          <a:p>
            <a:r>
              <a:rPr lang="en-US" dirty="0"/>
              <a:t>HELL IS COVERD WITH LUST AND PRADISE IS COVERD WITH HARDSHIPS</a:t>
            </a:r>
          </a:p>
        </p:txBody>
      </p:sp>
    </p:spTree>
    <p:extLst>
      <p:ext uri="{BB962C8B-B14F-4D97-AF65-F5344CB8AC3E}">
        <p14:creationId xmlns:p14="http://schemas.microsoft.com/office/powerpoint/2010/main" val="11431974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8381" y="966247"/>
            <a:ext cx="9905998" cy="1478570"/>
          </a:xfrm>
        </p:spPr>
        <p:txBody>
          <a:bodyPr>
            <a:normAutofit/>
          </a:bodyPr>
          <a:lstStyle/>
          <a:p>
            <a:pPr algn="r"/>
            <a:r>
              <a:rPr lang="fa-IR" sz="2800" dirty="0"/>
              <a:t>10</a:t>
            </a:r>
            <a:r>
              <a:rPr lang="fa-IR" sz="4800" dirty="0"/>
              <a:t>. دع ما يريبڪ الٰي ما لا يريبڪ</a:t>
            </a:r>
            <a:br>
              <a:rPr lang="en-US" sz="4800" dirty="0"/>
            </a:br>
            <a:endParaRPr lang="en-US" sz="4800" dirty="0"/>
          </a:p>
        </p:txBody>
      </p:sp>
      <p:sp>
        <p:nvSpPr>
          <p:cNvPr id="3" name="Content Placeholder 2"/>
          <p:cNvSpPr>
            <a:spLocks noGrp="1"/>
          </p:cNvSpPr>
          <p:nvPr>
            <p:ph idx="1"/>
          </p:nvPr>
        </p:nvSpPr>
        <p:spPr>
          <a:xfrm>
            <a:off x="1038381" y="3060856"/>
            <a:ext cx="9905999" cy="3541714"/>
          </a:xfrm>
        </p:spPr>
        <p:txBody>
          <a:bodyPr/>
          <a:lstStyle/>
          <a:p>
            <a:r>
              <a:rPr lang="en-US" dirty="0"/>
              <a:t>AVOID THE DOUBTFUL AND SELECT THE UNDOUBTFUL (CLEAR) </a:t>
            </a:r>
          </a:p>
          <a:p>
            <a:endParaRPr lang="en-US" dirty="0"/>
          </a:p>
        </p:txBody>
      </p:sp>
    </p:spTree>
    <p:extLst>
      <p:ext uri="{BB962C8B-B14F-4D97-AF65-F5344CB8AC3E}">
        <p14:creationId xmlns:p14="http://schemas.microsoft.com/office/powerpoint/2010/main" val="15661975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a:r>
              <a:rPr lang="fa-IR" sz="2800" dirty="0"/>
              <a:t>11</a:t>
            </a:r>
            <a:r>
              <a:rPr lang="fa-IR" sz="4800" dirty="0"/>
              <a:t>. الرجل علٰي دين خليله فلينظر احدکم من يخالل</a:t>
            </a:r>
            <a:br>
              <a:rPr lang="en-US" sz="4800" dirty="0"/>
            </a:br>
            <a:endParaRPr lang="en-US" sz="4800" dirty="0"/>
          </a:p>
        </p:txBody>
      </p:sp>
      <p:sp>
        <p:nvSpPr>
          <p:cNvPr id="3" name="Content Placeholder 2"/>
          <p:cNvSpPr>
            <a:spLocks noGrp="1"/>
          </p:cNvSpPr>
          <p:nvPr>
            <p:ph idx="1"/>
          </p:nvPr>
        </p:nvSpPr>
        <p:spPr/>
        <p:txBody>
          <a:bodyPr/>
          <a:lstStyle/>
          <a:p>
            <a:r>
              <a:rPr lang="en-US" dirty="0"/>
              <a:t>A MAN ALWAYS FOLLOWS THE RELIGION OF HIS FRIEND. YOU MUST, THEREFORE,  OBSERVE THE PERSON BEFORE MAKING HIM FRIEND.</a:t>
            </a:r>
          </a:p>
        </p:txBody>
      </p:sp>
    </p:spTree>
    <p:extLst>
      <p:ext uri="{BB962C8B-B14F-4D97-AF65-F5344CB8AC3E}">
        <p14:creationId xmlns:p14="http://schemas.microsoft.com/office/powerpoint/2010/main" val="27817396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r" rtl="1"/>
            <a:r>
              <a:rPr lang="fa-IR" sz="2800" dirty="0"/>
              <a:t>12</a:t>
            </a:r>
            <a:r>
              <a:rPr lang="fa-IR" sz="4400" dirty="0"/>
              <a:t>. الکيس من دان نفسه وعمل لما بعدالموت والعاجز من اتبع نفسه هواها وتمنٰي علي الله الاماني</a:t>
            </a:r>
            <a:endParaRPr lang="en-US" sz="4400" dirty="0"/>
          </a:p>
        </p:txBody>
      </p:sp>
      <p:sp>
        <p:nvSpPr>
          <p:cNvPr id="3" name="Content Placeholder 2"/>
          <p:cNvSpPr>
            <a:spLocks noGrp="1"/>
          </p:cNvSpPr>
          <p:nvPr>
            <p:ph idx="1"/>
          </p:nvPr>
        </p:nvSpPr>
        <p:spPr>
          <a:xfrm>
            <a:off x="1110849" y="2442671"/>
            <a:ext cx="9905999" cy="3541714"/>
          </a:xfrm>
        </p:spPr>
        <p:txBody>
          <a:bodyPr/>
          <a:lstStyle/>
          <a:p>
            <a:r>
              <a:rPr lang="en-US" dirty="0"/>
              <a:t>THE WISE IS ONE WHO SUBDUES HIS INNERSELF AND WORKS FOR THE HEREAFTER, AND THE FOOL IS ONE, WHO FOLLOWS THE DESIRES OF HIS INNERSELF AND EXPECTS GOOD REWARD FROM ALLAH(SWT)</a:t>
            </a:r>
          </a:p>
        </p:txBody>
      </p:sp>
    </p:spTree>
    <p:extLst>
      <p:ext uri="{BB962C8B-B14F-4D97-AF65-F5344CB8AC3E}">
        <p14:creationId xmlns:p14="http://schemas.microsoft.com/office/powerpoint/2010/main" val="12252694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1"/>
            <a:r>
              <a:rPr lang="fa-IR" dirty="0"/>
              <a:t>13.ليس الشديد بالصرعه انماالشديد الذي يملڪ نفسه عندالغضب</a:t>
            </a:r>
            <a:endParaRPr lang="en-US" dirty="0"/>
          </a:p>
        </p:txBody>
      </p:sp>
      <p:sp>
        <p:nvSpPr>
          <p:cNvPr id="3" name="Content Placeholder 2"/>
          <p:cNvSpPr>
            <a:spLocks noGrp="1"/>
          </p:cNvSpPr>
          <p:nvPr>
            <p:ph idx="1"/>
          </p:nvPr>
        </p:nvSpPr>
        <p:spPr/>
        <p:txBody>
          <a:bodyPr/>
          <a:lstStyle/>
          <a:p>
            <a:r>
              <a:rPr lang="en-US" dirty="0"/>
              <a:t>HE IS NOT BRAVE WHO THROWS HID ENEMY ON HIS BACK. BUT, BRAVE IS HE WHO CONTROLLS HIMSELF AT THE TIME OF ANGER</a:t>
            </a:r>
          </a:p>
        </p:txBody>
      </p:sp>
    </p:spTree>
    <p:extLst>
      <p:ext uri="{BB962C8B-B14F-4D97-AF65-F5344CB8AC3E}">
        <p14:creationId xmlns:p14="http://schemas.microsoft.com/office/powerpoint/2010/main" val="253724595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480" y="550417"/>
            <a:ext cx="10283931" cy="2530134"/>
          </a:xfrm>
        </p:spPr>
        <p:txBody>
          <a:bodyPr>
            <a:noAutofit/>
          </a:bodyPr>
          <a:lstStyle/>
          <a:p>
            <a:pPr algn="r"/>
            <a:r>
              <a:rPr lang="fa-IR" sz="2800" dirty="0"/>
              <a:t>14</a:t>
            </a:r>
            <a:r>
              <a:rPr lang="fa-IR" sz="4400" dirty="0"/>
              <a:t>. مروااولادکم بالصلٰواه وهم ابناءُ سبع سنين وضربوهم عليها وهم ابناءُ عشروفرقوبينهم في</a:t>
            </a:r>
            <a:r>
              <a:rPr lang="en-US" sz="4400" dirty="0"/>
              <a:t>             </a:t>
            </a:r>
            <a:br>
              <a:rPr lang="en-US" sz="4400" dirty="0"/>
            </a:br>
            <a:r>
              <a:rPr lang="fa-IR" sz="4400" dirty="0"/>
              <a:t>المضاجع</a:t>
            </a:r>
            <a:br>
              <a:rPr lang="en-US" sz="4400" dirty="0"/>
            </a:br>
            <a:endParaRPr lang="en-US" sz="4400" dirty="0"/>
          </a:p>
        </p:txBody>
      </p:sp>
      <p:sp>
        <p:nvSpPr>
          <p:cNvPr id="3" name="Content Placeholder 2"/>
          <p:cNvSpPr>
            <a:spLocks noGrp="1"/>
          </p:cNvSpPr>
          <p:nvPr>
            <p:ph idx="1"/>
          </p:nvPr>
        </p:nvSpPr>
        <p:spPr>
          <a:xfrm>
            <a:off x="1141412" y="3231471"/>
            <a:ext cx="9905999" cy="2559729"/>
          </a:xfrm>
        </p:spPr>
        <p:txBody>
          <a:bodyPr/>
          <a:lstStyle/>
          <a:p>
            <a:r>
              <a:rPr lang="en-US" dirty="0"/>
              <a:t>ORDER YOUR CHILDREN FOR NAMAZ WHEN THEY REACHE THE AGE OF SEVEN. AND BEAT THEM FOR IT WHEN THEY ARE OF TEN YEARS( IF NECESSARY) AND SEPARATE THEIR BEDS.</a:t>
            </a:r>
          </a:p>
        </p:txBody>
      </p:sp>
    </p:spTree>
    <p:extLst>
      <p:ext uri="{BB962C8B-B14F-4D97-AF65-F5344CB8AC3E}">
        <p14:creationId xmlns:p14="http://schemas.microsoft.com/office/powerpoint/2010/main" val="287883819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2800" dirty="0"/>
              <a:t>15</a:t>
            </a:r>
            <a:r>
              <a:rPr lang="fa-IR" sz="4800" dirty="0"/>
              <a:t>.من دل علٰي خير فله مثل اجر فاعله</a:t>
            </a:r>
            <a:endParaRPr lang="en-US" sz="4800" dirty="0"/>
          </a:p>
        </p:txBody>
      </p:sp>
      <p:sp>
        <p:nvSpPr>
          <p:cNvPr id="3" name="Content Placeholder 2"/>
          <p:cNvSpPr>
            <a:spLocks noGrp="1"/>
          </p:cNvSpPr>
          <p:nvPr>
            <p:ph idx="1"/>
          </p:nvPr>
        </p:nvSpPr>
        <p:spPr/>
        <p:txBody>
          <a:bodyPr/>
          <a:lstStyle/>
          <a:p>
            <a:r>
              <a:rPr lang="en-US" dirty="0"/>
              <a:t>WHO EVER LED A MAN TO RIGHT PATH, HE WILL ALSO GET THE SAME AWRD AS THE PERFORMER  will GET.</a:t>
            </a:r>
          </a:p>
        </p:txBody>
      </p:sp>
    </p:spTree>
    <p:extLst>
      <p:ext uri="{BB962C8B-B14F-4D97-AF65-F5344CB8AC3E}">
        <p14:creationId xmlns:p14="http://schemas.microsoft.com/office/powerpoint/2010/main" val="77944798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r"/>
            <a:r>
              <a:rPr lang="fa-IR" sz="2800" dirty="0"/>
              <a:t>16</a:t>
            </a:r>
            <a:r>
              <a:rPr lang="fa-IR" sz="4400" dirty="0"/>
              <a:t>.من احب ان يبسط له بي رزقه وينساله في اثره فليصل رحمه</a:t>
            </a:r>
            <a:br>
              <a:rPr lang="en-US" sz="4400" dirty="0"/>
            </a:br>
            <a:endParaRPr lang="en-US" sz="4400" dirty="0"/>
          </a:p>
        </p:txBody>
      </p:sp>
      <p:sp>
        <p:nvSpPr>
          <p:cNvPr id="3" name="Content Placeholder 2"/>
          <p:cNvSpPr>
            <a:spLocks noGrp="1"/>
          </p:cNvSpPr>
          <p:nvPr>
            <p:ph idx="1"/>
          </p:nvPr>
        </p:nvSpPr>
        <p:spPr/>
        <p:txBody>
          <a:bodyPr/>
          <a:lstStyle/>
          <a:p>
            <a:r>
              <a:rPr lang="en-US" dirty="0"/>
              <a:t>WHOEVER WISHES THAT HIS SUSTENANCE AND LIFE SHOULD BE INCREASED. HE SOULD ADOPT GOOD ATTITUED TOWARD HIS RELATIVES.</a:t>
            </a:r>
          </a:p>
        </p:txBody>
      </p:sp>
    </p:spTree>
    <p:extLst>
      <p:ext uri="{BB962C8B-B14F-4D97-AF65-F5344CB8AC3E}">
        <p14:creationId xmlns:p14="http://schemas.microsoft.com/office/powerpoint/2010/main" val="38597233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2800" dirty="0"/>
              <a:t>7</a:t>
            </a:r>
            <a:r>
              <a:rPr lang="en-US" sz="2800" dirty="0"/>
              <a:t>1</a:t>
            </a:r>
            <a:r>
              <a:rPr lang="fa-IR" sz="4000" dirty="0"/>
              <a:t>.ليس</a:t>
            </a:r>
            <a:r>
              <a:rPr lang="fa-IR" dirty="0"/>
              <a:t> </a:t>
            </a:r>
            <a:r>
              <a:rPr lang="fa-IR" sz="4000" dirty="0"/>
              <a:t>الغنٰي عن کثره العرض ولٰکن الغنٰي عني النفس</a:t>
            </a:r>
            <a:endParaRPr lang="en-US" sz="4000" dirty="0"/>
          </a:p>
        </p:txBody>
      </p:sp>
      <p:sp>
        <p:nvSpPr>
          <p:cNvPr id="3" name="Content Placeholder 2"/>
          <p:cNvSpPr>
            <a:spLocks noGrp="1"/>
          </p:cNvSpPr>
          <p:nvPr>
            <p:ph idx="1"/>
          </p:nvPr>
        </p:nvSpPr>
        <p:spPr/>
        <p:txBody>
          <a:bodyPr/>
          <a:lstStyle/>
          <a:p>
            <a:r>
              <a:rPr lang="en-US" dirty="0"/>
              <a:t>NON HANKRING DOES NOT COME OUT OF THE ABUNDANCE OF WEALTH AND ASSETS, BUT OUT OF INNERSELF</a:t>
            </a:r>
          </a:p>
        </p:txBody>
      </p:sp>
    </p:spTree>
    <p:extLst>
      <p:ext uri="{BB962C8B-B14F-4D97-AF65-F5344CB8AC3E}">
        <p14:creationId xmlns:p14="http://schemas.microsoft.com/office/powerpoint/2010/main" val="315600777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65826"/>
            <a:ext cx="9905998" cy="2047300"/>
          </a:xfrm>
        </p:spPr>
        <p:txBody>
          <a:bodyPr>
            <a:noAutofit/>
          </a:bodyPr>
          <a:lstStyle/>
          <a:p>
            <a:pPr algn="r"/>
            <a:r>
              <a:rPr lang="fa-IR" sz="2400" dirty="0"/>
              <a:t>18</a:t>
            </a:r>
            <a:r>
              <a:rPr lang="fa-IR" sz="4400" dirty="0"/>
              <a:t>. من راٰي منکم منکرا فليغيره بيده فان لم يستطع فبلسا نه فان لم يستطع فبقلبه وذالڪ اضعف الايمان</a:t>
            </a:r>
            <a:br>
              <a:rPr lang="en-US" sz="4400" dirty="0"/>
            </a:br>
            <a:endParaRPr lang="en-US" sz="4400" dirty="0"/>
          </a:p>
        </p:txBody>
      </p:sp>
      <p:sp>
        <p:nvSpPr>
          <p:cNvPr id="3" name="Content Placeholder 2"/>
          <p:cNvSpPr>
            <a:spLocks noGrp="1"/>
          </p:cNvSpPr>
          <p:nvPr>
            <p:ph idx="1"/>
          </p:nvPr>
        </p:nvSpPr>
        <p:spPr>
          <a:xfrm>
            <a:off x="1038381" y="2713126"/>
            <a:ext cx="9905999" cy="3541714"/>
          </a:xfrm>
        </p:spPr>
        <p:txBody>
          <a:bodyPr/>
          <a:lstStyle/>
          <a:p>
            <a:r>
              <a:rPr lang="en-US" dirty="0"/>
              <a:t>IF ANY ONE SEES ANY EVIL, HE SHOULD STOP IT: </a:t>
            </a:r>
          </a:p>
          <a:p>
            <a:r>
              <a:rPr lang="en-US" dirty="0"/>
              <a:t>WITH HAND, IF HE CANNOT, HE SHOULD STOP IT:</a:t>
            </a:r>
          </a:p>
          <a:p>
            <a:r>
              <a:rPr lang="en-US" dirty="0"/>
              <a:t>WITH HIS TONGUE, IF HE CAN NOT, HE SHOULD AT LEST DESIST IT AT HEART. AND THAT IS THE WEAKEST PART OF IMAN(FAITH)</a:t>
            </a:r>
          </a:p>
        </p:txBody>
      </p:sp>
    </p:spTree>
    <p:extLst>
      <p:ext uri="{BB962C8B-B14F-4D97-AF65-F5344CB8AC3E}">
        <p14:creationId xmlns:p14="http://schemas.microsoft.com/office/powerpoint/2010/main" val="25503720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rtl="1"/>
            <a:r>
              <a:rPr lang="fa-IR" sz="2400" dirty="0"/>
              <a:t>19</a:t>
            </a:r>
            <a:r>
              <a:rPr lang="fa-IR" dirty="0"/>
              <a:t>.اليدالعليا خيرمن اليدالسفلٰي، وابدا بمن تعول</a:t>
            </a:r>
            <a:r>
              <a:rPr lang="en-US" dirty="0"/>
              <a:t> </a:t>
            </a:r>
            <a:r>
              <a:rPr lang="fa-IR" dirty="0"/>
              <a:t>وخيرالصدقه ماکان عن ظهر غني ومن يستعفف يعفه الله، ومن يستغن يغنه الله</a:t>
            </a:r>
            <a:endParaRPr lang="en-US" dirty="0"/>
          </a:p>
        </p:txBody>
      </p:sp>
      <p:sp>
        <p:nvSpPr>
          <p:cNvPr id="3" name="Content Placeholder 2"/>
          <p:cNvSpPr>
            <a:spLocks noGrp="1"/>
          </p:cNvSpPr>
          <p:nvPr>
            <p:ph idx="1"/>
          </p:nvPr>
        </p:nvSpPr>
        <p:spPr/>
        <p:txBody>
          <a:bodyPr/>
          <a:lstStyle/>
          <a:p>
            <a:r>
              <a:rPr lang="en-US" dirty="0"/>
              <a:t>THE UPPER HAND IS BETTER THAN THE LOWER HAND. ANT THE ALMS AND CHARITY SHOULD BEGING WITH THOSE WHO ARE UNDER YOUR GUARDIANSHIP. AND THE BEST OF CHARITY IS FULFILLING THE NEEDS OF SELF AND FAMILY. AND ALLAH MAKES HIM/HER CHASTE WHO ASKS FOR IT AND HE MAKES HIM FREE FROM WORLDLY CARES WHO PRAYS FOR IT </a:t>
            </a:r>
          </a:p>
        </p:txBody>
      </p:sp>
    </p:spTree>
    <p:extLst>
      <p:ext uri="{BB962C8B-B14F-4D97-AF65-F5344CB8AC3E}">
        <p14:creationId xmlns:p14="http://schemas.microsoft.com/office/powerpoint/2010/main" val="37858975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r" rtl="1"/>
            <a:r>
              <a:rPr lang="fa-IR" sz="2800" dirty="0"/>
              <a:t>20</a:t>
            </a:r>
            <a:r>
              <a:rPr lang="fa-IR" sz="4800" dirty="0"/>
              <a:t>.يتبع الميت ثلاثه اهله و ماله وعمله فيرجع اثنان ويبقٰي واحد يرجع اهله وماله ويبقٰي عمله </a:t>
            </a:r>
            <a:endParaRPr lang="en-US" sz="4800" dirty="0"/>
          </a:p>
        </p:txBody>
      </p:sp>
      <p:sp>
        <p:nvSpPr>
          <p:cNvPr id="3" name="Content Placeholder 2"/>
          <p:cNvSpPr>
            <a:spLocks noGrp="1"/>
          </p:cNvSpPr>
          <p:nvPr>
            <p:ph idx="1"/>
          </p:nvPr>
        </p:nvSpPr>
        <p:spPr/>
        <p:txBody>
          <a:bodyPr/>
          <a:lstStyle/>
          <a:p>
            <a:r>
              <a:rPr lang="en-US" dirty="0"/>
              <a:t>THREE THINGS FOLLOW THE DEAD PERSON TILL THE GRAVE:</a:t>
            </a:r>
          </a:p>
          <a:p>
            <a:r>
              <a:rPr lang="en-US" dirty="0"/>
              <a:t>HIS KITHE AND KIN</a:t>
            </a:r>
          </a:p>
          <a:p>
            <a:r>
              <a:rPr lang="en-US" dirty="0"/>
              <a:t>HIS WEALTH</a:t>
            </a:r>
          </a:p>
          <a:p>
            <a:r>
              <a:rPr lang="en-US" dirty="0"/>
              <a:t>HIS DEEDS.</a:t>
            </a:r>
          </a:p>
          <a:p>
            <a:r>
              <a:rPr lang="en-US" dirty="0"/>
              <a:t>TWO OF ABOVE RETURN AND ONE THING REMAINS WITH HIM. HIS RELATIVES AND WEALTH RETURNS AND HIS DEEDS REMAIN WITH HIM</a:t>
            </a:r>
          </a:p>
        </p:txBody>
      </p:sp>
    </p:spTree>
    <p:extLst>
      <p:ext uri="{BB962C8B-B14F-4D97-AF65-F5344CB8AC3E}">
        <p14:creationId xmlns:p14="http://schemas.microsoft.com/office/powerpoint/2010/main" val="298440773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334</TotalTime>
  <Words>1805</Words>
  <Application>Microsoft Office PowerPoint</Application>
  <PresentationFormat>Widescreen</PresentationFormat>
  <Paragraphs>144</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Algerian</vt:lpstr>
      <vt:lpstr>Arial</vt:lpstr>
      <vt:lpstr>Tw Cen MT</vt:lpstr>
      <vt:lpstr>Circuit</vt:lpstr>
      <vt:lpstr>Hadith &amp; sunnah</vt:lpstr>
      <vt:lpstr> Literal meaning of hadith </vt:lpstr>
      <vt:lpstr>In Islamic terminology</vt:lpstr>
      <vt:lpstr>Kinds of Ahadith</vt:lpstr>
      <vt:lpstr> hadith quali</vt:lpstr>
      <vt:lpstr>Hadith faili</vt:lpstr>
      <vt:lpstr>Hadith taqriri</vt:lpstr>
      <vt:lpstr>Literal meaning of Sunnah</vt:lpstr>
      <vt:lpstr>In Islamic terminology</vt:lpstr>
      <vt:lpstr>History of the collection and compilation of hadith</vt:lpstr>
      <vt:lpstr>Compilation during Life of Holy Prophet (pbuh): </vt:lpstr>
      <vt:lpstr>The Age of Companion ( 11-100 AH )</vt:lpstr>
      <vt:lpstr>The Age of followers of the Companions (Tabaeens 101-200 AH)</vt:lpstr>
      <vt:lpstr>Age of followers of the followers (Taba Tabaeen 200-300 AH)</vt:lpstr>
      <vt:lpstr> sihah sitta </vt:lpstr>
      <vt:lpstr>(1)  Sahih Bukhari:</vt:lpstr>
      <vt:lpstr>(2)   Sahih Muslim</vt:lpstr>
      <vt:lpstr>(3)  Sunan Abu Daud</vt:lpstr>
      <vt:lpstr>(4)  Jami Tirmidhi</vt:lpstr>
      <vt:lpstr>(5)   Sunan Nisai</vt:lpstr>
      <vt:lpstr>(6)  Sunan ibn Majah</vt:lpstr>
      <vt:lpstr>SHI’A BOOKS- Usool e arbae ( four principle )</vt:lpstr>
      <vt:lpstr> (1)Al-Kafi fi ilm UD deen (the sufficient in the science of religion)</vt:lpstr>
      <vt:lpstr>(2)Al-Istibsar (the prespective)</vt:lpstr>
      <vt:lpstr>(3) Tehzeeb-ul-Ahkam (the revision of judgemens)</vt:lpstr>
      <vt:lpstr>(4)Man la Yahzoroh ul Fiqh (one who has no legal expert present)</vt:lpstr>
      <vt:lpstr>Twenty selected ahadith</vt:lpstr>
      <vt:lpstr>حديث 1. ان الله يحب ان يريٰ اثر نعمته علٰي عبده </vt:lpstr>
      <vt:lpstr>2. اذا نظر احدڪم الٰي من فضل عليه في المال و الخلق فلينظرالٰي من هو اسفل منه</vt:lpstr>
      <vt:lpstr>3. اذا احب الرجل اخاه فليخبره انه يحبه </vt:lpstr>
      <vt:lpstr>4. اذا طبخت مرقه فاڪثر ماءها و تعاهد جيرانڪ </vt:lpstr>
      <vt:lpstr>5. افضل الجهاد کلمه عدل عند سلطان جابر</vt:lpstr>
      <vt:lpstr>6.آيت المنافق ثلاث اذا حدث کذب واذا وعداخلف واذائتمن خان وان صام وصلٰي وزعم انه مسلم</vt:lpstr>
      <vt:lpstr>7.اتقوا الشح فان اشح اهلڪ من کان قبلڪم حملهم علٰي ان سفکو دماءَهم وستحلوا محارمهم </vt:lpstr>
      <vt:lpstr>8.عن النواس بن سمعان رضه عن النبي صه قال سالت رسول الله صه عن البروالاثم، قال البر حسن الخلق والاثم  ما حاڪ في صدرڪ وڪرهت ان يطلع عليه الناس </vt:lpstr>
      <vt:lpstr>9. حجبت النار بالشهوات وحجبت الجنه با المڪاره </vt:lpstr>
      <vt:lpstr>10. دع ما يريبڪ الٰي ما لا يريبڪ </vt:lpstr>
      <vt:lpstr>11. الرجل علٰي دين خليله فلينظر احدکم من يخالل </vt:lpstr>
      <vt:lpstr>12. الکيس من دان نفسه وعمل لما بعدالموت والعاجز من اتبع نفسه هواها وتمنٰي علي الله الاماني</vt:lpstr>
      <vt:lpstr>13.ليس الشديد بالصرعه انماالشديد الذي يملڪ نفسه عندالغضب</vt:lpstr>
      <vt:lpstr>14. مروااولادکم بالصلٰواه وهم ابناءُ سبع سنين وضربوهم عليها وهم ابناءُ عشروفرقوبينهم في              المضاجع </vt:lpstr>
      <vt:lpstr>15.من دل علٰي خير فله مثل اجر فاعله</vt:lpstr>
      <vt:lpstr>16.من احب ان يبسط له بي رزقه وينساله في اثره فليصل رحمه </vt:lpstr>
      <vt:lpstr>71.ليس الغنٰي عن کثره العرض ولٰکن الغنٰي عني النفس</vt:lpstr>
      <vt:lpstr>18. من راٰي منکم منکرا فليغيره بيده فان لم يستطع فبلسا نه فان لم يستطع فبقلبه وذالڪ اضعف الايمان </vt:lpstr>
      <vt:lpstr>19.اليدالعليا خيرمن اليدالسفلٰي، وابدا بمن تعول وخيرالصدقه ماکان عن ظهر غني ومن يستعفف يعفه الله، ومن يستغن يغنه الله</vt:lpstr>
      <vt:lpstr>20.يتبع الميت ثلاثه اهله و ماله وعمله فيرجع اثنان ويبقٰي واحد يرجع اهله وماله ويبقٰي عمله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حديث 1. ان الله يحب ان يريٰ اثر نعمته علٰي عبده</dc:title>
  <dc:creator>student</dc:creator>
  <cp:lastModifiedBy>Peeral Sb</cp:lastModifiedBy>
  <cp:revision>39</cp:revision>
  <dcterms:created xsi:type="dcterms:W3CDTF">2016-03-08T04:58:41Z</dcterms:created>
  <dcterms:modified xsi:type="dcterms:W3CDTF">2020-11-07T04:29:19Z</dcterms:modified>
</cp:coreProperties>
</file>