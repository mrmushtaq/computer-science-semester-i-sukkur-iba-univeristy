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94" r:id="rId3"/>
    <p:sldId id="297" r:id="rId4"/>
    <p:sldId id="300" r:id="rId5"/>
    <p:sldId id="299" r:id="rId6"/>
    <p:sldId id="302" r:id="rId7"/>
    <p:sldId id="303" r:id="rId8"/>
    <p:sldId id="305" r:id="rId9"/>
    <p:sldId id="304" r:id="rId10"/>
    <p:sldId id="306" r:id="rId11"/>
    <p:sldId id="298" r:id="rId12"/>
    <p:sldId id="312" r:id="rId13"/>
    <p:sldId id="308" r:id="rId14"/>
    <p:sldId id="307" r:id="rId15"/>
    <p:sldId id="309" r:id="rId16"/>
    <p:sldId id="310" r:id="rId17"/>
    <p:sldId id="291" r:id="rId18"/>
    <p:sldId id="292" r:id="rId19"/>
    <p:sldId id="295" r:id="rId20"/>
    <p:sldId id="276" r:id="rId21"/>
    <p:sldId id="296" r:id="rId22"/>
    <p:sldId id="259" r:id="rId23"/>
    <p:sldId id="257" r:id="rId24"/>
    <p:sldId id="315" r:id="rId25"/>
    <p:sldId id="314" r:id="rId26"/>
    <p:sldId id="311" r:id="rId27"/>
    <p:sldId id="290" r:id="rId28"/>
    <p:sldId id="284" r:id="rId29"/>
    <p:sldId id="266" r:id="rId30"/>
    <p:sldId id="313" r:id="rId31"/>
    <p:sldId id="262" r:id="rId32"/>
    <p:sldId id="263" r:id="rId33"/>
    <p:sldId id="264" r:id="rId34"/>
    <p:sldId id="267" r:id="rId35"/>
    <p:sldId id="268" r:id="rId36"/>
    <p:sldId id="269" r:id="rId37"/>
    <p:sldId id="270" r:id="rId38"/>
    <p:sldId id="271" r:id="rId39"/>
    <p:sldId id="272" r:id="rId40"/>
    <p:sldId id="273" r:id="rId41"/>
    <p:sldId id="282" r:id="rId42"/>
    <p:sldId id="278" r:id="rId43"/>
    <p:sldId id="293" r:id="rId44"/>
    <p:sldId id="279" r:id="rId45"/>
    <p:sldId id="287" r:id="rId46"/>
    <p:sldId id="280" r:id="rId47"/>
    <p:sldId id="281" r:id="rId48"/>
    <p:sldId id="288" r:id="rId49"/>
    <p:sldId id="289"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7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6/1/2021</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pPr/>
              <a:t>6/1/2021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pPr/>
              <a:t>6/1/2021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pPr/>
              <a:t>6/1/2021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pPr/>
              <a:t>6/1/2021</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pPr/>
              <a:t>6/1/2021</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pPr/>
              <a:t>6/1/2021</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pPr/>
              <a:t>6/1/2021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pPr/>
              <a:t>6/1/2021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pPr/>
              <a:t>6/1/2021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pPr/>
              <a:t>6/1/2021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pPr/>
              <a:t>6/1/2021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pPr/>
              <a:t>6/1/2021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pPr/>
              <a:t>6/1/2021</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pPr/>
              <a:t>6/1/2021</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pPr/>
              <a:t>6/1/2021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pPr/>
              <a:t>6/1/2021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pPr/>
              <a:t>6/1/2021</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162975"/>
            <a:ext cx="8825658" cy="3614406"/>
          </a:xfrm>
        </p:spPr>
        <p:txBody>
          <a:bodyPr/>
          <a:lstStyle/>
          <a:p>
            <a:pPr algn="ctr"/>
            <a:r>
              <a:rPr lang="en-US" dirty="0"/>
              <a:t>ECONOMIC SYSTEM OF ISLAM</a:t>
            </a:r>
            <a:br>
              <a:rPr lang="en-US" dirty="0"/>
            </a:br>
            <a:r>
              <a:rPr lang="ar-AE" sz="1400" dirty="0"/>
              <a:t>أ</a:t>
            </a:r>
            <a:r>
              <a:rPr lang="ar-AE" sz="400" dirty="0"/>
              <a:t>َ</a:t>
            </a:r>
            <a:r>
              <a:rPr lang="ar-AE" sz="1600" dirty="0"/>
              <a:t>هُمْ يَقْسِمُونَ رَحْمَتَ رَبِّكَ ۚ نَحْنُ قَسَمْنَا بَيْنَهُم مَّعِيشَتَهُمْ فِي الْحَيَاةِ الدُّنْيَا ۚ وَرَفَعْنَا بَعْضَهُمْ فَوْقَ بَعْضٍ دَرَجَاتٍ لِّيَتَّخِذَ بَعْضُهُم بَعْضًا سُخْرِيًّا </a:t>
            </a:r>
            <a:br>
              <a:rPr lang="en-US" dirty="0"/>
            </a:br>
            <a:endParaRPr lang="en-US" dirty="0"/>
          </a:p>
        </p:txBody>
      </p:sp>
      <p:sp>
        <p:nvSpPr>
          <p:cNvPr id="3" name="Subtitle 2"/>
          <p:cNvSpPr>
            <a:spLocks noGrp="1"/>
          </p:cNvSpPr>
          <p:nvPr>
            <p:ph type="subTitle" idx="1"/>
          </p:nvPr>
        </p:nvSpPr>
        <p:spPr/>
        <p:txBody>
          <a:bodyPr/>
          <a:lstStyle/>
          <a:p>
            <a:r>
              <a:rPr lang="en-US" dirty="0"/>
              <a:t>PEERAL</a:t>
            </a:r>
          </a:p>
        </p:txBody>
      </p:sp>
    </p:spTree>
    <p:extLst>
      <p:ext uri="{BB962C8B-B14F-4D97-AF65-F5344CB8AC3E}">
        <p14:creationId xmlns:p14="http://schemas.microsoft.com/office/powerpoint/2010/main" val="2238817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defination</a:t>
            </a:r>
            <a:endParaRPr lang="en-US" dirty="0"/>
          </a:p>
        </p:txBody>
      </p:sp>
      <p:sp>
        <p:nvSpPr>
          <p:cNvPr id="3" name="Content Placeholder 2"/>
          <p:cNvSpPr>
            <a:spLocks noGrp="1"/>
          </p:cNvSpPr>
          <p:nvPr>
            <p:ph idx="1"/>
          </p:nvPr>
        </p:nvSpPr>
        <p:spPr/>
        <p:txBody>
          <a:bodyPr/>
          <a:lstStyle/>
          <a:p>
            <a:r>
              <a:rPr lang="en-US" dirty="0">
                <a:solidFill>
                  <a:srgbClr val="7030A0"/>
                </a:solidFill>
              </a:rPr>
              <a:t>According to </a:t>
            </a:r>
            <a:r>
              <a:rPr lang="en-US" dirty="0" err="1">
                <a:solidFill>
                  <a:srgbClr val="7030A0"/>
                </a:solidFill>
              </a:rPr>
              <a:t>Ibn</a:t>
            </a:r>
            <a:r>
              <a:rPr lang="en-US" dirty="0">
                <a:solidFill>
                  <a:srgbClr val="7030A0"/>
                </a:solidFill>
              </a:rPr>
              <a:t> </a:t>
            </a:r>
            <a:r>
              <a:rPr lang="en-US" dirty="0" err="1">
                <a:solidFill>
                  <a:srgbClr val="7030A0"/>
                </a:solidFill>
              </a:rPr>
              <a:t>Khuldon</a:t>
            </a:r>
            <a:r>
              <a:rPr lang="en-US" dirty="0"/>
              <a:t>:</a:t>
            </a:r>
          </a:p>
          <a:p>
            <a:r>
              <a:rPr lang="en-US" dirty="0"/>
              <a:t> The study of human efforts in obtaining resources and using them through exchange for the fulfillment of the necessities, needs and refinements as well as for the purpose of acquisition</a:t>
            </a:r>
          </a:p>
          <a:p>
            <a:r>
              <a:rPr lang="en-US" dirty="0">
                <a:solidFill>
                  <a:srgbClr val="FFC000"/>
                </a:solidFill>
              </a:rPr>
              <a:t>M. </a:t>
            </a:r>
            <a:r>
              <a:rPr lang="en-US" dirty="0" err="1">
                <a:solidFill>
                  <a:srgbClr val="FFC000"/>
                </a:solidFill>
              </a:rPr>
              <a:t>Akram</a:t>
            </a:r>
            <a:r>
              <a:rPr lang="en-US" dirty="0">
                <a:solidFill>
                  <a:srgbClr val="FFC000"/>
                </a:solidFill>
              </a:rPr>
              <a:t> Khan</a:t>
            </a:r>
            <a:r>
              <a:rPr lang="en-US" dirty="0"/>
              <a:t>:” study of human Falah achieved by organizing the resources of the earth on the basis of co-operation</a:t>
            </a:r>
          </a:p>
          <a:p>
            <a:r>
              <a:rPr lang="en-US" dirty="0" err="1">
                <a:solidFill>
                  <a:srgbClr val="0070C0"/>
                </a:solidFill>
              </a:rPr>
              <a:t>Hassanuz</a:t>
            </a:r>
            <a:r>
              <a:rPr lang="en-US" dirty="0">
                <a:solidFill>
                  <a:srgbClr val="0070C0"/>
                </a:solidFill>
              </a:rPr>
              <a:t> </a:t>
            </a:r>
            <a:r>
              <a:rPr lang="en-US" dirty="0" err="1">
                <a:solidFill>
                  <a:srgbClr val="0070C0"/>
                </a:solidFill>
              </a:rPr>
              <a:t>Zaman</a:t>
            </a:r>
            <a:r>
              <a:rPr lang="en-US" dirty="0"/>
              <a:t>: “ the knowledge and application of injunctions and  rules of </a:t>
            </a:r>
            <a:r>
              <a:rPr lang="en-US" dirty="0" err="1"/>
              <a:t>shariah</a:t>
            </a:r>
            <a:r>
              <a:rPr lang="en-US" dirty="0"/>
              <a:t> that prevent injustice in the acquisition and disposal of material resources in order to provide satisfaction to human being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dirty="0">
                <a:solidFill>
                  <a:srgbClr val="FF0000"/>
                </a:solidFill>
              </a:rPr>
              <a:t>capitalism</a:t>
            </a:r>
          </a:p>
        </p:txBody>
      </p:sp>
      <p:sp>
        <p:nvSpPr>
          <p:cNvPr id="3" name="Content Placeholder 2"/>
          <p:cNvSpPr>
            <a:spLocks noGrp="1"/>
          </p:cNvSpPr>
          <p:nvPr>
            <p:ph idx="1"/>
          </p:nvPr>
        </p:nvSpPr>
        <p:spPr/>
        <p:txBody>
          <a:bodyPr/>
          <a:lstStyle/>
          <a:p>
            <a:endParaRPr lang="en-US" dirty="0"/>
          </a:p>
          <a:p>
            <a:r>
              <a:rPr lang="en-US" sz="2800" dirty="0">
                <a:latin typeface="Arial Unicode MS" pitchFamily="34" charset="-128"/>
                <a:ea typeface="Arial Unicode MS" pitchFamily="34" charset="-128"/>
                <a:cs typeface="Arial Unicode MS" pitchFamily="34" charset="-128"/>
              </a:rPr>
              <a:t>It is an economic system based on the private ownership of the means of production, distribution and exchange are in </a:t>
            </a:r>
            <a:r>
              <a:rPr lang="en-US" sz="2800">
                <a:latin typeface="Arial Unicode MS" pitchFamily="34" charset="-128"/>
                <a:ea typeface="Arial Unicode MS" pitchFamily="34" charset="-128"/>
                <a:cs typeface="Arial Unicode MS" pitchFamily="34" charset="-128"/>
              </a:rPr>
              <a:t>private (individual or corporate) </a:t>
            </a:r>
            <a:r>
              <a:rPr lang="en-US" sz="2800" dirty="0">
                <a:latin typeface="Arial Unicode MS" pitchFamily="34" charset="-128"/>
                <a:ea typeface="Arial Unicode MS" pitchFamily="34" charset="-128"/>
                <a:cs typeface="Arial Unicode MS" pitchFamily="34" charset="-128"/>
              </a:rPr>
              <a:t>hands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capitalism</a:t>
            </a:r>
          </a:p>
        </p:txBody>
      </p:sp>
      <p:sp>
        <p:nvSpPr>
          <p:cNvPr id="3" name="Content Placeholder 2"/>
          <p:cNvSpPr>
            <a:spLocks noGrp="1"/>
          </p:cNvSpPr>
          <p:nvPr>
            <p:ph idx="1"/>
          </p:nvPr>
        </p:nvSpPr>
        <p:spPr/>
        <p:txBody>
          <a:bodyPr/>
          <a:lstStyle/>
          <a:p>
            <a:r>
              <a:rPr lang="en-US" dirty="0"/>
              <a:t>Existence of </a:t>
            </a:r>
            <a:r>
              <a:rPr lang="en-US" u="sng" dirty="0"/>
              <a:t>unrestricted private ownership </a:t>
            </a:r>
            <a:r>
              <a:rPr lang="en-US" dirty="0"/>
              <a:t>of production, exchange and distribution</a:t>
            </a:r>
          </a:p>
          <a:p>
            <a:r>
              <a:rPr lang="en-US" dirty="0"/>
              <a:t>Economic freedom</a:t>
            </a:r>
          </a:p>
          <a:p>
            <a:r>
              <a:rPr lang="en-US" dirty="0"/>
              <a:t>Profit motive as incentive</a:t>
            </a:r>
          </a:p>
          <a:p>
            <a:r>
              <a:rPr lang="en-US" dirty="0"/>
              <a:t>Existence of </a:t>
            </a:r>
            <a:r>
              <a:rPr lang="en-US" u="sng" dirty="0"/>
              <a:t>monopolies</a:t>
            </a:r>
          </a:p>
          <a:p>
            <a:r>
              <a:rPr lang="en-US" dirty="0"/>
              <a:t>Banking and institution of </a:t>
            </a:r>
            <a:r>
              <a:rPr lang="en-US" u="sng" dirty="0"/>
              <a:t>interest</a:t>
            </a:r>
          </a:p>
          <a:p>
            <a:r>
              <a:rPr lang="en-US" dirty="0"/>
              <a:t>Wide </a:t>
            </a:r>
            <a:r>
              <a:rPr lang="en-US" u="sng" dirty="0"/>
              <a:t>disparities</a:t>
            </a:r>
            <a:r>
              <a:rPr lang="en-US" dirty="0"/>
              <a:t> in distribution of wealth</a:t>
            </a:r>
          </a:p>
          <a:p>
            <a:r>
              <a:rPr lang="en-US" dirty="0"/>
              <a:t>Economic </a:t>
            </a:r>
            <a:r>
              <a:rPr lang="en-US" u="sng" dirty="0"/>
              <a:t>exploitation of the weak </a:t>
            </a:r>
            <a:r>
              <a:rPr lang="en-US" dirty="0"/>
              <a:t>by the strong</a:t>
            </a:r>
          </a:p>
          <a:p>
            <a:endParaRPr lang="en-US" dirty="0"/>
          </a:p>
          <a:p>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Right of ownership </a:t>
            </a:r>
          </a:p>
        </p:txBody>
      </p:sp>
      <p:sp>
        <p:nvSpPr>
          <p:cNvPr id="3" name="Text Placeholder 2"/>
          <p:cNvSpPr>
            <a:spLocks noGrp="1"/>
          </p:cNvSpPr>
          <p:nvPr>
            <p:ph type="body" idx="1"/>
          </p:nvPr>
        </p:nvSpPr>
        <p:spPr/>
        <p:txBody>
          <a:bodyPr/>
          <a:lstStyle/>
          <a:p>
            <a:r>
              <a:rPr lang="en-US" dirty="0"/>
              <a:t>capitalism</a:t>
            </a:r>
          </a:p>
        </p:txBody>
      </p:sp>
      <p:sp>
        <p:nvSpPr>
          <p:cNvPr id="4" name="Content Placeholder 3"/>
          <p:cNvSpPr>
            <a:spLocks noGrp="1"/>
          </p:cNvSpPr>
          <p:nvPr>
            <p:ph sz="half" idx="2"/>
          </p:nvPr>
        </p:nvSpPr>
        <p:spPr/>
        <p:txBody>
          <a:bodyPr/>
          <a:lstStyle/>
          <a:p>
            <a:r>
              <a:rPr lang="en-US" dirty="0"/>
              <a:t>Private ownership</a:t>
            </a:r>
          </a:p>
        </p:txBody>
      </p:sp>
      <p:sp>
        <p:nvSpPr>
          <p:cNvPr id="5" name="Text Placeholder 4"/>
          <p:cNvSpPr>
            <a:spLocks noGrp="1"/>
          </p:cNvSpPr>
          <p:nvPr>
            <p:ph type="body" sz="quarter" idx="3"/>
          </p:nvPr>
        </p:nvSpPr>
        <p:spPr/>
        <p:txBody>
          <a:bodyPr/>
          <a:lstStyle/>
          <a:p>
            <a:r>
              <a:rPr lang="en-US" dirty="0"/>
              <a:t>Islam</a:t>
            </a:r>
          </a:p>
        </p:txBody>
      </p:sp>
      <p:sp>
        <p:nvSpPr>
          <p:cNvPr id="6" name="Content Placeholder 5"/>
          <p:cNvSpPr>
            <a:spLocks noGrp="1"/>
          </p:cNvSpPr>
          <p:nvPr>
            <p:ph sz="quarter" idx="4"/>
          </p:nvPr>
        </p:nvSpPr>
        <p:spPr/>
        <p:txBody>
          <a:bodyPr/>
          <a:lstStyle/>
          <a:p>
            <a:r>
              <a:rPr lang="en-US" dirty="0"/>
              <a:t>Ownership belongs to Allah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Economic freedom</a:t>
            </a:r>
          </a:p>
        </p:txBody>
      </p:sp>
      <p:sp>
        <p:nvSpPr>
          <p:cNvPr id="3" name="Text Placeholder 2"/>
          <p:cNvSpPr>
            <a:spLocks noGrp="1"/>
          </p:cNvSpPr>
          <p:nvPr>
            <p:ph type="body" idx="1"/>
          </p:nvPr>
        </p:nvSpPr>
        <p:spPr/>
        <p:txBody>
          <a:bodyPr/>
          <a:lstStyle/>
          <a:p>
            <a:r>
              <a:rPr lang="en-US" dirty="0"/>
              <a:t>capitalism</a:t>
            </a:r>
          </a:p>
          <a:p>
            <a:endParaRPr lang="en-US" dirty="0"/>
          </a:p>
        </p:txBody>
      </p:sp>
      <p:sp>
        <p:nvSpPr>
          <p:cNvPr id="4" name="Content Placeholder 3"/>
          <p:cNvSpPr>
            <a:spLocks noGrp="1"/>
          </p:cNvSpPr>
          <p:nvPr>
            <p:ph sz="half" idx="2"/>
          </p:nvPr>
        </p:nvSpPr>
        <p:spPr/>
        <p:txBody>
          <a:bodyPr/>
          <a:lstStyle/>
          <a:p>
            <a:r>
              <a:rPr lang="en-US" dirty="0"/>
              <a:t>Unrestricted economic freedom</a:t>
            </a:r>
          </a:p>
        </p:txBody>
      </p:sp>
      <p:sp>
        <p:nvSpPr>
          <p:cNvPr id="5" name="Text Placeholder 4"/>
          <p:cNvSpPr>
            <a:spLocks noGrp="1"/>
          </p:cNvSpPr>
          <p:nvPr>
            <p:ph type="body" sz="quarter" idx="3"/>
          </p:nvPr>
        </p:nvSpPr>
        <p:spPr/>
        <p:txBody>
          <a:bodyPr/>
          <a:lstStyle/>
          <a:p>
            <a:r>
              <a:rPr lang="en-US" dirty="0"/>
              <a:t>Islam</a:t>
            </a:r>
          </a:p>
          <a:p>
            <a:endParaRPr lang="en-US" dirty="0"/>
          </a:p>
        </p:txBody>
      </p:sp>
      <p:sp>
        <p:nvSpPr>
          <p:cNvPr id="6" name="Content Placeholder 5"/>
          <p:cNvSpPr>
            <a:spLocks noGrp="1"/>
          </p:cNvSpPr>
          <p:nvPr>
            <p:ph sz="quarter" idx="4"/>
          </p:nvPr>
        </p:nvSpPr>
        <p:spPr/>
        <p:txBody>
          <a:bodyPr/>
          <a:lstStyle/>
          <a:p>
            <a:r>
              <a:rPr lang="en-US" dirty="0"/>
              <a:t>Allows freedom but not unlimited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monopoly</a:t>
            </a:r>
          </a:p>
        </p:txBody>
      </p:sp>
      <p:sp>
        <p:nvSpPr>
          <p:cNvPr id="3" name="Text Placeholder 2"/>
          <p:cNvSpPr>
            <a:spLocks noGrp="1"/>
          </p:cNvSpPr>
          <p:nvPr>
            <p:ph type="body" idx="1"/>
          </p:nvPr>
        </p:nvSpPr>
        <p:spPr/>
        <p:txBody>
          <a:bodyPr/>
          <a:lstStyle/>
          <a:p>
            <a:r>
              <a:rPr lang="en-US" dirty="0"/>
              <a:t>capitalism</a:t>
            </a:r>
          </a:p>
          <a:p>
            <a:endParaRPr lang="en-US" dirty="0"/>
          </a:p>
        </p:txBody>
      </p:sp>
      <p:sp>
        <p:nvSpPr>
          <p:cNvPr id="4" name="Content Placeholder 3"/>
          <p:cNvSpPr>
            <a:spLocks noGrp="1"/>
          </p:cNvSpPr>
          <p:nvPr>
            <p:ph sz="half" idx="2"/>
          </p:nvPr>
        </p:nvSpPr>
        <p:spPr/>
        <p:txBody>
          <a:bodyPr/>
          <a:lstStyle/>
          <a:p>
            <a:r>
              <a:rPr lang="en-US" dirty="0"/>
              <a:t>Competition exists</a:t>
            </a:r>
          </a:p>
        </p:txBody>
      </p:sp>
      <p:sp>
        <p:nvSpPr>
          <p:cNvPr id="5" name="Text Placeholder 4"/>
          <p:cNvSpPr>
            <a:spLocks noGrp="1"/>
          </p:cNvSpPr>
          <p:nvPr>
            <p:ph type="body" sz="quarter" idx="3"/>
          </p:nvPr>
        </p:nvSpPr>
        <p:spPr/>
        <p:txBody>
          <a:bodyPr/>
          <a:lstStyle/>
          <a:p>
            <a:r>
              <a:rPr lang="en-US" dirty="0"/>
              <a:t>Islam</a:t>
            </a:r>
          </a:p>
          <a:p>
            <a:endParaRPr lang="en-US" dirty="0"/>
          </a:p>
        </p:txBody>
      </p:sp>
      <p:sp>
        <p:nvSpPr>
          <p:cNvPr id="6" name="Content Placeholder 5"/>
          <p:cNvSpPr>
            <a:spLocks noGrp="1"/>
          </p:cNvSpPr>
          <p:nvPr>
            <p:ph sz="quarter" idx="4"/>
          </p:nvPr>
        </p:nvSpPr>
        <p:spPr/>
        <p:txBody>
          <a:bodyPr/>
          <a:lstStyle/>
          <a:p>
            <a:r>
              <a:rPr lang="en-US" dirty="0"/>
              <a:t>Forbids unhealthy competition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Institutions of interest</a:t>
            </a:r>
          </a:p>
        </p:txBody>
      </p:sp>
      <p:sp>
        <p:nvSpPr>
          <p:cNvPr id="3" name="Text Placeholder 2"/>
          <p:cNvSpPr>
            <a:spLocks noGrp="1"/>
          </p:cNvSpPr>
          <p:nvPr>
            <p:ph type="body" idx="1"/>
          </p:nvPr>
        </p:nvSpPr>
        <p:spPr/>
        <p:txBody>
          <a:bodyPr/>
          <a:lstStyle/>
          <a:p>
            <a:endParaRPr lang="en-US" dirty="0"/>
          </a:p>
          <a:p>
            <a:r>
              <a:rPr lang="en-US" dirty="0"/>
              <a:t>capitalism</a:t>
            </a:r>
          </a:p>
        </p:txBody>
      </p:sp>
      <p:sp>
        <p:nvSpPr>
          <p:cNvPr id="4" name="Content Placeholder 3"/>
          <p:cNvSpPr>
            <a:spLocks noGrp="1"/>
          </p:cNvSpPr>
          <p:nvPr>
            <p:ph sz="half" idx="2"/>
          </p:nvPr>
        </p:nvSpPr>
        <p:spPr/>
        <p:txBody>
          <a:bodyPr/>
          <a:lstStyle/>
          <a:p>
            <a:r>
              <a:rPr lang="en-US" dirty="0"/>
              <a:t>Involved interest in transactions</a:t>
            </a:r>
          </a:p>
        </p:txBody>
      </p:sp>
      <p:sp>
        <p:nvSpPr>
          <p:cNvPr id="5" name="Text Placeholder 4"/>
          <p:cNvSpPr>
            <a:spLocks noGrp="1"/>
          </p:cNvSpPr>
          <p:nvPr>
            <p:ph type="body" sz="quarter" idx="3"/>
          </p:nvPr>
        </p:nvSpPr>
        <p:spPr/>
        <p:txBody>
          <a:bodyPr/>
          <a:lstStyle/>
          <a:p>
            <a:endParaRPr lang="en-US" dirty="0"/>
          </a:p>
          <a:p>
            <a:r>
              <a:rPr lang="en-US" dirty="0"/>
              <a:t>Islam</a:t>
            </a:r>
          </a:p>
        </p:txBody>
      </p:sp>
      <p:sp>
        <p:nvSpPr>
          <p:cNvPr id="6" name="Content Placeholder 5"/>
          <p:cNvSpPr>
            <a:spLocks noGrp="1"/>
          </p:cNvSpPr>
          <p:nvPr>
            <p:ph sz="quarter" idx="4"/>
          </p:nvPr>
        </p:nvSpPr>
        <p:spPr/>
        <p:txBody>
          <a:bodyPr/>
          <a:lstStyle/>
          <a:p>
            <a:r>
              <a:rPr lang="en-US" dirty="0"/>
              <a:t>Interest free </a:t>
            </a:r>
          </a:p>
          <a:p>
            <a:r>
              <a:rPr lang="en-US" dirty="0"/>
              <a:t>Promotes professionalism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exploitation</a:t>
            </a:r>
          </a:p>
        </p:txBody>
      </p:sp>
      <p:sp>
        <p:nvSpPr>
          <p:cNvPr id="3" name="Text Placeholder 2"/>
          <p:cNvSpPr>
            <a:spLocks noGrp="1"/>
          </p:cNvSpPr>
          <p:nvPr>
            <p:ph type="body" idx="1"/>
          </p:nvPr>
        </p:nvSpPr>
        <p:spPr/>
        <p:txBody>
          <a:bodyPr/>
          <a:lstStyle/>
          <a:p>
            <a:endParaRPr lang="en-US" dirty="0"/>
          </a:p>
          <a:p>
            <a:r>
              <a:rPr lang="en-US" dirty="0"/>
              <a:t>capitalism</a:t>
            </a:r>
          </a:p>
        </p:txBody>
      </p:sp>
      <p:sp>
        <p:nvSpPr>
          <p:cNvPr id="4" name="Content Placeholder 3"/>
          <p:cNvSpPr>
            <a:spLocks noGrp="1"/>
          </p:cNvSpPr>
          <p:nvPr>
            <p:ph sz="half" idx="2"/>
          </p:nvPr>
        </p:nvSpPr>
        <p:spPr/>
        <p:txBody>
          <a:bodyPr/>
          <a:lstStyle/>
          <a:p>
            <a:r>
              <a:rPr lang="en-US" dirty="0"/>
              <a:t>Exploitation exists</a:t>
            </a:r>
          </a:p>
        </p:txBody>
      </p:sp>
      <p:sp>
        <p:nvSpPr>
          <p:cNvPr id="5" name="Text Placeholder 4"/>
          <p:cNvSpPr>
            <a:spLocks noGrp="1"/>
          </p:cNvSpPr>
          <p:nvPr>
            <p:ph type="body" sz="quarter" idx="3"/>
          </p:nvPr>
        </p:nvSpPr>
        <p:spPr>
          <a:xfrm>
            <a:off x="6156460" y="2590437"/>
            <a:ext cx="4825159" cy="576262"/>
          </a:xfrm>
        </p:spPr>
        <p:txBody>
          <a:bodyPr/>
          <a:lstStyle/>
          <a:p>
            <a:endParaRPr lang="en-US" dirty="0"/>
          </a:p>
          <a:p>
            <a:r>
              <a:rPr lang="en-US" dirty="0"/>
              <a:t>Islam</a:t>
            </a:r>
          </a:p>
        </p:txBody>
      </p:sp>
      <p:sp>
        <p:nvSpPr>
          <p:cNvPr id="6" name="Content Placeholder 5"/>
          <p:cNvSpPr>
            <a:spLocks noGrp="1"/>
          </p:cNvSpPr>
          <p:nvPr>
            <p:ph sz="quarter" idx="4"/>
          </p:nvPr>
        </p:nvSpPr>
        <p:spPr/>
        <p:txBody>
          <a:bodyPr/>
          <a:lstStyle/>
          <a:p>
            <a:r>
              <a:rPr lang="en-US" dirty="0"/>
              <a:t>Exploitation free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Distribution of wealth</a:t>
            </a:r>
          </a:p>
        </p:txBody>
      </p:sp>
      <p:sp>
        <p:nvSpPr>
          <p:cNvPr id="3" name="Text Placeholder 2"/>
          <p:cNvSpPr>
            <a:spLocks noGrp="1"/>
          </p:cNvSpPr>
          <p:nvPr>
            <p:ph type="body" idx="1"/>
          </p:nvPr>
        </p:nvSpPr>
        <p:spPr/>
        <p:txBody>
          <a:bodyPr/>
          <a:lstStyle/>
          <a:p>
            <a:r>
              <a:rPr lang="en-US" dirty="0"/>
              <a:t>capitalism</a:t>
            </a:r>
          </a:p>
        </p:txBody>
      </p:sp>
      <p:sp>
        <p:nvSpPr>
          <p:cNvPr id="4" name="Content Placeholder 3"/>
          <p:cNvSpPr>
            <a:spLocks noGrp="1"/>
          </p:cNvSpPr>
          <p:nvPr>
            <p:ph sz="half" idx="2"/>
          </p:nvPr>
        </p:nvSpPr>
        <p:spPr/>
        <p:txBody>
          <a:bodyPr/>
          <a:lstStyle/>
          <a:p>
            <a:r>
              <a:rPr lang="en-US" dirty="0"/>
              <a:t>Wide economic disparities exist</a:t>
            </a:r>
          </a:p>
        </p:txBody>
      </p:sp>
      <p:sp>
        <p:nvSpPr>
          <p:cNvPr id="5" name="Text Placeholder 4"/>
          <p:cNvSpPr>
            <a:spLocks noGrp="1"/>
          </p:cNvSpPr>
          <p:nvPr>
            <p:ph type="body" sz="quarter" idx="3"/>
          </p:nvPr>
        </p:nvSpPr>
        <p:spPr/>
        <p:txBody>
          <a:bodyPr/>
          <a:lstStyle/>
          <a:p>
            <a:r>
              <a:rPr lang="en-US" dirty="0"/>
              <a:t>Islam</a:t>
            </a:r>
          </a:p>
        </p:txBody>
      </p:sp>
      <p:sp>
        <p:nvSpPr>
          <p:cNvPr id="6" name="Content Placeholder 5"/>
          <p:cNvSpPr>
            <a:spLocks noGrp="1"/>
          </p:cNvSpPr>
          <p:nvPr>
            <p:ph sz="quarter" idx="4"/>
          </p:nvPr>
        </p:nvSpPr>
        <p:spPr/>
        <p:txBody>
          <a:bodyPr/>
          <a:lstStyle/>
          <a:p>
            <a:r>
              <a:rPr lang="en-US" dirty="0"/>
              <a:t>Fair and just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5400" dirty="0">
                <a:solidFill>
                  <a:srgbClr val="FF0000"/>
                </a:solidFill>
              </a:rPr>
              <a:t>socialism</a:t>
            </a:r>
          </a:p>
        </p:txBody>
      </p:sp>
      <p:sp>
        <p:nvSpPr>
          <p:cNvPr id="3" name="Content Placeholder 2"/>
          <p:cNvSpPr>
            <a:spLocks noGrp="1"/>
          </p:cNvSpPr>
          <p:nvPr>
            <p:ph idx="1"/>
          </p:nvPr>
        </p:nvSpPr>
        <p:spPr/>
        <p:txBody>
          <a:bodyPr>
            <a:normAutofit/>
          </a:bodyPr>
          <a:lstStyle/>
          <a:p>
            <a:r>
              <a:rPr lang="en-US" sz="3200" b="1" dirty="0">
                <a:latin typeface="SimSun-ExtB" pitchFamily="49" charset="-122"/>
                <a:ea typeface="SimSun-ExtB" pitchFamily="49" charset="-122"/>
              </a:rPr>
              <a:t>Economic system in which the means of production, distribution and exchange are owned by the community collectively through the state.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0"/>
            <a:ext cx="12192000" cy="68580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socialism</a:t>
            </a:r>
          </a:p>
        </p:txBody>
      </p:sp>
      <p:sp>
        <p:nvSpPr>
          <p:cNvPr id="3" name="Content Placeholder 2"/>
          <p:cNvSpPr>
            <a:spLocks noGrp="1"/>
          </p:cNvSpPr>
          <p:nvPr>
            <p:ph idx="1"/>
          </p:nvPr>
        </p:nvSpPr>
        <p:spPr/>
        <p:txBody>
          <a:bodyPr/>
          <a:lstStyle/>
          <a:p>
            <a:r>
              <a:rPr lang="en-US" dirty="0"/>
              <a:t>Public or state ownership of all means of production, distribution and exchange and </a:t>
            </a:r>
            <a:r>
              <a:rPr lang="en-US" u="sng" dirty="0"/>
              <a:t>abolition of private property</a:t>
            </a:r>
          </a:p>
          <a:p>
            <a:r>
              <a:rPr lang="en-US" dirty="0"/>
              <a:t>Economic equality and provision of basic necessities of life for every one</a:t>
            </a:r>
          </a:p>
          <a:p>
            <a:r>
              <a:rPr lang="en-US" dirty="0"/>
              <a:t>Materialism and emphasis on economic factors</a:t>
            </a:r>
          </a:p>
          <a:p>
            <a:r>
              <a:rPr lang="en-US" dirty="0"/>
              <a:t>Suppression of civil liberties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ownership</a:t>
            </a:r>
          </a:p>
        </p:txBody>
      </p:sp>
      <p:sp>
        <p:nvSpPr>
          <p:cNvPr id="3" name="Text Placeholder 2"/>
          <p:cNvSpPr>
            <a:spLocks noGrp="1"/>
          </p:cNvSpPr>
          <p:nvPr>
            <p:ph type="body" idx="1"/>
          </p:nvPr>
        </p:nvSpPr>
        <p:spPr/>
        <p:txBody>
          <a:bodyPr/>
          <a:lstStyle/>
          <a:p>
            <a:r>
              <a:rPr lang="en-US" dirty="0"/>
              <a:t>socialism</a:t>
            </a:r>
          </a:p>
        </p:txBody>
      </p:sp>
      <p:sp>
        <p:nvSpPr>
          <p:cNvPr id="4" name="Content Placeholder 3"/>
          <p:cNvSpPr>
            <a:spLocks noGrp="1"/>
          </p:cNvSpPr>
          <p:nvPr>
            <p:ph sz="half" idx="2"/>
          </p:nvPr>
        </p:nvSpPr>
        <p:spPr/>
        <p:txBody>
          <a:bodyPr/>
          <a:lstStyle/>
          <a:p>
            <a:r>
              <a:rPr lang="en-US" dirty="0"/>
              <a:t>State ownership</a:t>
            </a:r>
          </a:p>
        </p:txBody>
      </p:sp>
      <p:sp>
        <p:nvSpPr>
          <p:cNvPr id="5" name="Text Placeholder 4"/>
          <p:cNvSpPr>
            <a:spLocks noGrp="1"/>
          </p:cNvSpPr>
          <p:nvPr>
            <p:ph type="body" sz="quarter" idx="3"/>
          </p:nvPr>
        </p:nvSpPr>
        <p:spPr/>
        <p:txBody>
          <a:bodyPr/>
          <a:lstStyle/>
          <a:p>
            <a:r>
              <a:rPr lang="en-US" dirty="0"/>
              <a:t>Islamic</a:t>
            </a:r>
          </a:p>
        </p:txBody>
      </p:sp>
      <p:sp>
        <p:nvSpPr>
          <p:cNvPr id="6" name="Content Placeholder 5"/>
          <p:cNvSpPr>
            <a:spLocks noGrp="1"/>
          </p:cNvSpPr>
          <p:nvPr>
            <p:ph sz="quarter" idx="4"/>
          </p:nvPr>
        </p:nvSpPr>
        <p:spPr/>
        <p:txBody>
          <a:bodyPr/>
          <a:lstStyle/>
          <a:p>
            <a:r>
              <a:rPr lang="en-US" dirty="0"/>
              <a:t>Human and state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materialism</a:t>
            </a:r>
          </a:p>
        </p:txBody>
      </p:sp>
      <p:sp>
        <p:nvSpPr>
          <p:cNvPr id="3" name="Text Placeholder 2"/>
          <p:cNvSpPr>
            <a:spLocks noGrp="1"/>
          </p:cNvSpPr>
          <p:nvPr>
            <p:ph type="body" idx="1"/>
          </p:nvPr>
        </p:nvSpPr>
        <p:spPr/>
        <p:txBody>
          <a:bodyPr/>
          <a:lstStyle/>
          <a:p>
            <a:r>
              <a:rPr lang="en-US" dirty="0"/>
              <a:t>socialism</a:t>
            </a:r>
          </a:p>
        </p:txBody>
      </p:sp>
      <p:sp>
        <p:nvSpPr>
          <p:cNvPr id="4" name="Content Placeholder 3"/>
          <p:cNvSpPr>
            <a:spLocks noGrp="1"/>
          </p:cNvSpPr>
          <p:nvPr>
            <p:ph sz="half" idx="2"/>
          </p:nvPr>
        </p:nvSpPr>
        <p:spPr/>
        <p:txBody>
          <a:bodyPr/>
          <a:lstStyle/>
          <a:p>
            <a:r>
              <a:rPr lang="en-US" dirty="0"/>
              <a:t>Emphasis on materialism</a:t>
            </a:r>
          </a:p>
        </p:txBody>
      </p:sp>
      <p:sp>
        <p:nvSpPr>
          <p:cNvPr id="5" name="Text Placeholder 4"/>
          <p:cNvSpPr>
            <a:spLocks noGrp="1"/>
          </p:cNvSpPr>
          <p:nvPr>
            <p:ph type="body" sz="quarter" idx="3"/>
          </p:nvPr>
        </p:nvSpPr>
        <p:spPr/>
        <p:txBody>
          <a:bodyPr/>
          <a:lstStyle/>
          <a:p>
            <a:r>
              <a:rPr lang="en-US" dirty="0"/>
              <a:t>Islamic</a:t>
            </a:r>
          </a:p>
        </p:txBody>
      </p:sp>
      <p:sp>
        <p:nvSpPr>
          <p:cNvPr id="6" name="Content Placeholder 5"/>
          <p:cNvSpPr>
            <a:spLocks noGrp="1"/>
          </p:cNvSpPr>
          <p:nvPr>
            <p:ph sz="quarter" idx="4"/>
          </p:nvPr>
        </p:nvSpPr>
        <p:spPr/>
        <p:txBody>
          <a:bodyPr/>
          <a:lstStyle/>
          <a:p>
            <a:r>
              <a:rPr lang="en-US" dirty="0"/>
              <a:t>Eternal+ material life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equality</a:t>
            </a:r>
          </a:p>
        </p:txBody>
      </p:sp>
      <p:sp>
        <p:nvSpPr>
          <p:cNvPr id="3" name="Text Placeholder 2"/>
          <p:cNvSpPr>
            <a:spLocks noGrp="1"/>
          </p:cNvSpPr>
          <p:nvPr>
            <p:ph type="body" idx="1"/>
          </p:nvPr>
        </p:nvSpPr>
        <p:spPr/>
        <p:txBody>
          <a:bodyPr/>
          <a:lstStyle/>
          <a:p>
            <a:r>
              <a:rPr lang="en-US" dirty="0"/>
              <a:t>Socialism</a:t>
            </a:r>
          </a:p>
        </p:txBody>
      </p:sp>
      <p:sp>
        <p:nvSpPr>
          <p:cNvPr id="4" name="Content Placeholder 3"/>
          <p:cNvSpPr>
            <a:spLocks noGrp="1"/>
          </p:cNvSpPr>
          <p:nvPr>
            <p:ph sz="half" idx="2"/>
          </p:nvPr>
        </p:nvSpPr>
        <p:spPr/>
        <p:txBody>
          <a:bodyPr/>
          <a:lstStyle/>
          <a:p>
            <a:r>
              <a:rPr lang="en-US" dirty="0"/>
              <a:t>Rights of individuals are governed by the principles of state</a:t>
            </a:r>
          </a:p>
        </p:txBody>
      </p:sp>
      <p:sp>
        <p:nvSpPr>
          <p:cNvPr id="5" name="Text Placeholder 4"/>
          <p:cNvSpPr>
            <a:spLocks noGrp="1"/>
          </p:cNvSpPr>
          <p:nvPr>
            <p:ph type="body" sz="quarter" idx="3"/>
          </p:nvPr>
        </p:nvSpPr>
        <p:spPr/>
        <p:txBody>
          <a:bodyPr/>
          <a:lstStyle/>
          <a:p>
            <a:r>
              <a:rPr lang="en-US" dirty="0"/>
              <a:t>Islamic</a:t>
            </a:r>
          </a:p>
        </p:txBody>
      </p:sp>
      <p:sp>
        <p:nvSpPr>
          <p:cNvPr id="6" name="Content Placeholder 5"/>
          <p:cNvSpPr>
            <a:spLocks noGrp="1"/>
          </p:cNvSpPr>
          <p:nvPr>
            <p:ph sz="quarter" idx="4"/>
          </p:nvPr>
        </p:nvSpPr>
        <p:spPr/>
        <p:txBody>
          <a:bodyPr/>
          <a:lstStyle/>
          <a:p>
            <a:r>
              <a:rPr lang="en-US" dirty="0"/>
              <a:t>No equality among human beings </a:t>
            </a:r>
          </a:p>
          <a:p>
            <a:r>
              <a:rPr lang="en-US" dirty="0"/>
              <a:t>Ensuring equality by </a:t>
            </a:r>
            <a:r>
              <a:rPr lang="en-US" dirty="0" err="1"/>
              <a:t>zakat</a:t>
            </a:r>
            <a:r>
              <a:rPr lang="en-US" dirty="0"/>
              <a:t> and Usher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Quranic</a:t>
            </a:r>
            <a:r>
              <a:rPr lang="en-US" sz="3200" dirty="0"/>
              <a:t> teachings regarding economics</a:t>
            </a:r>
          </a:p>
        </p:txBody>
      </p:sp>
      <p:sp>
        <p:nvSpPr>
          <p:cNvPr id="3" name="Content Placeholder 2"/>
          <p:cNvSpPr>
            <a:spLocks noGrp="1"/>
          </p:cNvSpPr>
          <p:nvPr>
            <p:ph idx="1"/>
          </p:nvPr>
        </p:nvSpPr>
        <p:spPr/>
        <p:txBody>
          <a:bodyPr>
            <a:normAutofit fontScale="92500" lnSpcReduction="20000"/>
          </a:bodyPr>
          <a:lstStyle/>
          <a:p>
            <a:r>
              <a:rPr lang="en-US" b="1" u="sng" dirty="0"/>
              <a:t>No concept of equality in economics</a:t>
            </a:r>
          </a:p>
          <a:p>
            <a:r>
              <a:rPr lang="ar-AE" dirty="0"/>
              <a:t> ۚ نَحْنُ قَسَمْنَا بَيْنَهُم مَّعِيشَتَهُمْ فِي الْحَيَاةِ الدُّنْيَا ۚ وَرَفَعْنَا بَعْضَهُمْ فَوْقَ بَعْضٍ دَرَجَاتٍ لِّيَتَّخِذَ بَعْضُهُم بَعْضًا سُخْرِيًّا </a:t>
            </a:r>
            <a:endParaRPr lang="en-US" dirty="0"/>
          </a:p>
          <a:p>
            <a:r>
              <a:rPr lang="en-US" dirty="0"/>
              <a:t>We distribute among them their livelihood in the life of this world, and We have exalted some of them above others in degrees, that some of them may take others in subjection</a:t>
            </a:r>
          </a:p>
          <a:p>
            <a:r>
              <a:rPr lang="en-US" b="1" u="sng" dirty="0"/>
              <a:t>Right of private ownership</a:t>
            </a:r>
          </a:p>
          <a:p>
            <a:r>
              <a:rPr lang="ar-AE" dirty="0"/>
              <a:t>يَا أَيُّهَا الَّذِينَ آمَنُوا لَا تَدْخُلُوا بُيُوتًا غَيْرَ بُيُوتِكُمْ </a:t>
            </a:r>
            <a:endParaRPr lang="en-US" dirty="0"/>
          </a:p>
          <a:p>
            <a:r>
              <a:rPr lang="en-US" dirty="0"/>
              <a:t>O you who believe! Do not enter houses other than your own houses</a:t>
            </a:r>
          </a:p>
          <a:p>
            <a:r>
              <a:rPr lang="ar-AE" b="1" dirty="0"/>
              <a:t>تَأْكُلُوا أَمْوَالَكُم بَيْنَكُم بِالْبَاطِلِ </a:t>
            </a:r>
            <a:r>
              <a:rPr lang="en-US" b="1" dirty="0"/>
              <a:t> </a:t>
            </a:r>
            <a:r>
              <a:rPr lang="fa-IR" dirty="0"/>
              <a:t>لَا</a:t>
            </a:r>
            <a:r>
              <a:rPr lang="en-US" b="1" dirty="0"/>
              <a:t> </a:t>
            </a:r>
          </a:p>
          <a:p>
            <a:r>
              <a:rPr lang="en-US" dirty="0"/>
              <a:t>And eat up not one another's property unjustly (in any illegal way e.g. stealing, robbing, deceiving, etc.),</a:t>
            </a:r>
          </a:p>
        </p:txBody>
      </p:sp>
    </p:spTree>
    <p:extLst>
      <p:ext uri="{BB962C8B-B14F-4D97-AF65-F5344CB8AC3E}">
        <p14:creationId xmlns:p14="http://schemas.microsoft.com/office/powerpoint/2010/main" val="311194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No priesthood</a:t>
            </a:r>
          </a:p>
          <a:p>
            <a:r>
              <a:rPr lang="ar-AE" b="1" dirty="0"/>
              <a:t>يَا أَيُّهَا النَّاسُ كُلُوا مِمَّا فِي الْأَرْضِ </a:t>
            </a:r>
            <a:endParaRPr lang="en-US" b="1" dirty="0"/>
          </a:p>
          <a:p>
            <a:r>
              <a:rPr lang="en-US" dirty="0"/>
              <a:t>O ye people! Eat of what is on earth, Lawful and good</a:t>
            </a:r>
          </a:p>
          <a:p>
            <a:r>
              <a:rPr lang="en-US" b="1" dirty="0"/>
              <a:t>Distinction between legal and illegal</a:t>
            </a:r>
          </a:p>
          <a:p>
            <a:r>
              <a:rPr lang="fa-IR" dirty="0"/>
              <a:t>يٰٓاَيُّھَا الَّذِيْنَ اٰمَنُوْا لَا تَاْكُلُوْٓا اَمْوَالَكُمْ بَيْنَكُمْ بِالْبَاطِلِ</a:t>
            </a:r>
            <a:endParaRPr lang="en-US" dirty="0"/>
          </a:p>
          <a:p>
            <a:r>
              <a:rPr lang="en-US" b="1" dirty="0"/>
              <a:t>Exaggeration is not allowed</a:t>
            </a:r>
          </a:p>
          <a:p>
            <a:r>
              <a:rPr lang="fa-IR" dirty="0"/>
              <a:t>وَلَا تُسْرِفُوْا  ۚ اِنَّهٗ لَا يُحِبُّ الْمُسْرِفِيْنَ</a:t>
            </a:r>
            <a:endParaRPr lang="en-US" dirty="0"/>
          </a:p>
        </p:txBody>
      </p:sp>
    </p:spTree>
    <p:extLst>
      <p:ext uri="{BB962C8B-B14F-4D97-AF65-F5344CB8AC3E}">
        <p14:creationId xmlns:p14="http://schemas.microsoft.com/office/powerpoint/2010/main" val="2904196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Concept of inheritance</a:t>
            </a:r>
          </a:p>
          <a:p>
            <a:r>
              <a:rPr lang="fa-IR" dirty="0"/>
              <a:t>يُوْصِيْكُمُ اللّٰهُ فِيْٓ اَوْلَادِكُمْ ۤ لِلذَّكَرِ مِثْلُ حَظِّ الْاُنْثَيَيْنِ</a:t>
            </a:r>
            <a:endParaRPr lang="en-US" dirty="0"/>
          </a:p>
          <a:p>
            <a:r>
              <a:rPr lang="en-US" b="1" dirty="0"/>
              <a:t>Concept of public property</a:t>
            </a:r>
            <a:endParaRPr lang="fa-IR" b="1" dirty="0"/>
          </a:p>
          <a:p>
            <a:r>
              <a:rPr lang="fa-IR" b="1" dirty="0"/>
              <a:t>  الناس شرڪا في ثلاث الما والڪلا والنار</a:t>
            </a:r>
            <a:r>
              <a:rPr lang="fa-IR" dirty="0"/>
              <a:t>،</a:t>
            </a:r>
            <a:endParaRPr lang="en-US" dirty="0"/>
          </a:p>
        </p:txBody>
      </p:sp>
    </p:spTree>
    <p:extLst>
      <p:ext uri="{BB962C8B-B14F-4D97-AF65-F5344CB8AC3E}">
        <p14:creationId xmlns:p14="http://schemas.microsoft.com/office/powerpoint/2010/main" val="2818221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slamic Economics System &lt;ul&gt;&lt;ul&gt;&lt;li&gt;Halal &amp; Haram &lt;/li&gt;&lt;/ul&gt;&lt;/ul&gt;&lt;ul&gt;&lt;ul&gt;&lt;li&gt;Justice &lt;/li&gt;&lt;/ul&gt;&lt;/ul&gt;&lt;ul&gt;&lt;ul&gt;&lt;li&gt;Equality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0152"/>
            <a:ext cx="10934163" cy="6767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595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Islamic economics</a:t>
            </a:r>
          </a:p>
        </p:txBody>
      </p:sp>
      <p:sp>
        <p:nvSpPr>
          <p:cNvPr id="3" name="Content Placeholder 2"/>
          <p:cNvSpPr>
            <a:spLocks noGrp="1"/>
          </p:cNvSpPr>
          <p:nvPr>
            <p:ph idx="1"/>
          </p:nvPr>
        </p:nvSpPr>
        <p:spPr/>
        <p:txBody>
          <a:bodyPr/>
          <a:lstStyle/>
          <a:p>
            <a:r>
              <a:rPr lang="en-US" dirty="0"/>
              <a:t>Alliance with </a:t>
            </a:r>
            <a:r>
              <a:rPr lang="en-US" dirty="0" err="1"/>
              <a:t>sharih</a:t>
            </a:r>
            <a:endParaRPr lang="en-US" dirty="0"/>
          </a:p>
          <a:p>
            <a:r>
              <a:rPr lang="en-US" dirty="0"/>
              <a:t>based on equality</a:t>
            </a:r>
          </a:p>
          <a:p>
            <a:r>
              <a:rPr lang="en-US" dirty="0"/>
              <a:t>Property right</a:t>
            </a:r>
          </a:p>
          <a:p>
            <a:r>
              <a:rPr lang="en-US" dirty="0"/>
              <a:t>Possession of wealth</a:t>
            </a:r>
          </a:p>
          <a:p>
            <a:r>
              <a:rPr lang="en-US" dirty="0"/>
              <a:t>System of </a:t>
            </a:r>
            <a:r>
              <a:rPr lang="en-US" dirty="0" err="1"/>
              <a:t>zakat</a:t>
            </a:r>
            <a:endParaRPr lang="en-US" dirty="0"/>
          </a:p>
          <a:p>
            <a:r>
              <a:rPr lang="en-US" dirty="0"/>
              <a:t>Interest free economy</a:t>
            </a:r>
          </a:p>
          <a:p>
            <a:r>
              <a:rPr lang="en-US" dirty="0"/>
              <a:t>Taxation system</a:t>
            </a:r>
          </a:p>
          <a:p>
            <a:r>
              <a:rPr lang="en-US" dirty="0"/>
              <a:t>currency</a:t>
            </a:r>
          </a:p>
        </p:txBody>
      </p:sp>
    </p:spTree>
    <p:extLst>
      <p:ext uri="{BB962C8B-B14F-4D97-AF65-F5344CB8AC3E}">
        <p14:creationId xmlns:p14="http://schemas.microsoft.com/office/powerpoint/2010/main" val="1200402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124" y="862886"/>
            <a:ext cx="10161431" cy="1223492"/>
          </a:xfrm>
        </p:spPr>
        <p:txBody>
          <a:bodyPr/>
          <a:lstStyle/>
          <a:p>
            <a:pPr algn="ctr"/>
            <a:r>
              <a:rPr lang="en-US" sz="2800" dirty="0">
                <a:latin typeface="Calibri" panose="020F0502020204030204" pitchFamily="34" charset="0"/>
                <a:ea typeface="Calibri" panose="020F0502020204030204" pitchFamily="34" charset="0"/>
                <a:cs typeface="Arial" panose="020B0604020202020204" pitchFamily="34" charset="0"/>
              </a:rPr>
              <a:t>Four dimensions of the Islamic economic system</a:t>
            </a:r>
            <a:endParaRPr lang="en-US" dirty="0"/>
          </a:p>
        </p:txBody>
      </p:sp>
      <p:sp>
        <p:nvSpPr>
          <p:cNvPr id="3" name="Content Placeholder 2"/>
          <p:cNvSpPr>
            <a:spLocks noGrp="1"/>
          </p:cNvSpPr>
          <p:nvPr>
            <p:ph idx="1"/>
          </p:nvPr>
        </p:nvSpPr>
        <p:spPr>
          <a:xfrm>
            <a:off x="1005066" y="2384559"/>
            <a:ext cx="9568489" cy="3416300"/>
          </a:xfrm>
        </p:spPr>
        <p:txBody>
          <a:bodyPr>
            <a:normAutofit/>
          </a:bodyPr>
          <a:lstStyle/>
          <a:p>
            <a:pPr lvl="0">
              <a:buFont typeface="+mj-lt"/>
              <a:buAutoNum type="arabicPeriod"/>
            </a:pPr>
            <a:r>
              <a:rPr lang="en-US" sz="2200" dirty="0">
                <a:solidFill>
                  <a:srgbClr val="FF0000"/>
                </a:solidFill>
              </a:rPr>
              <a:t>IT IS INCUMBENT ON EVERY MUSLIM TO EARN HIS LIVING</a:t>
            </a:r>
          </a:p>
          <a:p>
            <a:pPr lvl="0">
              <a:buFont typeface="+mj-lt"/>
              <a:buAutoNum type="arabicPeriod"/>
            </a:pPr>
            <a:r>
              <a:rPr lang="en-US" sz="2200" dirty="0">
                <a:solidFill>
                  <a:srgbClr val="002060"/>
                </a:solidFill>
              </a:rPr>
              <a:t>EARNING AND SPENDING IS SUBJECT TO CERTAIN LIMITS</a:t>
            </a:r>
          </a:p>
          <a:p>
            <a:pPr lvl="0">
              <a:buFont typeface="+mj-lt"/>
              <a:buAutoNum type="arabicPeriod"/>
            </a:pPr>
            <a:r>
              <a:rPr lang="en-US" sz="2200" dirty="0">
                <a:solidFill>
                  <a:srgbClr val="C00000"/>
                </a:solidFill>
              </a:rPr>
              <a:t>MORAL OBLIGATION OF THE RICH  TO FULFILL THE NEEDS OF  THE POOR</a:t>
            </a:r>
          </a:p>
          <a:p>
            <a:pPr lvl="0">
              <a:buFont typeface="+mj-lt"/>
              <a:buAutoNum type="arabicPeriod"/>
            </a:pPr>
            <a:r>
              <a:rPr lang="en-US" sz="2200" dirty="0">
                <a:solidFill>
                  <a:srgbClr val="7030A0"/>
                </a:solidFill>
              </a:rPr>
              <a:t>LEGAL OBLIGATION OF THE RICH IN REGARD TO THE POO</a:t>
            </a:r>
            <a:r>
              <a:rPr lang="en-US" sz="2800" dirty="0">
                <a:solidFill>
                  <a:srgbClr val="7030A0"/>
                </a:solidFill>
              </a:rPr>
              <a:t>R </a:t>
            </a:r>
          </a:p>
          <a:p>
            <a:endParaRPr lang="en-US" dirty="0"/>
          </a:p>
        </p:txBody>
      </p:sp>
    </p:spTree>
    <p:extLst>
      <p:ext uri="{BB962C8B-B14F-4D97-AF65-F5344CB8AC3E}">
        <p14:creationId xmlns:p14="http://schemas.microsoft.com/office/powerpoint/2010/main" val="622142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 </a:t>
            </a:r>
            <a:r>
              <a:rPr lang="en-US" sz="3600" dirty="0"/>
              <a:t>1.</a:t>
            </a:r>
            <a:r>
              <a:rPr lang="en-US" sz="2400" dirty="0"/>
              <a:t> </a:t>
            </a:r>
            <a:r>
              <a:rPr lang="en-US" sz="2400" b="1" dirty="0"/>
              <a:t>It is incumbent on every Muslim to earn his living</a:t>
            </a:r>
            <a:br>
              <a:rPr lang="en-US" sz="2400" b="1" dirty="0"/>
            </a:br>
            <a:endParaRPr lang="en-US" sz="2400" b="1" dirty="0"/>
          </a:p>
        </p:txBody>
      </p:sp>
      <p:sp>
        <p:nvSpPr>
          <p:cNvPr id="3" name="Text Placeholder 2"/>
          <p:cNvSpPr>
            <a:spLocks noGrp="1"/>
          </p:cNvSpPr>
          <p:nvPr>
            <p:ph type="body" sz="half" idx="2"/>
          </p:nvPr>
        </p:nvSpPr>
        <p:spPr>
          <a:xfrm>
            <a:off x="360608" y="3273552"/>
            <a:ext cx="11462198" cy="3264408"/>
          </a:xfrm>
        </p:spPr>
        <p:txBody>
          <a:bodyPr/>
          <a:lstStyle/>
          <a:p>
            <a:r>
              <a:rPr lang="en-US" sz="2400" b="1" i="1" dirty="0"/>
              <a:t>HOLY PROPHET (S.A.W)  SAID</a:t>
            </a:r>
          </a:p>
          <a:p>
            <a:r>
              <a:rPr lang="en-US" sz="2800" dirty="0"/>
              <a:t>Next to obligatory prayer(</a:t>
            </a:r>
            <a:r>
              <a:rPr lang="en-US" dirty="0"/>
              <a:t>worships</a:t>
            </a:r>
            <a:r>
              <a:rPr lang="en-US" sz="2800" dirty="0"/>
              <a:t>) is the obligation of earning an honest living</a:t>
            </a:r>
          </a:p>
          <a:p>
            <a:endParaRPr lang="en-US" dirty="0"/>
          </a:p>
        </p:txBody>
      </p:sp>
    </p:spTree>
    <p:extLst>
      <p:ext uri="{BB962C8B-B14F-4D97-AF65-F5344CB8AC3E}">
        <p14:creationId xmlns:p14="http://schemas.microsoft.com/office/powerpoint/2010/main" val="884460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8DEBB-8593-4980-B5AF-FF36238051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E4FA4A-0772-44DB-ABC6-1F54D89CCE7C}"/>
              </a:ext>
            </a:extLst>
          </p:cNvPr>
          <p:cNvSpPr>
            <a:spLocks noGrp="1"/>
          </p:cNvSpPr>
          <p:nvPr>
            <p:ph idx="1"/>
          </p:nvPr>
        </p:nvSpPr>
        <p:spPr/>
        <p:txBody>
          <a:bodyPr>
            <a:normAutofit/>
          </a:bodyPr>
          <a:lstStyle/>
          <a:p>
            <a:r>
              <a:rPr lang="en-US" sz="2400" dirty="0"/>
              <a:t>Earning an honest livelihood is an obligation</a:t>
            </a:r>
          </a:p>
        </p:txBody>
      </p:sp>
    </p:spTree>
    <p:extLst>
      <p:ext uri="{BB962C8B-B14F-4D97-AF65-F5344CB8AC3E}">
        <p14:creationId xmlns:p14="http://schemas.microsoft.com/office/powerpoint/2010/main" val="1469099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FA6C6-E475-4FC9-A7A0-1FC84BDE70E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B6D1728-CC45-43F6-B77E-A0A69A0A9ACC}"/>
              </a:ext>
            </a:extLst>
          </p:cNvPr>
          <p:cNvSpPr>
            <a:spLocks noGrp="1"/>
          </p:cNvSpPr>
          <p:nvPr>
            <p:ph idx="1"/>
          </p:nvPr>
        </p:nvSpPr>
        <p:spPr/>
        <p:txBody>
          <a:bodyPr/>
          <a:lstStyle/>
          <a:p>
            <a:r>
              <a:rPr lang="en-US" sz="2000" dirty="0"/>
              <a:t>No one would eat a food better than one which he took after acquiring it with the labor of his hand</a:t>
            </a:r>
            <a:r>
              <a:rPr lang="en-US" dirty="0"/>
              <a:t>”</a:t>
            </a:r>
            <a:br>
              <a:rPr lang="en-US" dirty="0"/>
            </a:br>
            <a:endParaRPr lang="en-US" dirty="0"/>
          </a:p>
        </p:txBody>
      </p:sp>
    </p:spTree>
    <p:extLst>
      <p:ext uri="{BB962C8B-B14F-4D97-AF65-F5344CB8AC3E}">
        <p14:creationId xmlns:p14="http://schemas.microsoft.com/office/powerpoint/2010/main" val="3161676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Begging is condemned in Islam</a:t>
            </a:r>
          </a:p>
        </p:txBody>
      </p:sp>
      <p:sp>
        <p:nvSpPr>
          <p:cNvPr id="3" name="Content Placeholder 2"/>
          <p:cNvSpPr>
            <a:spLocks noGrp="1"/>
          </p:cNvSpPr>
          <p:nvPr>
            <p:ph idx="1"/>
          </p:nvPr>
        </p:nvSpPr>
        <p:spPr/>
        <p:txBody>
          <a:bodyPr/>
          <a:lstStyle/>
          <a:p>
            <a:r>
              <a:rPr lang="en-US" dirty="0" err="1"/>
              <a:t>Prophed</a:t>
            </a:r>
            <a:r>
              <a:rPr lang="en-US" dirty="0"/>
              <a:t> said:</a:t>
            </a:r>
            <a:br>
              <a:rPr lang="en-US" dirty="0"/>
            </a:br>
            <a:r>
              <a:rPr lang="en-US" dirty="0"/>
              <a:t>“It is all equal that one eats by begging or through ill-gotten property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lstStyle/>
          <a:p>
            <a:pPr lvl="1"/>
            <a:r>
              <a:rPr lang="en-US" altLang="en-US" sz="2400" dirty="0"/>
              <a:t>Charity is lawful</a:t>
            </a:r>
            <a:r>
              <a:rPr lang="en-US" altLang="en-US" sz="2400" i="1" dirty="0"/>
              <a:t> </a:t>
            </a:r>
            <a:r>
              <a:rPr lang="en-US" altLang="en-US" sz="2400" dirty="0"/>
              <a:t>neither for the rich nor for the able bodied." (Hadith) </a:t>
            </a:r>
          </a:p>
          <a:p>
            <a:pPr lvl="1"/>
            <a:r>
              <a:rPr lang="en-US" altLang="en-US" sz="2400" dirty="0"/>
              <a:t>It is better that a person should take a rope and bring a bundle of wood on his back to sell so that Allah may preserve his honor, than that he should beg from people, (regardless of) whether they give to him or refuse him. </a:t>
            </a:r>
            <a:r>
              <a:rPr lang="en-US" altLang="en-US" sz="2400"/>
              <a:t>(Hadith)</a:t>
            </a:r>
            <a:endParaRPr lang="en-US"/>
          </a:p>
        </p:txBody>
      </p:sp>
    </p:spTree>
    <p:extLst>
      <p:ext uri="{BB962C8B-B14F-4D97-AF65-F5344CB8AC3E}">
        <p14:creationId xmlns:p14="http://schemas.microsoft.com/office/powerpoint/2010/main" val="1554673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0760" y="837127"/>
            <a:ext cx="10496281" cy="3052293"/>
          </a:xfrm>
        </p:spPr>
        <p:txBody>
          <a:bodyPr/>
          <a:lstStyle/>
          <a:p>
            <a:r>
              <a:rPr lang="en-US" b="1" u="sng" dirty="0">
                <a:latin typeface="Calibri" panose="020F0502020204030204" pitchFamily="34" charset="0"/>
                <a:ea typeface="Calibri" panose="020F0502020204030204" pitchFamily="34" charset="0"/>
                <a:cs typeface="Arial" panose="020B0604020202020204" pitchFamily="34" charset="0"/>
              </a:rPr>
              <a:t>2.</a:t>
            </a:r>
            <a:br>
              <a:rPr lang="en-US" b="1" u="sng" dirty="0">
                <a:latin typeface="Calibri" panose="020F0502020204030204" pitchFamily="34" charset="0"/>
                <a:ea typeface="Calibri" panose="020F0502020204030204" pitchFamily="34" charset="0"/>
                <a:cs typeface="Arial" panose="020B0604020202020204" pitchFamily="34" charset="0"/>
              </a:rPr>
            </a:br>
            <a:br>
              <a:rPr lang="en-US" b="1" u="sng" dirty="0">
                <a:latin typeface="Calibri" panose="020F0502020204030204" pitchFamily="34" charset="0"/>
                <a:ea typeface="Calibri" panose="020F0502020204030204" pitchFamily="34" charset="0"/>
                <a:cs typeface="Arial" panose="020B0604020202020204" pitchFamily="34" charset="0"/>
              </a:rPr>
            </a:br>
            <a:r>
              <a:rPr lang="en-US" b="1" u="sng" dirty="0">
                <a:latin typeface="Calibri" panose="020F0502020204030204" pitchFamily="34" charset="0"/>
                <a:ea typeface="Calibri" panose="020F0502020204030204" pitchFamily="34" charset="0"/>
                <a:cs typeface="Arial" panose="020B0604020202020204" pitchFamily="34" charset="0"/>
              </a:rPr>
              <a:t>2</a:t>
            </a:r>
            <a:br>
              <a:rPr lang="en-US" b="1" u="sng" dirty="0">
                <a:latin typeface="Calibri" panose="020F0502020204030204" pitchFamily="34" charset="0"/>
                <a:ea typeface="Calibri" panose="020F0502020204030204" pitchFamily="34" charset="0"/>
                <a:cs typeface="Arial" panose="020B0604020202020204" pitchFamily="34" charset="0"/>
              </a:rPr>
            </a:br>
            <a:r>
              <a:rPr lang="en-US" sz="3200" dirty="0"/>
              <a:t>Earning and spending is subject to certain limits</a:t>
            </a:r>
            <a:br>
              <a:rPr lang="en-US" dirty="0"/>
            </a:br>
            <a:br>
              <a:rPr lang="en-US" dirty="0">
                <a:latin typeface="Calibri" panose="020F0502020204030204" pitchFamily="34" charset="0"/>
                <a:ea typeface="Calibri" panose="020F0502020204030204" pitchFamily="34" charset="0"/>
                <a:cs typeface="Arial" panose="020B0604020202020204" pitchFamily="34" charset="0"/>
              </a:rPr>
            </a:br>
            <a:endParaRPr lang="en-US" dirty="0"/>
          </a:p>
        </p:txBody>
      </p:sp>
      <p:sp>
        <p:nvSpPr>
          <p:cNvPr id="3" name="Subtitle 2"/>
          <p:cNvSpPr>
            <a:spLocks noGrp="1"/>
          </p:cNvSpPr>
          <p:nvPr>
            <p:ph type="subTitle" idx="1"/>
          </p:nvPr>
        </p:nvSpPr>
        <p:spPr>
          <a:xfrm>
            <a:off x="1154955" y="4777380"/>
            <a:ext cx="8825658" cy="78705"/>
          </a:xfrm>
        </p:spPr>
        <p:txBody>
          <a:bodyPr>
            <a:normAutofit fontScale="25000" lnSpcReduction="20000"/>
          </a:bodyPr>
          <a:lstStyle/>
          <a:p>
            <a:endParaRPr lang="en-US" dirty="0"/>
          </a:p>
        </p:txBody>
      </p:sp>
      <p:sp>
        <p:nvSpPr>
          <p:cNvPr id="4" name="Rectangle 3">
            <a:extLst>
              <a:ext uri="{FF2B5EF4-FFF2-40B4-BE49-F238E27FC236}">
                <a16:creationId xmlns:a16="http://schemas.microsoft.com/office/drawing/2014/main" id="{35DA7446-B0EA-4E67-92EA-5F84300F1070}"/>
              </a:ext>
            </a:extLst>
          </p:cNvPr>
          <p:cNvSpPr/>
          <p:nvPr/>
        </p:nvSpPr>
        <p:spPr>
          <a:xfrm>
            <a:off x="3048000" y="2967335"/>
            <a:ext cx="6096000" cy="1231106"/>
          </a:xfrm>
          <a:prstGeom prst="rect">
            <a:avLst/>
          </a:prstGeom>
        </p:spPr>
        <p:txBody>
          <a:bodyPr>
            <a:spAutoFit/>
          </a:bodyPr>
          <a:lstStyle/>
          <a:p>
            <a:r>
              <a:rPr lang="en-US" sz="2800" dirty="0">
                <a:latin typeface="Calibri" panose="020F0502020204030204" pitchFamily="34" charset="0"/>
                <a:ea typeface="Calibri" panose="020F0502020204030204" pitchFamily="34" charset="0"/>
                <a:cs typeface="Arial" panose="020B0604020202020204" pitchFamily="34" charset="0"/>
              </a:rPr>
              <a:t>EVERY ONE IS FREE TO UTILIZE HIS WEALTH FOR MULTIPLYING IT FURTHER</a:t>
            </a:r>
            <a:br>
              <a:rPr lang="en-US" dirty="0">
                <a:latin typeface="Calibri" panose="020F0502020204030204" pitchFamily="34" charset="0"/>
                <a:ea typeface="Calibri" panose="020F0502020204030204" pitchFamily="34" charset="0"/>
                <a:cs typeface="Arial" panose="020B0604020202020204" pitchFamily="34" charset="0"/>
              </a:rPr>
            </a:br>
            <a:endParaRPr lang="en-US" dirty="0"/>
          </a:p>
        </p:txBody>
      </p:sp>
    </p:spTree>
    <p:extLst>
      <p:ext uri="{BB962C8B-B14F-4D97-AF65-F5344CB8AC3E}">
        <p14:creationId xmlns:p14="http://schemas.microsoft.com/office/powerpoint/2010/main" val="2432421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9549" y="1423941"/>
            <a:ext cx="10290220" cy="2215991"/>
          </a:xfrm>
          <a:prstGeom prst="rect">
            <a:avLst/>
          </a:prstGeom>
        </p:spPr>
        <p:txBody>
          <a:bodyPr wrap="square">
            <a:spAutoFit/>
          </a:bodyPr>
          <a:lstStyle/>
          <a:p>
            <a:pPr marR="0" lvl="0">
              <a:lnSpc>
                <a:spcPct val="115000"/>
              </a:lnSpc>
              <a:spcBef>
                <a:spcPts val="0"/>
              </a:spcBef>
              <a:spcAft>
                <a:spcPts val="1000"/>
              </a:spcAft>
            </a:pPr>
            <a:r>
              <a:rPr lang="en-US" sz="4000" dirty="0">
                <a:latin typeface="Calibri" panose="020F0502020204030204" pitchFamily="34" charset="0"/>
                <a:ea typeface="Calibri" panose="020F0502020204030204" pitchFamily="34" charset="0"/>
                <a:cs typeface="Arial" panose="020B0604020202020204" pitchFamily="34" charset="0"/>
              </a:rPr>
              <a:t>The freedom to multiply wealth is, of course, not absolutely unrestrained. It is subject to certain heavy moral and legal restrictions</a:t>
            </a:r>
            <a:r>
              <a:rPr lang="en-US" dirty="0">
                <a:latin typeface="Calibri" panose="020F0502020204030204" pitchFamily="34" charset="0"/>
                <a:ea typeface="Calibri" panose="020F0502020204030204" pitchFamily="34" charset="0"/>
                <a:cs typeface="Arial" panose="020B0604020202020204" pitchFamily="34" charset="0"/>
              </a:rPr>
              <a:t>: </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3512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Six basic conditions of lawful business</a:t>
            </a:r>
          </a:p>
        </p:txBody>
      </p:sp>
      <p:sp>
        <p:nvSpPr>
          <p:cNvPr id="3" name="Content Placeholder 2"/>
          <p:cNvSpPr>
            <a:spLocks noGrp="1"/>
          </p:cNvSpPr>
          <p:nvPr>
            <p:ph idx="1"/>
          </p:nvPr>
        </p:nvSpPr>
        <p:spPr/>
        <p:txBody>
          <a:bodyPr/>
          <a:lstStyle/>
          <a:p>
            <a:r>
              <a:rPr lang="en-US" dirty="0"/>
              <a:t>Willingness ( for buyer and seller)</a:t>
            </a:r>
          </a:p>
          <a:p>
            <a:r>
              <a:rPr lang="en-US" dirty="0"/>
              <a:t>Should be halal</a:t>
            </a:r>
          </a:p>
          <a:p>
            <a:r>
              <a:rPr lang="en-US" dirty="0"/>
              <a:t>Capability ( no minor would be legal to buy and sell) </a:t>
            </a:r>
          </a:p>
          <a:p>
            <a:r>
              <a:rPr lang="en-US" dirty="0"/>
              <a:t>Possession ( </a:t>
            </a:r>
            <a:r>
              <a:rPr lang="en-US" sz="1200" dirty="0"/>
              <a:t>la </a:t>
            </a:r>
            <a:r>
              <a:rPr lang="en-US" sz="1200" dirty="0" err="1"/>
              <a:t>tabia</a:t>
            </a:r>
            <a:r>
              <a:rPr lang="en-US" sz="1200" dirty="0"/>
              <a:t> ma less </a:t>
            </a:r>
            <a:r>
              <a:rPr lang="en-US" sz="1200" dirty="0" err="1"/>
              <a:t>indak</a:t>
            </a:r>
            <a:r>
              <a:rPr lang="en-US" dirty="0"/>
              <a:t>) </a:t>
            </a:r>
          </a:p>
          <a:p>
            <a:r>
              <a:rPr lang="en-US" dirty="0"/>
              <a:t>Should be owner or be on behalf of owner</a:t>
            </a:r>
          </a:p>
          <a:p>
            <a:r>
              <a:rPr lang="en-US" dirty="0"/>
              <a:t>Should be clear which is being sold (</a:t>
            </a:r>
            <a:r>
              <a:rPr lang="en-US" sz="1100" dirty="0" err="1"/>
              <a:t>habl</a:t>
            </a:r>
            <a:r>
              <a:rPr lang="en-US" sz="1100" dirty="0"/>
              <a:t> ul </a:t>
            </a:r>
            <a:r>
              <a:rPr lang="en-US" sz="1100" dirty="0" err="1"/>
              <a:t>habal</a:t>
            </a:r>
            <a:r>
              <a:rPr lang="en-US" dirty="0"/>
              <a:t>)</a:t>
            </a:r>
          </a:p>
        </p:txBody>
      </p:sp>
    </p:spTree>
    <p:extLst>
      <p:ext uri="{BB962C8B-B14F-4D97-AF65-F5344CB8AC3E}">
        <p14:creationId xmlns:p14="http://schemas.microsoft.com/office/powerpoint/2010/main" val="2685941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8039" y="453296"/>
            <a:ext cx="8216722" cy="4552015"/>
          </a:xfrm>
          <a:prstGeom prst="rect">
            <a:avLst/>
          </a:prstGeom>
        </p:spPr>
        <p:txBody>
          <a:bodyPr wrap="square">
            <a:spAutoFit/>
          </a:bodyPr>
          <a:lstStyle/>
          <a:p>
            <a:pPr marR="0" lvl="0" algn="just">
              <a:lnSpc>
                <a:spcPct val="115000"/>
              </a:lnSpc>
              <a:spcBef>
                <a:spcPts val="0"/>
              </a:spcBef>
              <a:spcAft>
                <a:spcPts val="1000"/>
              </a:spcAft>
            </a:pPr>
            <a:r>
              <a:rPr lang="en-US" sz="3600" dirty="0">
                <a:latin typeface="Calibri" panose="020F0502020204030204" pitchFamily="34" charset="0"/>
                <a:ea typeface="Calibri" panose="020F0502020204030204" pitchFamily="34" charset="0"/>
                <a:cs typeface="Arial" panose="020B0604020202020204" pitchFamily="34" charset="0"/>
              </a:rPr>
              <a:t>All the lawful avenues of earning a livelihood are open to every one. In economic field body has equal opportunities of struggle. No monopoly of any kind exists. Every body is free to choose a profession of his own liking and aptitude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20506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2276" y="1177171"/>
            <a:ext cx="9903853" cy="3323987"/>
          </a:xfrm>
          <a:prstGeom prst="rect">
            <a:avLst/>
          </a:prstGeom>
        </p:spPr>
        <p:txBody>
          <a:bodyPr wrap="square">
            <a:spAutoFit/>
          </a:bodyPr>
          <a:lstStyle/>
          <a:p>
            <a:r>
              <a:rPr lang="en-US" sz="3200" dirty="0">
                <a:latin typeface="Calibri" panose="020F0502020204030204" pitchFamily="34" charset="0"/>
                <a:ea typeface="Calibri" panose="020F0502020204030204" pitchFamily="34" charset="0"/>
                <a:cs typeface="Arial" panose="020B0604020202020204" pitchFamily="34" charset="0"/>
              </a:rPr>
              <a:t>All things in the earth and space, in the creation of which man has not subscribed, can be utilized by all in accordance with their need</a:t>
            </a:r>
          </a:p>
          <a:p>
            <a:endParaRPr lang="en-US" sz="3200" dirty="0">
              <a:latin typeface="Calibri" panose="020F0502020204030204" pitchFamily="34" charset="0"/>
              <a:cs typeface="Arial" panose="020B0604020202020204" pitchFamily="34" charset="0"/>
            </a:endParaRPr>
          </a:p>
          <a:p>
            <a:pPr lvl="0"/>
            <a:r>
              <a:rPr lang="en-US" sz="3200" dirty="0"/>
              <a:t>Prophet (S A W) said:” all Muslims have equal share in three things; water , grass and fire</a:t>
            </a:r>
          </a:p>
          <a:p>
            <a:endParaRPr lang="en-US" dirty="0"/>
          </a:p>
        </p:txBody>
      </p:sp>
    </p:spTree>
    <p:extLst>
      <p:ext uri="{BB962C8B-B14F-4D97-AF65-F5344CB8AC3E}">
        <p14:creationId xmlns:p14="http://schemas.microsoft.com/office/powerpoint/2010/main" val="38418456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0152" y="1325637"/>
            <a:ext cx="11024316" cy="1919500"/>
          </a:xfrm>
          <a:prstGeom prst="rect">
            <a:avLst/>
          </a:prstGeom>
        </p:spPr>
        <p:txBody>
          <a:bodyPr wrap="square">
            <a:spAutoFit/>
          </a:bodyPr>
          <a:lstStyle/>
          <a:p>
            <a:pPr marR="0" lvl="0">
              <a:lnSpc>
                <a:spcPct val="115000"/>
              </a:lnSpc>
              <a:spcBef>
                <a:spcPts val="0"/>
              </a:spcBef>
              <a:spcAft>
                <a:spcPts val="1000"/>
              </a:spcAft>
            </a:pPr>
            <a:r>
              <a:rPr lang="en-US" sz="3200" dirty="0">
                <a:latin typeface="Calibri" panose="020F0502020204030204" pitchFamily="34" charset="0"/>
                <a:ea typeface="Calibri" panose="020F0502020204030204" pitchFamily="34" charset="0"/>
                <a:cs typeface="Arial" panose="020B0604020202020204" pitchFamily="34" charset="0"/>
              </a:rPr>
              <a:t>“Any one who cultivates a barren land, he becomes its owner”</a:t>
            </a:r>
          </a:p>
          <a:p>
            <a:pPr marR="0" lvl="0" algn="just">
              <a:lnSpc>
                <a:spcPct val="115000"/>
              </a:lnSpc>
              <a:spcBef>
                <a:spcPts val="0"/>
              </a:spcBef>
              <a:spcAft>
                <a:spcPts val="1000"/>
              </a:spcAft>
            </a:pPr>
            <a:r>
              <a:rPr lang="en-US" sz="3200" dirty="0"/>
              <a:t>“the one who keeps the land uncultivated for three years will have no claim over that land</a:t>
            </a:r>
            <a:r>
              <a:rPr lang="en-US" dirty="0"/>
              <a:t>”</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89245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72236" y="1673367"/>
            <a:ext cx="6997522" cy="2131866"/>
          </a:xfrm>
          <a:prstGeom prst="rect">
            <a:avLst/>
          </a:prstGeom>
        </p:spPr>
        <p:txBody>
          <a:bodyPr wrap="square">
            <a:spAutoFit/>
          </a:bodyPr>
          <a:lstStyle/>
          <a:p>
            <a:pPr marR="0" lvl="0">
              <a:lnSpc>
                <a:spcPct val="115000"/>
              </a:lnSpc>
              <a:spcBef>
                <a:spcPts val="0"/>
              </a:spcBef>
              <a:spcAft>
                <a:spcPts val="1000"/>
              </a:spcAft>
            </a:pPr>
            <a:r>
              <a:rPr lang="en-US" sz="3600" dirty="0">
                <a:latin typeface="Calibri" panose="020F0502020204030204" pitchFamily="34" charset="0"/>
                <a:ea typeface="Calibri" panose="020F0502020204030204" pitchFamily="34" charset="0"/>
                <a:cs typeface="Arial" panose="020B0604020202020204" pitchFamily="34" charset="0"/>
              </a:rPr>
              <a:t>(MAN GUSSH FA LESS MINNA) </a:t>
            </a:r>
          </a:p>
          <a:p>
            <a:pPr marR="0" lvl="0">
              <a:lnSpc>
                <a:spcPct val="115000"/>
              </a:lnSpc>
              <a:spcBef>
                <a:spcPts val="0"/>
              </a:spcBef>
              <a:spcAft>
                <a:spcPts val="1000"/>
              </a:spcAft>
            </a:pPr>
            <a:r>
              <a:rPr lang="en-US" sz="3600" dirty="0">
                <a:latin typeface="Calibri" panose="020F0502020204030204" pitchFamily="34" charset="0"/>
                <a:ea typeface="Calibri" panose="020F0502020204030204" pitchFamily="34" charset="0"/>
                <a:cs typeface="Arial" panose="020B0604020202020204" pitchFamily="34" charset="0"/>
              </a:rPr>
              <a:t> He who deceives is not one of my people</a:t>
            </a:r>
            <a:endParaRPr lang="en-US" sz="3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513858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9094" y="2446101"/>
            <a:ext cx="11487955" cy="587853"/>
          </a:xfrm>
          <a:prstGeom prst="rect">
            <a:avLst/>
          </a:prstGeom>
        </p:spPr>
        <p:txBody>
          <a:bodyPr wrap="square">
            <a:spAutoFit/>
          </a:bodyPr>
          <a:lstStyle/>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Taking of false oath for the purpose of increasing sale is also a sin</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960131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7126" y="2553857"/>
            <a:ext cx="10782772" cy="587853"/>
          </a:xfrm>
          <a:prstGeom prst="rect">
            <a:avLst/>
          </a:prstGeom>
        </p:spPr>
        <p:txBody>
          <a:bodyPr wrap="square">
            <a:spAutoFit/>
          </a:bodyPr>
          <a:lstStyle/>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Business involving usury (interest) is in any form forbidden</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567736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9549" y="2252916"/>
            <a:ext cx="10753859" cy="1054263"/>
          </a:xfrm>
          <a:prstGeom prst="rect">
            <a:avLst/>
          </a:prstGeom>
        </p:spPr>
        <p:txBody>
          <a:bodyPr wrap="square">
            <a:spAutoFit/>
          </a:bodyPr>
          <a:lstStyle/>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No such partnership is permissible in which profit of one partner is guaranteed but of the other is not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5900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4704" y="2437947"/>
            <a:ext cx="9542886" cy="625428"/>
          </a:xfrm>
          <a:prstGeom prst="rect">
            <a:avLst/>
          </a:prstGeom>
        </p:spPr>
        <p:txBody>
          <a:bodyPr wrap="square">
            <a:spAutoFit/>
          </a:bodyPr>
          <a:lstStyle/>
          <a:p>
            <a:pPr marR="0" lvl="0">
              <a:lnSpc>
                <a:spcPct val="115000"/>
              </a:lnSpc>
              <a:spcBef>
                <a:spcPts val="0"/>
              </a:spcBef>
              <a:spcAft>
                <a:spcPts val="1000"/>
              </a:spcAft>
            </a:pPr>
            <a:r>
              <a:rPr lang="en-US" sz="3200" dirty="0">
                <a:latin typeface="Calibri" panose="020F0502020204030204" pitchFamily="34" charset="0"/>
                <a:ea typeface="Calibri" panose="020F0502020204030204" pitchFamily="34" charset="0"/>
                <a:cs typeface="Arial" panose="020B0604020202020204" pitchFamily="34" charset="0"/>
              </a:rPr>
              <a:t>Gambling is an unlawful and impious act</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97883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9702" y="2201400"/>
            <a:ext cx="10200067" cy="1054263"/>
          </a:xfrm>
          <a:prstGeom prst="rect">
            <a:avLst/>
          </a:prstGeom>
        </p:spPr>
        <p:txBody>
          <a:bodyPr wrap="square">
            <a:spAutoFit/>
          </a:bodyPr>
          <a:lstStyle/>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Trade of all such things is also forbidden which have been held unlawful for eating and drinking</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27593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1064" y="2188522"/>
            <a:ext cx="10496282" cy="1054263"/>
          </a:xfrm>
          <a:prstGeom prst="rect">
            <a:avLst/>
          </a:prstGeom>
        </p:spPr>
        <p:txBody>
          <a:bodyPr wrap="square">
            <a:spAutoFit/>
          </a:bodyPr>
          <a:lstStyle/>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In business such methods which harm others, or the society as a whole, are also not permissible</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76218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5156" y="1223492"/>
            <a:ext cx="11011436" cy="3366796"/>
          </a:xfrm>
        </p:spPr>
        <p:txBody>
          <a:bodyPr/>
          <a:lstStyle/>
          <a:p>
            <a:r>
              <a:rPr lang="en-US" sz="3600" b="1" u="sng" dirty="0">
                <a:latin typeface="Calibri" panose="020F0502020204030204" pitchFamily="34" charset="0"/>
                <a:ea typeface="Calibri" panose="020F0502020204030204" pitchFamily="34" charset="0"/>
                <a:cs typeface="Arial" panose="020B0604020202020204" pitchFamily="34" charset="0"/>
              </a:rPr>
              <a:t>3-</a:t>
            </a:r>
            <a:br>
              <a:rPr lang="en-US" sz="3600" dirty="0">
                <a:latin typeface="Calibri" panose="020F0502020204030204" pitchFamily="34" charset="0"/>
                <a:ea typeface="Calibri" panose="020F0502020204030204" pitchFamily="34" charset="0"/>
                <a:cs typeface="Arial" panose="020B0604020202020204" pitchFamily="34" charset="0"/>
              </a:rPr>
            </a:br>
            <a:r>
              <a:rPr lang="en-US" sz="3600" dirty="0">
                <a:latin typeface="Calibri" panose="020F0502020204030204" pitchFamily="34" charset="0"/>
                <a:ea typeface="Calibri" panose="020F0502020204030204" pitchFamily="34" charset="0"/>
                <a:cs typeface="Arial" panose="020B0604020202020204" pitchFamily="34" charset="0"/>
              </a:rPr>
              <a:t> </a:t>
            </a:r>
            <a:r>
              <a:rPr lang="en-US" sz="3600" b="1" dirty="0"/>
              <a:t>Moral obligation of the rich  to fulfill the needs of  the poor</a:t>
            </a:r>
            <a:br>
              <a:rPr lang="en-US" sz="3600" dirty="0"/>
            </a:br>
            <a:br>
              <a:rPr lang="en-US" dirty="0">
                <a:latin typeface="Calibri" panose="020F0502020204030204" pitchFamily="34" charset="0"/>
                <a:ea typeface="Calibri" panose="020F0502020204030204" pitchFamily="34" charset="0"/>
                <a:cs typeface="Arial" panose="020B0604020202020204" pitchFamily="34" charset="0"/>
              </a:rPr>
            </a:b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1156122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182" y="1892307"/>
            <a:ext cx="11706896" cy="2047740"/>
          </a:xfrm>
          <a:prstGeom prst="rect">
            <a:avLst/>
          </a:prstGeom>
        </p:spPr>
        <p:txBody>
          <a:bodyPr wrap="square">
            <a:spAutoFit/>
          </a:bodyPr>
          <a:lstStyle/>
          <a:p>
            <a:pPr marR="0" lvl="0">
              <a:lnSpc>
                <a:spcPct val="115000"/>
              </a:lnSpc>
              <a:spcBef>
                <a:spcPts val="0"/>
              </a:spcBef>
              <a:spcAft>
                <a:spcPts val="1000"/>
              </a:spcAft>
            </a:pPr>
            <a:r>
              <a:rPr lang="fa-IR" sz="3200" b="1" dirty="0"/>
              <a:t>وَفِيْٓ اَمْوَالِهِمْ حَقٌّ لِّلسَّاۗىِٕلِ وَالْمَحْرُوْمِ</a:t>
            </a:r>
            <a:endParaRPr lang="en-US" sz="3200" dirty="0">
              <a:latin typeface="Calibri" panose="020F0502020204030204" pitchFamily="34" charset="0"/>
              <a:ea typeface="Calibri" panose="020F0502020204030204" pitchFamily="34" charset="0"/>
              <a:cs typeface="Arial" panose="020B0604020202020204" pitchFamily="34" charset="0"/>
            </a:endParaRPr>
          </a:p>
          <a:p>
            <a:pPr marR="0" lvl="0">
              <a:lnSpc>
                <a:spcPct val="115000"/>
              </a:lnSpc>
              <a:spcBef>
                <a:spcPts val="0"/>
              </a:spcBef>
              <a:spcAft>
                <a:spcPts val="1000"/>
              </a:spcAft>
            </a:pPr>
            <a:r>
              <a:rPr lang="en-US" sz="3200" dirty="0">
                <a:latin typeface="Calibri" panose="020F0502020204030204" pitchFamily="34" charset="0"/>
                <a:ea typeface="Calibri" panose="020F0502020204030204" pitchFamily="34" charset="0"/>
                <a:cs typeface="Arial" panose="020B0604020202020204" pitchFamily="34" charset="0"/>
              </a:rPr>
              <a:t>(WA FEE AMWALEHIM HAQ LIS SAEL WAL MAHROOM)</a:t>
            </a:r>
          </a:p>
          <a:p>
            <a:pPr marR="0" lvl="0">
              <a:lnSpc>
                <a:spcPct val="115000"/>
              </a:lnSpc>
              <a:spcBef>
                <a:spcPts val="0"/>
              </a:spcBef>
              <a:spcAft>
                <a:spcPts val="1000"/>
              </a:spcAft>
            </a:pPr>
            <a:r>
              <a:rPr lang="en-US" sz="3200" dirty="0">
                <a:latin typeface="Calibri" panose="020F0502020204030204" pitchFamily="34" charset="0"/>
                <a:ea typeface="Calibri" panose="020F0502020204030204" pitchFamily="34" charset="0"/>
                <a:cs typeface="Arial" panose="020B0604020202020204" pitchFamily="34" charset="0"/>
              </a:rPr>
              <a:t> and in their wealth, the baggers and out cast had due share</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424486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ar-AE" b="1" dirty="0"/>
              <a:t>خُذْ مِنْ أَمْوَالِهِمْ صَدَقَةً تُطَهِّرُهُمْ وَتُزَكِّيهِم </a:t>
            </a:r>
            <a:endParaRPr lang="en-US" b="1" dirty="0"/>
          </a:p>
          <a:p>
            <a:r>
              <a:rPr lang="en-US" dirty="0"/>
              <a:t>Take, [O, Muhammad], from their wealth a charity by which you purify them and cause them increase</a:t>
            </a:r>
          </a:p>
        </p:txBody>
      </p:sp>
    </p:spTree>
    <p:extLst>
      <p:ext uri="{BB962C8B-B14F-4D97-AF65-F5344CB8AC3E}">
        <p14:creationId xmlns:p14="http://schemas.microsoft.com/office/powerpoint/2010/main" val="37779124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305" y="2634555"/>
            <a:ext cx="11848563" cy="1835374"/>
          </a:xfrm>
          <a:prstGeom prst="rect">
            <a:avLst/>
          </a:prstGeom>
        </p:spPr>
        <p:txBody>
          <a:bodyPr wrap="square">
            <a:spAutoFit/>
          </a:bodyPr>
          <a:lstStyle/>
          <a:p>
            <a:pPr marR="0" lvl="0">
              <a:lnSpc>
                <a:spcPct val="115000"/>
              </a:lnSpc>
              <a:spcBef>
                <a:spcPts val="0"/>
              </a:spcBef>
              <a:spcAft>
                <a:spcPts val="1000"/>
              </a:spcAft>
            </a:pPr>
            <a:r>
              <a:rPr lang="fa-IR" sz="2800" dirty="0"/>
              <a:t>لَنْ تَنَالُوا الْبِرَّ حَتّٰى تُنْفِقُوْا مِمَّا تُحِبُّوْنَ</a:t>
            </a:r>
            <a:endParaRPr lang="en-US" sz="2800" dirty="0">
              <a:latin typeface="Calibri" panose="020F0502020204030204" pitchFamily="34" charset="0"/>
              <a:ea typeface="Calibri" panose="020F0502020204030204" pitchFamily="34" charset="0"/>
              <a:cs typeface="Arial" panose="020B0604020202020204" pitchFamily="34" charset="0"/>
            </a:endParaRPr>
          </a:p>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 LAN TANAAL UL BIR HATTA TUNFEQO MIMA TUHIBOON) </a:t>
            </a:r>
          </a:p>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You will not attain to piety until you spend  of that which you love</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454631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1619" y="518624"/>
            <a:ext cx="8825658" cy="2677648"/>
          </a:xfrm>
        </p:spPr>
        <p:txBody>
          <a:bodyPr/>
          <a:lstStyle/>
          <a:p>
            <a:r>
              <a:rPr lang="en-US" dirty="0"/>
              <a:t>4</a:t>
            </a:r>
            <a:r>
              <a:rPr lang="en-US" sz="3600" dirty="0"/>
              <a:t>. LEGAL OBLIGATION OF THE RICH IN REGARD TO THE POOR</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871742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011640"/>
            <a:ext cx="12192000" cy="1578894"/>
          </a:xfrm>
          <a:prstGeom prst="rect">
            <a:avLst/>
          </a:prstGeom>
        </p:spPr>
        <p:txBody>
          <a:bodyPr wrap="square">
            <a:spAutoFit/>
          </a:bodyPr>
          <a:lstStyle/>
          <a:p>
            <a:pPr marR="0" lvl="0" algn="just">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If the amount recovered as zakat and tithe does not suffice for the needs of the poor and other religious requirements, the government has right to levy(charge) additional tax on the rich</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544797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38340"/>
            <a:ext cx="12192000" cy="1182503"/>
          </a:xfrm>
          <a:prstGeom prst="rect">
            <a:avLst/>
          </a:prstGeom>
        </p:spPr>
        <p:txBody>
          <a:bodyPr wrap="square">
            <a:spAutoFit/>
          </a:bodyPr>
          <a:lstStyle/>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When a Muslim dies his property is distributed among his nearest relatives, </a:t>
            </a:r>
          </a:p>
          <a:p>
            <a:pPr marR="0" lvl="0">
              <a:lnSpc>
                <a:spcPct val="115000"/>
              </a:lnSpc>
              <a:spcBef>
                <a:spcPts val="0"/>
              </a:spcBef>
              <a:spcAft>
                <a:spcPts val="1000"/>
              </a:spcAft>
            </a:pPr>
            <a:r>
              <a:rPr lang="en-US" sz="2800" dirty="0">
                <a:latin typeface="Calibri" panose="020F0502020204030204" pitchFamily="34" charset="0"/>
                <a:ea typeface="Calibri" panose="020F0502020204030204" pitchFamily="34" charset="0"/>
                <a:cs typeface="Arial" panose="020B0604020202020204" pitchFamily="34" charset="0"/>
              </a:rPr>
              <a:t>this system also helps the circulation of wealth</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06809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Legal and lawful sources of income</a:t>
            </a:r>
          </a:p>
        </p:txBody>
      </p:sp>
      <p:sp>
        <p:nvSpPr>
          <p:cNvPr id="3" name="Content Placeholder 2"/>
          <p:cNvSpPr>
            <a:spLocks noGrp="1"/>
          </p:cNvSpPr>
          <p:nvPr>
            <p:ph idx="1"/>
          </p:nvPr>
        </p:nvSpPr>
        <p:spPr/>
        <p:txBody>
          <a:bodyPr/>
          <a:lstStyle/>
          <a:p>
            <a:r>
              <a:rPr lang="en-US" dirty="0"/>
              <a:t>Business</a:t>
            </a:r>
          </a:p>
          <a:p>
            <a:r>
              <a:rPr lang="en-US" dirty="0"/>
              <a:t>Agriculture</a:t>
            </a:r>
          </a:p>
          <a:p>
            <a:r>
              <a:rPr lang="en-US" dirty="0"/>
              <a:t>Employment</a:t>
            </a:r>
          </a:p>
          <a:p>
            <a:r>
              <a:rPr lang="en-US" dirty="0"/>
              <a:t>Industry</a:t>
            </a:r>
          </a:p>
          <a:p>
            <a:r>
              <a:rPr lang="en-US" dirty="0"/>
              <a:t>Daily wages</a:t>
            </a:r>
          </a:p>
          <a:p>
            <a:pPr>
              <a:buNone/>
            </a:pP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Illegal and unlawful sources of income </a:t>
            </a:r>
          </a:p>
        </p:txBody>
      </p:sp>
      <p:sp>
        <p:nvSpPr>
          <p:cNvPr id="3" name="Content Placeholder 2"/>
          <p:cNvSpPr>
            <a:spLocks noGrp="1"/>
          </p:cNvSpPr>
          <p:nvPr>
            <p:ph idx="1"/>
          </p:nvPr>
        </p:nvSpPr>
        <p:spPr>
          <a:xfrm>
            <a:off x="1154954" y="2603499"/>
            <a:ext cx="8825659" cy="4032431"/>
          </a:xfrm>
        </p:spPr>
        <p:txBody>
          <a:bodyPr/>
          <a:lstStyle/>
          <a:p>
            <a:r>
              <a:rPr lang="en-US" dirty="0"/>
              <a:t>Thievery</a:t>
            </a:r>
          </a:p>
          <a:p>
            <a:r>
              <a:rPr lang="en-US" dirty="0"/>
              <a:t>Looting</a:t>
            </a:r>
          </a:p>
          <a:p>
            <a:r>
              <a:rPr lang="en-US" dirty="0"/>
              <a:t>Interest</a:t>
            </a:r>
          </a:p>
          <a:p>
            <a:r>
              <a:rPr lang="en-US" dirty="0"/>
              <a:t>Cheating in scaling </a:t>
            </a:r>
          </a:p>
          <a:p>
            <a:r>
              <a:rPr lang="en-US" dirty="0"/>
              <a:t>Greasing palm</a:t>
            </a:r>
          </a:p>
          <a:p>
            <a:r>
              <a:rPr lang="en-US" dirty="0"/>
              <a:t>Hoarding</a:t>
            </a:r>
          </a:p>
          <a:p>
            <a:r>
              <a:rPr lang="en-US" dirty="0"/>
              <a:t>Mixing</a:t>
            </a:r>
          </a:p>
          <a:p>
            <a:r>
              <a:rPr lang="en-US" dirty="0"/>
              <a:t>Sailing of wine, heroin etc</a:t>
            </a:r>
          </a:p>
          <a:p>
            <a:r>
              <a:rPr lang="en-US" dirty="0"/>
              <a:t>debauchery</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426</TotalTime>
  <Words>1344</Words>
  <Application>Microsoft Office PowerPoint</Application>
  <PresentationFormat>Widescreen</PresentationFormat>
  <Paragraphs>174</Paragraphs>
  <Slides>49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SimSun-ExtB</vt:lpstr>
      <vt:lpstr>Arial</vt:lpstr>
      <vt:lpstr>Arial Unicode MS</vt:lpstr>
      <vt:lpstr>Calibri</vt:lpstr>
      <vt:lpstr>Century Gothic</vt:lpstr>
      <vt:lpstr>Wingdings 3</vt:lpstr>
      <vt:lpstr>Ion Boardroom</vt:lpstr>
      <vt:lpstr>ECONOMIC SYSTEM OF ISLAM أَهُمْ يَقْسِمُونَ رَحْمَتَ رَبِّكَ ۚ نَحْنُ قَسَمْنَا بَيْنَهُم مَّعِيشَتَهُمْ فِي الْحَيَاةِ الدُّنْيَا ۚ وَرَفَعْنَا بَعْضَهُمْ فَوْقَ بَعْضٍ دَرَجَاتٍ لِّيَتَّخِذَ بَعْضُهُم بَعْضًا سُخْرِيًّا  </vt:lpstr>
      <vt:lpstr>defination</vt:lpstr>
      <vt:lpstr>capitalism</vt:lpstr>
      <vt:lpstr>Features of capitalism</vt:lpstr>
      <vt:lpstr>Right of ownership </vt:lpstr>
      <vt:lpstr>Economic freedom</vt:lpstr>
      <vt:lpstr>monopoly</vt:lpstr>
      <vt:lpstr>Institutions of interest</vt:lpstr>
      <vt:lpstr>exploitation</vt:lpstr>
      <vt:lpstr>Distribution of wealth</vt:lpstr>
      <vt:lpstr>socialism</vt:lpstr>
      <vt:lpstr>PowerPoint Presentation</vt:lpstr>
      <vt:lpstr>Features of socialism</vt:lpstr>
      <vt:lpstr>ownership</vt:lpstr>
      <vt:lpstr>materialism</vt:lpstr>
      <vt:lpstr>Economic equality</vt:lpstr>
      <vt:lpstr>Quranic teachings regarding economics</vt:lpstr>
      <vt:lpstr>PowerPoint Presentation</vt:lpstr>
      <vt:lpstr>PowerPoint Presentation</vt:lpstr>
      <vt:lpstr>PowerPoint Presentation</vt:lpstr>
      <vt:lpstr>Characteristics of Islamic economics</vt:lpstr>
      <vt:lpstr>Four dimensions of the Islamic economic system</vt:lpstr>
      <vt:lpstr> 1. It is incumbent on every Muslim to earn his living </vt:lpstr>
      <vt:lpstr>PowerPoint Presentation</vt:lpstr>
      <vt:lpstr>PowerPoint Presentation</vt:lpstr>
      <vt:lpstr>Begging is condemned in Islam</vt:lpstr>
      <vt:lpstr>Cont:</vt:lpstr>
      <vt:lpstr>2.  2 Earning and spending is subject to certain limits  </vt:lpstr>
      <vt:lpstr>PowerPoint Presentation</vt:lpstr>
      <vt:lpstr>Six basic conditions of lawful business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Moral obligation of the rich  to fulfill the needs of  the poor  </vt:lpstr>
      <vt:lpstr>PowerPoint Presentation</vt:lpstr>
      <vt:lpstr>PowerPoint Presentation</vt:lpstr>
      <vt:lpstr>PowerPoint Presentation</vt:lpstr>
      <vt:lpstr>4. LEGAL OBLIGATION OF THE RICH IN REGARD TO THE POOR</vt:lpstr>
      <vt:lpstr>PowerPoint Presentation</vt:lpstr>
      <vt:lpstr>PowerPoint Presentation</vt:lpstr>
      <vt:lpstr>Legal and lawful sources of income</vt:lpstr>
      <vt:lpstr>Illegal and unlawful sources of income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SYSTEM OF ISLAM</dc:title>
  <dc:creator>student</dc:creator>
  <cp:lastModifiedBy>Peeral Sb</cp:lastModifiedBy>
  <cp:revision>58</cp:revision>
  <dcterms:created xsi:type="dcterms:W3CDTF">2016-04-23T06:13:39Z</dcterms:created>
  <dcterms:modified xsi:type="dcterms:W3CDTF">2021-06-01T08:09:20Z</dcterms:modified>
</cp:coreProperties>
</file>