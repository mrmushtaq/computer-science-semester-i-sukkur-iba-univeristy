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7" r:id="rId2"/>
    <p:sldId id="305" r:id="rId3"/>
    <p:sldId id="256" r:id="rId4"/>
    <p:sldId id="334" r:id="rId5"/>
    <p:sldId id="328" r:id="rId6"/>
    <p:sldId id="260" r:id="rId7"/>
    <p:sldId id="272" r:id="rId8"/>
    <p:sldId id="279" r:id="rId9"/>
    <p:sldId id="257" r:id="rId10"/>
    <p:sldId id="330" r:id="rId11"/>
    <p:sldId id="331" r:id="rId12"/>
    <p:sldId id="265" r:id="rId13"/>
    <p:sldId id="258" r:id="rId14"/>
    <p:sldId id="307" r:id="rId15"/>
    <p:sldId id="270" r:id="rId16"/>
    <p:sldId id="284" r:id="rId17"/>
    <p:sldId id="285" r:id="rId18"/>
    <p:sldId id="287" r:id="rId19"/>
    <p:sldId id="288" r:id="rId20"/>
    <p:sldId id="289" r:id="rId21"/>
    <p:sldId id="290" r:id="rId22"/>
    <p:sldId id="291" r:id="rId23"/>
    <p:sldId id="292" r:id="rId24"/>
    <p:sldId id="294" r:id="rId25"/>
    <p:sldId id="282" r:id="rId26"/>
    <p:sldId id="262" r:id="rId27"/>
    <p:sldId id="308" r:id="rId28"/>
    <p:sldId id="309" r:id="rId29"/>
    <p:sldId id="332" r:id="rId30"/>
    <p:sldId id="310" r:id="rId31"/>
    <p:sldId id="311" r:id="rId32"/>
    <p:sldId id="314" r:id="rId33"/>
    <p:sldId id="312" r:id="rId34"/>
    <p:sldId id="333" r:id="rId35"/>
    <p:sldId id="316" r:id="rId36"/>
    <p:sldId id="315" r:id="rId37"/>
    <p:sldId id="317" r:id="rId38"/>
    <p:sldId id="318" r:id="rId39"/>
    <p:sldId id="295" r:id="rId40"/>
    <p:sldId id="296" r:id="rId41"/>
    <p:sldId id="303" r:id="rId42"/>
    <p:sldId id="263" r:id="rId43"/>
    <p:sldId id="271" r:id="rId44"/>
    <p:sldId id="327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8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/>
          <p:cNvPicPr>
            <a:picLocks noGrp="1" noChangeAspect="1" noChangeArrowheads="1"/>
          </p:cNvPicPr>
          <p:nvPr>
            <p:ph type="ctr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9802" y="717958"/>
            <a:ext cx="4790114" cy="1143000"/>
          </a:xfrm>
        </p:spPr>
      </p:pic>
      <p:sp>
        <p:nvSpPr>
          <p:cNvPr id="10243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152476" y="2378978"/>
            <a:ext cx="7391400" cy="1752600"/>
          </a:xfrm>
        </p:spPr>
        <p:txBody>
          <a:bodyPr/>
          <a:lstStyle/>
          <a:p>
            <a:pPr algn="l" eaLnBrk="1" hangingPunct="1"/>
            <a:r>
              <a:rPr lang="en-US" altLang="en-US" sz="4400" dirty="0"/>
              <a:t>In the Name of </a:t>
            </a:r>
            <a:r>
              <a:rPr lang="en-US" altLang="en-US" sz="4400" dirty="0">
                <a:solidFill>
                  <a:schemeClr val="hlink"/>
                </a:solidFill>
              </a:rPr>
              <a:t>Allah</a:t>
            </a:r>
          </a:p>
          <a:p>
            <a:pPr algn="l" eaLnBrk="1" hangingPunct="1"/>
            <a:r>
              <a:rPr lang="en-US" altLang="en-US" dirty="0"/>
              <a:t>    </a:t>
            </a:r>
            <a:r>
              <a:rPr lang="en-US" altLang="en-US" b="1" dirty="0"/>
              <a:t>the Most Gracious,  the Most Merciful</a:t>
            </a:r>
          </a:p>
        </p:txBody>
      </p:sp>
    </p:spTree>
    <p:extLst>
      <p:ext uri="{BB962C8B-B14F-4D97-AF65-F5344CB8AC3E}">
        <p14:creationId xmlns:p14="http://schemas.microsoft.com/office/powerpoint/2010/main" val="3357011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74" y="2242457"/>
            <a:ext cx="8596668" cy="1320800"/>
          </a:xfrm>
        </p:spPr>
        <p:txBody>
          <a:bodyPr/>
          <a:lstStyle/>
          <a:p>
            <a:pPr algn="ctr"/>
            <a:r>
              <a:rPr lang="en-US" b="1" dirty="0" err="1"/>
              <a:t>Zakat</a:t>
            </a:r>
            <a:r>
              <a:rPr lang="en-US" b="1" dirty="0"/>
              <a:t> (Poor's due)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611" y="296215"/>
            <a:ext cx="8554332" cy="409179"/>
          </a:xfrm>
        </p:spPr>
        <p:txBody>
          <a:bodyPr/>
          <a:lstStyle/>
          <a:p>
            <a:pPr algn="ctr"/>
            <a:r>
              <a:rPr lang="en-US" sz="2800" b="1" dirty="0"/>
              <a:t>Literal meaning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7583" y="1162594"/>
            <a:ext cx="8166420" cy="5421086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§"/>
            </a:pPr>
            <a:r>
              <a:rPr lang="en-US" sz="2100" dirty="0"/>
              <a:t>The literal </a:t>
            </a:r>
            <a:r>
              <a:rPr lang="en-US" sz="2100" b="1" dirty="0"/>
              <a:t>meaning of Zakat</a:t>
            </a:r>
            <a:r>
              <a:rPr lang="en-US" sz="2100" dirty="0"/>
              <a:t> is </a:t>
            </a:r>
          </a:p>
          <a:p>
            <a:pPr algn="l">
              <a:buFont typeface="Wingdings" pitchFamily="2" charset="2"/>
              <a:buChar char="§"/>
            </a:pPr>
            <a:r>
              <a:rPr lang="en-US" sz="2100" dirty="0"/>
              <a:t>'to cleanse‘</a:t>
            </a:r>
          </a:p>
          <a:p>
            <a:pPr algn="l">
              <a:buFont typeface="Wingdings" pitchFamily="2" charset="2"/>
              <a:buChar char="§"/>
            </a:pPr>
            <a:r>
              <a:rPr lang="en-US" sz="2100" dirty="0"/>
              <a:t> ‘to purify’.</a:t>
            </a:r>
          </a:p>
          <a:p>
            <a:pPr algn="l">
              <a:buFont typeface="Wingdings" pitchFamily="2" charset="2"/>
              <a:buChar char="§"/>
            </a:pPr>
            <a:r>
              <a:rPr lang="en-US" sz="2100" dirty="0"/>
              <a:t> to grow (in goodness) or 'increase’</a:t>
            </a:r>
          </a:p>
          <a:p>
            <a:pPr algn="l">
              <a:buFont typeface="Wingdings" pitchFamily="2" charset="2"/>
              <a:buChar char="§"/>
            </a:pPr>
            <a:endParaRPr lang="en-US" sz="2100" dirty="0"/>
          </a:p>
          <a:p>
            <a:pPr algn="l">
              <a:buFont typeface="Wingdings" pitchFamily="2" charset="2"/>
              <a:buChar char="§"/>
            </a:pPr>
            <a:endParaRPr lang="en-US" sz="2100" dirty="0"/>
          </a:p>
          <a:p>
            <a:pPr algn="l"/>
            <a:br>
              <a:rPr lang="en-US" dirty="0"/>
            </a:br>
            <a:br>
              <a:rPr lang="en-US" dirty="0"/>
            </a:b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2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3FB55-5485-47B5-944C-978754C8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In Islamic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EBC43-2D17-433E-84FE-986B7C063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 term used in Islamic finance to refer to the obligation that an individual has to donate a certain proportion of wealth each year to charitable causes.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854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1EEA-B08C-4641-B188-7F610F9A3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803936" cy="1009475"/>
          </a:xfrm>
        </p:spPr>
        <p:txBody>
          <a:bodyPr/>
          <a:lstStyle/>
          <a:p>
            <a:r>
              <a:rPr lang="en-US" sz="2400" dirty="0"/>
              <a:t>One of the most important principles of Islam is that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BBD42-7DA0-4E4E-BE9A-457F43F2B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All things belong to Allah</a:t>
            </a:r>
          </a:p>
          <a:p>
            <a:r>
              <a:rPr lang="en-US" dirty="0">
                <a:solidFill>
                  <a:srgbClr val="002060"/>
                </a:solidFill>
              </a:rPr>
              <a:t>And the wealth is therefore held by human beings </a:t>
            </a:r>
            <a:r>
              <a:rPr lang="en-US" dirty="0">
                <a:solidFill>
                  <a:srgbClr val="FF0000"/>
                </a:solidFill>
              </a:rPr>
              <a:t>in trust</a:t>
            </a:r>
            <a:r>
              <a:rPr lang="en-US" dirty="0">
                <a:solidFill>
                  <a:srgbClr val="002060"/>
                </a:solidFill>
              </a:rPr>
              <a:t>.</a:t>
            </a:r>
          </a:p>
          <a:p>
            <a:r>
              <a:rPr lang="fa-IR" dirty="0"/>
              <a:t>وَرَفَعَ بَعْضَكُمْ فَوْقَ بَعْضٍ دَرَجٰتٍ </a:t>
            </a:r>
            <a:r>
              <a:rPr lang="fa-IR" dirty="0">
                <a:solidFill>
                  <a:srgbClr val="C00000"/>
                </a:solidFill>
              </a:rPr>
              <a:t>لِّيَبْلُوَكُمْ فِيْ مَآ اٰتٰىكُمْ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GB" b="1" dirty="0"/>
              <a:t>"He has raised some of you in ranks above others that He may </a:t>
            </a:r>
            <a:r>
              <a:rPr lang="en-GB" b="1" dirty="0">
                <a:solidFill>
                  <a:srgbClr val="FF0000"/>
                </a:solidFill>
              </a:rPr>
              <a:t>try you in the gifts He has given you</a:t>
            </a:r>
            <a:r>
              <a:rPr lang="en-GB" b="1" dirty="0"/>
              <a:t>." (</a:t>
            </a:r>
            <a:r>
              <a:rPr lang="en-GB" sz="1200" b="1" dirty="0"/>
              <a:t>6: 165</a:t>
            </a:r>
            <a:r>
              <a:rPr lang="en-GB" b="1" dirty="0"/>
              <a:t>)</a:t>
            </a:r>
          </a:p>
          <a:p>
            <a:r>
              <a:rPr lang="en-GB" b="1" dirty="0"/>
              <a:t>Thus, a Muslim, whether prosperous or needy, considers his condition in this world as a </a:t>
            </a:r>
            <a:r>
              <a:rPr lang="en-GB" b="1" u="sng" dirty="0">
                <a:solidFill>
                  <a:srgbClr val="FF0000"/>
                </a:solidFill>
              </a:rPr>
              <a:t>test from God</a:t>
            </a:r>
            <a:r>
              <a:rPr lang="en-GB" b="1" dirty="0"/>
              <a:t>. Those who have wealth have the obligation to be generous and charitable and to share the bounties of God with their brothers.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0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39403"/>
            <a:ext cx="8596668" cy="4701959"/>
          </a:xfrm>
        </p:spPr>
        <p:txBody>
          <a:bodyPr>
            <a:normAutofit/>
          </a:bodyPr>
          <a:lstStyle/>
          <a:p>
            <a:r>
              <a:rPr lang="en-US" dirty="0" err="1"/>
              <a:t>Zakah</a:t>
            </a:r>
            <a:r>
              <a:rPr lang="en-US" dirty="0"/>
              <a:t> not only purifies the property of the contributor but </a:t>
            </a:r>
            <a:r>
              <a:rPr lang="en-US" u="sng" dirty="0">
                <a:solidFill>
                  <a:srgbClr val="C00000"/>
                </a:solidFill>
              </a:rPr>
              <a:t>also purifies his heart from selfishness and greed</a:t>
            </a:r>
            <a:r>
              <a:rPr lang="en-US" dirty="0"/>
              <a:t>. </a:t>
            </a:r>
          </a:p>
          <a:p>
            <a:r>
              <a:rPr lang="en-US" dirty="0"/>
              <a:t>It also </a:t>
            </a:r>
            <a:r>
              <a:rPr lang="en-US" u="sng" dirty="0">
                <a:solidFill>
                  <a:srgbClr val="002060"/>
                </a:solidFill>
              </a:rPr>
              <a:t>purifies the heart of the recipient from </a:t>
            </a:r>
            <a:r>
              <a:rPr lang="en-US" u="sng" dirty="0">
                <a:solidFill>
                  <a:srgbClr val="FF0000"/>
                </a:solidFill>
              </a:rPr>
              <a:t>envy and jealousy, from hatred </a:t>
            </a:r>
            <a:r>
              <a:rPr lang="en-US" dirty="0">
                <a:solidFill>
                  <a:srgbClr val="FF0000"/>
                </a:solidFill>
              </a:rPr>
              <a:t>and uneasiness</a:t>
            </a:r>
            <a:r>
              <a:rPr lang="en-US" dirty="0"/>
              <a:t> and it fosters instead good-will and warm wishes for the contributors</a:t>
            </a:r>
          </a:p>
        </p:txBody>
      </p:sp>
    </p:spTree>
    <p:extLst>
      <p:ext uri="{BB962C8B-B14F-4D97-AF65-F5344CB8AC3E}">
        <p14:creationId xmlns:p14="http://schemas.microsoft.com/office/powerpoint/2010/main" val="538914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 b="1" u="sng"/>
              <a:t>Salat &amp; Zakat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Mostly referred In Quran together</a:t>
            </a:r>
          </a:p>
          <a:p>
            <a:pPr eaLnBrk="1" hangingPunct="1"/>
            <a:r>
              <a:rPr lang="en-US" altLang="en-US" dirty="0"/>
              <a:t>Both are the Fundamental form of Worship</a:t>
            </a:r>
          </a:p>
          <a:p>
            <a:pPr eaLnBrk="1" hangingPunct="1"/>
            <a:r>
              <a:rPr lang="en-US" altLang="en-US" dirty="0"/>
              <a:t>Mostly mentioned after “</a:t>
            </a:r>
            <a:r>
              <a:rPr lang="en-US" altLang="en-US" dirty="0" err="1">
                <a:solidFill>
                  <a:srgbClr val="00B050"/>
                </a:solidFill>
              </a:rPr>
              <a:t>Eaiman</a:t>
            </a:r>
            <a:r>
              <a:rPr lang="en-US" altLang="en-US" dirty="0"/>
              <a:t>”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Practical demonstration of </a:t>
            </a:r>
            <a:r>
              <a:rPr lang="en-US" altLang="en-US" dirty="0"/>
              <a:t>“</a:t>
            </a:r>
            <a:r>
              <a:rPr lang="en-US" altLang="en-US" dirty="0" err="1">
                <a:solidFill>
                  <a:srgbClr val="0070C0"/>
                </a:solidFill>
              </a:rPr>
              <a:t>Eaiman</a:t>
            </a:r>
            <a:r>
              <a:rPr lang="en-US" altLang="en-US" dirty="0"/>
              <a:t>”</a:t>
            </a:r>
          </a:p>
          <a:p>
            <a:pPr eaLnBrk="1" hangingPunct="1"/>
            <a:r>
              <a:rPr lang="en-US" altLang="en-US" dirty="0" err="1">
                <a:solidFill>
                  <a:srgbClr val="FF0000"/>
                </a:solidFill>
              </a:rPr>
              <a:t>Salat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Connect Human being with </a:t>
            </a:r>
            <a:r>
              <a:rPr lang="en-US" altLang="en-US" dirty="0">
                <a:solidFill>
                  <a:srgbClr val="FF0000"/>
                </a:solidFill>
              </a:rPr>
              <a:t>Allah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Zakat</a:t>
            </a:r>
            <a:r>
              <a:rPr lang="en-US" altLang="en-US" dirty="0"/>
              <a:t> Connect Human being with </a:t>
            </a:r>
            <a:r>
              <a:rPr lang="en-US" altLang="en-US" dirty="0">
                <a:solidFill>
                  <a:srgbClr val="7030A0"/>
                </a:solidFill>
              </a:rPr>
              <a:t>Others humans</a:t>
            </a:r>
          </a:p>
        </p:txBody>
      </p:sp>
    </p:spTree>
    <p:extLst>
      <p:ext uri="{BB962C8B-B14F-4D97-AF65-F5344CB8AC3E}">
        <p14:creationId xmlns:p14="http://schemas.microsoft.com/office/powerpoint/2010/main" val="2268308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b="1" u="sng"/>
              <a:t>Who should pay </a:t>
            </a:r>
            <a:r>
              <a:rPr lang="en-US" altLang="en-US" b="1" u="sng">
                <a:solidFill>
                  <a:schemeClr val="folHlink"/>
                </a:solidFill>
              </a:rPr>
              <a:t>zakat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86414" y="862614"/>
            <a:ext cx="8458200" cy="522949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/>
              <a:t>Any one who has in his possession more than equivalent of the value of 85gm gold </a:t>
            </a:r>
            <a:r>
              <a:rPr lang="en-US" altLang="en-US" sz="3200" b="1"/>
              <a:t>or 612gm </a:t>
            </a:r>
            <a:r>
              <a:rPr lang="en-US" altLang="en-US" sz="3200" b="1" dirty="0"/>
              <a:t>of silver, </a:t>
            </a:r>
            <a:r>
              <a:rPr lang="en-US" altLang="en-US" sz="3200" b="1" dirty="0">
                <a:solidFill>
                  <a:srgbClr val="FF0000"/>
                </a:solidFill>
              </a:rPr>
              <a:t>over and above his living expenses </a:t>
            </a:r>
          </a:p>
          <a:p>
            <a:pPr eaLnBrk="1" hangingPunct="1"/>
            <a:r>
              <a:rPr lang="en-US" altLang="en-US" sz="3200" b="1" dirty="0"/>
              <a:t>On agricultural produce </a:t>
            </a:r>
            <a:r>
              <a:rPr lang="en-US" altLang="en-US" sz="3200" b="1" dirty="0">
                <a:solidFill>
                  <a:schemeClr val="folHlink"/>
                </a:solidFill>
              </a:rPr>
              <a:t>zakat</a:t>
            </a:r>
            <a:r>
              <a:rPr lang="en-US" altLang="en-US" sz="3200" b="1" dirty="0"/>
              <a:t> is payable if the value of crop is more than </a:t>
            </a:r>
            <a:r>
              <a:rPr lang="en-US" altLang="en-US" sz="3200" b="1" dirty="0">
                <a:solidFill>
                  <a:srgbClr val="C00000"/>
                </a:solidFill>
              </a:rPr>
              <a:t>3265kg</a:t>
            </a:r>
            <a:r>
              <a:rPr lang="en-US" altLang="en-US" sz="3200" b="1" dirty="0"/>
              <a:t> of wheat, rice or corn (popular grain)</a:t>
            </a:r>
          </a:p>
        </p:txBody>
      </p:sp>
    </p:spTree>
    <p:extLst>
      <p:ext uri="{BB962C8B-B14F-4D97-AF65-F5344CB8AC3E}">
        <p14:creationId xmlns:p14="http://schemas.microsoft.com/office/powerpoint/2010/main" val="381844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587128" cy="794197"/>
          </a:xfrm>
        </p:spPr>
        <p:txBody>
          <a:bodyPr/>
          <a:lstStyle/>
          <a:p>
            <a:r>
              <a:rPr lang="en-US" dirty="0"/>
              <a:t>Importance of Zakat in the light of Quran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3797"/>
            <a:ext cx="8596668" cy="4637565"/>
          </a:xfrm>
        </p:spPr>
        <p:txBody>
          <a:bodyPr>
            <a:normAutofit/>
          </a:bodyPr>
          <a:lstStyle/>
          <a:p>
            <a:r>
              <a:rPr lang="en-US" dirty="0"/>
              <a:t>At 70 places in the Quran, Allah Almighty the commands that Salah and Zakat co-exist </a:t>
            </a:r>
          </a:p>
          <a:p>
            <a:r>
              <a:rPr lang="en-US" dirty="0"/>
              <a:t>Quran has depicted its virtue of 1 rupee equal to 700 rupees</a:t>
            </a:r>
          </a:p>
          <a:p>
            <a:r>
              <a:rPr lang="fa-IR" b="1" dirty="0">
                <a:solidFill>
                  <a:srgbClr val="FF0000"/>
                </a:solidFill>
              </a:rPr>
              <a:t>وَاٰتَوُا الزَّكٰوةَ</a:t>
            </a:r>
            <a:r>
              <a:rPr lang="fa-IR" dirty="0">
                <a:solidFill>
                  <a:srgbClr val="FF0000"/>
                </a:solidFill>
              </a:rPr>
              <a:t> </a:t>
            </a:r>
            <a:r>
              <a:rPr lang="fa-IR" dirty="0"/>
              <a:t>لَھُمْ اَجْرُھُمْ عِنْدَ رَبِّهِمْ ۚ وَلَا </a:t>
            </a:r>
            <a:r>
              <a:rPr lang="fa-IR" dirty="0">
                <a:solidFill>
                  <a:srgbClr val="92D050"/>
                </a:solidFill>
              </a:rPr>
              <a:t>خَوْفٌ عَلَيْهِمْ وَلَا ھُمْ يَحْزَنُوْنَ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GB" b="1" dirty="0"/>
              <a:t>"</a:t>
            </a:r>
            <a:r>
              <a:rPr lang="en-GB" dirty="0"/>
              <a:t>Lo! Those who pay </a:t>
            </a:r>
            <a:r>
              <a:rPr lang="en-GB" i="1" dirty="0"/>
              <a:t>zakat, </a:t>
            </a:r>
            <a:r>
              <a:rPr lang="en-GB" dirty="0"/>
              <a:t>their reward is with their </a:t>
            </a:r>
            <a:r>
              <a:rPr lang="en-GB" dirty="0" err="1"/>
              <a:t>Sustainer</a:t>
            </a:r>
            <a:r>
              <a:rPr lang="en-GB" dirty="0"/>
              <a:t>; and no fear shall come upon them, nor shall they grieve." </a:t>
            </a:r>
            <a:r>
              <a:rPr lang="en-GB" b="1" dirty="0"/>
              <a:t>(2:277)</a:t>
            </a:r>
          </a:p>
          <a:p>
            <a:pPr marL="0" indent="0">
              <a:buNone/>
            </a:pPr>
            <a:r>
              <a:rPr lang="fa-IR" sz="2000" b="1" dirty="0">
                <a:solidFill>
                  <a:srgbClr val="00B050"/>
                </a:solidFill>
              </a:rPr>
              <a:t>وَيُؤْتُوْنَ الزَّكٰوةَ </a:t>
            </a:r>
            <a:r>
              <a:rPr lang="fa-IR" dirty="0"/>
              <a:t>وَهُمْ بِالْاٰخِرَةِ هُمْ يُوْقِنُوْنَ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fa-IR" dirty="0"/>
              <a:t> </a:t>
            </a:r>
            <a:r>
              <a:rPr lang="fa-IR" dirty="0">
                <a:solidFill>
                  <a:srgbClr val="00B0F0"/>
                </a:solidFill>
              </a:rPr>
              <a:t>اُولٰۗىِٕكَ عَلٰي هُدًى مِّنْ رَّبِّهِمْ وَاُولٰۗىِٕكَ هُمُ الْمُفْلِحُوْنَ</a:t>
            </a:r>
            <a:r>
              <a:rPr lang="fa-IR" dirty="0"/>
              <a:t>   </a:t>
            </a:r>
            <a:endParaRPr lang="en-US" dirty="0"/>
          </a:p>
          <a:p>
            <a:r>
              <a:rPr lang="en-GB" b="1" dirty="0"/>
              <a:t>“ who </a:t>
            </a:r>
            <a:r>
              <a:rPr lang="en-GB" dirty="0"/>
              <a:t>pay </a:t>
            </a:r>
            <a:r>
              <a:rPr lang="en-GB" i="1" dirty="0"/>
              <a:t>zakat and have the assurance of the Hereafter. These are on guidance from their </a:t>
            </a:r>
            <a:r>
              <a:rPr lang="en-GB" i="1" dirty="0" err="1"/>
              <a:t>Sustainer</a:t>
            </a:r>
            <a:r>
              <a:rPr lang="en-GB" i="1" dirty="0"/>
              <a:t>, and these are the ones who will prosper </a:t>
            </a:r>
            <a:r>
              <a:rPr lang="en-GB" b="1" i="1" dirty="0"/>
              <a:t>." </a:t>
            </a:r>
            <a:r>
              <a:rPr lang="en-GB" sz="1200" b="1" i="1" dirty="0"/>
              <a:t>(31 :1-5)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2046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D606-B809-4D09-ACA4-5CACE8F1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9450"/>
            <a:ext cx="8596668" cy="729842"/>
          </a:xfrm>
        </p:spPr>
        <p:txBody>
          <a:bodyPr/>
          <a:lstStyle/>
          <a:p>
            <a:r>
              <a:rPr lang="en-US" dirty="0" err="1"/>
              <a:t>Contt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9FC4E-87AF-4BD0-BEF6-4FB4BB53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5579"/>
            <a:ext cx="8596668" cy="4195784"/>
          </a:xfrm>
        </p:spPr>
        <p:txBody>
          <a:bodyPr>
            <a:normAutofit/>
          </a:bodyPr>
          <a:lstStyle/>
          <a:p>
            <a:r>
              <a:rPr lang="ur-PK" b="0" i="0" dirty="0">
                <a:solidFill>
                  <a:srgbClr val="333333"/>
                </a:solidFill>
                <a:effectLst/>
                <a:latin typeface="web2_b"/>
              </a:rPr>
              <a:t>وَ قَالَ اللّٰهُ </a:t>
            </a:r>
            <a:r>
              <a:rPr lang="ur-PK" b="0" i="0" dirty="0">
                <a:solidFill>
                  <a:srgbClr val="FF0000"/>
                </a:solidFill>
                <a:effectLst/>
                <a:latin typeface="web2_b"/>
              </a:rPr>
              <a:t>اِنِّیْ مَعَكُمْؕ</a:t>
            </a:r>
            <a:r>
              <a:rPr lang="ur-PK" b="0" i="0" dirty="0">
                <a:solidFill>
                  <a:srgbClr val="333333"/>
                </a:solidFill>
                <a:effectLst/>
                <a:latin typeface="web2_b"/>
              </a:rPr>
              <a:t>-لَىٕنْ اَقَمْتُمُ الصَّلٰوةَ وَ اٰتَیْتُمُ الزَّكٰوةَ</a:t>
            </a:r>
            <a:endParaRPr lang="en-US" b="0" i="0" dirty="0">
              <a:solidFill>
                <a:srgbClr val="6C757D"/>
              </a:solidFill>
              <a:effectLst/>
              <a:latin typeface="SFProText-Regular"/>
            </a:endParaRPr>
          </a:p>
          <a:p>
            <a:r>
              <a:rPr lang="en-US" b="0" i="0" dirty="0">
                <a:solidFill>
                  <a:srgbClr val="6C757D"/>
                </a:solidFill>
                <a:effectLst/>
                <a:latin typeface="SFProText-Regular"/>
              </a:rPr>
              <a:t>I am truly with you. If you establish prayer, pay alms-tax,</a:t>
            </a:r>
          </a:p>
          <a:p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وَآتوا حَقَّهُ يَومَ حَصادِهِ</a:t>
            </a:r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and give its due on the day of harvest, </a:t>
            </a:r>
          </a:p>
          <a:p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وَآتُوا الزَّكاةَ </a:t>
            </a:r>
            <a:r>
              <a:rPr lang="ur-PK" b="0" i="0" dirty="0">
                <a:solidFill>
                  <a:srgbClr val="C00000"/>
                </a:solidFill>
                <a:effectLst/>
                <a:latin typeface="scheherazaderegular"/>
              </a:rPr>
              <a:t>وَأَقرِضُوا اللَّهَ قَرضًا حَسَنًا </a:t>
            </a:r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ۚ وَما تُقَدِّموا لِأَنفُسِكُم مِن خَيرٍ </a:t>
            </a:r>
            <a:r>
              <a:rPr lang="ur-PK" b="0" i="0" dirty="0">
                <a:solidFill>
                  <a:srgbClr val="FF0000"/>
                </a:solidFill>
                <a:effectLst/>
                <a:latin typeface="scheherazaderegular"/>
              </a:rPr>
              <a:t>تَجِدوهُ عِندَ ا</a:t>
            </a:r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للَّهِ</a:t>
            </a:r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and pay the </a:t>
            </a:r>
            <a:r>
              <a:rPr lang="en-US" b="0" i="1" dirty="0">
                <a:solidFill>
                  <a:srgbClr val="404040"/>
                </a:solidFill>
                <a:effectLst/>
                <a:latin typeface="gentium plus"/>
              </a:rPr>
              <a:t>zakat </a:t>
            </a:r>
            <a:r>
              <a:rPr lang="en-US" b="0" i="0" dirty="0">
                <a:solidFill>
                  <a:srgbClr val="0070C0"/>
                </a:solidFill>
                <a:effectLst/>
                <a:latin typeface="gentium plus"/>
              </a:rPr>
              <a:t>and lend Allah a good loan</a:t>
            </a:r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. Whatever good you send ahead for your souls you will find it with Allah.</a:t>
            </a:r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38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7C6E-4510-4BE1-BE41-A29C038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term (INFAQ) for poor's due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2341-A68D-4D17-93D6-EE7A6DA72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5245"/>
            <a:ext cx="8596668" cy="4246118"/>
          </a:xfrm>
        </p:spPr>
        <p:txBody>
          <a:bodyPr>
            <a:normAutofit fontScale="92500" lnSpcReduction="10000"/>
          </a:bodyPr>
          <a:lstStyle/>
          <a:p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أَنفِقوا مِمّا رَزَقناكُم</a:t>
            </a:r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 Spend out of what We have provided you</a:t>
            </a:r>
          </a:p>
          <a:p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وَمِمّا رَزَقناهُم يُنفِقونَ</a:t>
            </a:r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and spend</a:t>
            </a:r>
            <a:r>
              <a:rPr lang="en-US" b="0" i="1" baseline="30000" dirty="0">
                <a:solidFill>
                  <a:srgbClr val="A6A6A6"/>
                </a:solidFill>
                <a:effectLst/>
                <a:latin typeface="gentium plus"/>
              </a:rPr>
              <a:t>1</a:t>
            </a:r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 out of what We have provided for them;</a:t>
            </a:r>
            <a:endParaRPr lang="en-US" dirty="0">
              <a:solidFill>
                <a:srgbClr val="404040"/>
              </a:solidFill>
              <a:latin typeface="scheherazaderegular"/>
            </a:endParaRPr>
          </a:p>
          <a:p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أَنفِقوا مِن طَيِّباتِ ما كَسَبتُم و</a:t>
            </a:r>
            <a:r>
              <a:rPr lang="ur-PK" b="0" i="0" dirty="0">
                <a:solidFill>
                  <a:srgbClr val="FF0000"/>
                </a:solidFill>
                <a:effectLst/>
                <a:latin typeface="scheherazaderegular"/>
              </a:rPr>
              <a:t>َمِمّا أَخرَجنا لَكُم مِنَ الأَرضِ</a:t>
            </a:r>
            <a:endParaRPr lang="en-US" b="0" i="0" dirty="0">
              <a:solidFill>
                <a:srgbClr val="FF0000"/>
              </a:solidFill>
              <a:effectLst/>
              <a:latin typeface="scheherazaderegular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Spend of the good things you have earned, and of what We </a:t>
            </a:r>
            <a:r>
              <a:rPr lang="en-US" b="0" i="0" dirty="0">
                <a:solidFill>
                  <a:srgbClr val="0070C0"/>
                </a:solidFill>
                <a:effectLst/>
                <a:latin typeface="gentium plus"/>
              </a:rPr>
              <a:t>bring forth for you</a:t>
            </a:r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 </a:t>
            </a:r>
            <a:r>
              <a:rPr lang="en-US" b="0" i="0" dirty="0">
                <a:solidFill>
                  <a:srgbClr val="00B0F0"/>
                </a:solidFill>
                <a:effectLst/>
                <a:latin typeface="gentium plus"/>
              </a:rPr>
              <a:t>from the earth</a:t>
            </a:r>
            <a:endParaRPr lang="en-US" b="0" i="0" dirty="0">
              <a:solidFill>
                <a:srgbClr val="00B0F0"/>
              </a:solidFill>
              <a:effectLst/>
              <a:latin typeface="scheherazaderegular"/>
            </a:endParaRPr>
          </a:p>
          <a:p>
            <a:r>
              <a:rPr lang="ur-PK" b="0" i="0" dirty="0">
                <a:solidFill>
                  <a:srgbClr val="404040"/>
                </a:solidFill>
                <a:effectLst/>
                <a:latin typeface="scheherazaderegular"/>
              </a:rPr>
              <a:t>مَثَلُ الَّذينَ يُنفِقونَ أَموالَهُم في سَبيلِ اللَّهِ كَمَثَلِ حَبَّةٍ أَنبَتَت سَبعَ سَنابِلَ في كُلِّ سُنبُلَةٍ مِائَةُ حَبَّةٍ ۗ وَاللَّهُ يُضاعِفُ لِمَن يَشاءُ</a:t>
            </a:r>
            <a:endParaRPr lang="en-US" b="0" i="0" dirty="0">
              <a:solidFill>
                <a:srgbClr val="404040"/>
              </a:solidFill>
              <a:effectLst/>
              <a:latin typeface="scheherazaderegular"/>
            </a:endParaRPr>
          </a:p>
          <a:p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The parable of those who spend their wealth in the way of Allah is that of </a:t>
            </a:r>
            <a:r>
              <a:rPr lang="en-US" b="0" i="0" dirty="0">
                <a:solidFill>
                  <a:srgbClr val="00B050"/>
                </a:solidFill>
                <a:effectLst/>
                <a:latin typeface="gentium plus"/>
              </a:rPr>
              <a:t>a grain </a:t>
            </a:r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which grows </a:t>
            </a:r>
            <a:r>
              <a:rPr lang="en-US" b="0" i="0" dirty="0">
                <a:solidFill>
                  <a:srgbClr val="00B050"/>
                </a:solidFill>
                <a:effectLst/>
                <a:latin typeface="gentium plus"/>
              </a:rPr>
              <a:t>seven ears,</a:t>
            </a:r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 in every </a:t>
            </a:r>
            <a:r>
              <a:rPr lang="en-US" b="0" i="0" dirty="0">
                <a:solidFill>
                  <a:srgbClr val="00B050"/>
                </a:solidFill>
                <a:effectLst/>
                <a:latin typeface="gentium plus"/>
              </a:rPr>
              <a:t>ear a hundred grains</a:t>
            </a:r>
            <a:r>
              <a:rPr lang="en-US" b="0" i="0" dirty="0">
                <a:solidFill>
                  <a:srgbClr val="404040"/>
                </a:solidFill>
                <a:effectLst/>
                <a:latin typeface="gentium plus"/>
              </a:rPr>
              <a:t>. Allah enhances severalfold whomever He wishes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237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3893"/>
          </a:xfrm>
        </p:spPr>
        <p:txBody>
          <a:bodyPr>
            <a:normAutofit fontScale="90000"/>
          </a:bodyPr>
          <a:lstStyle/>
          <a:p>
            <a:r>
              <a:rPr lang="en-US" dirty="0"/>
              <a:t>Punishment for not paying </a:t>
            </a:r>
            <a:r>
              <a:rPr lang="en-US" dirty="0" err="1"/>
              <a:t>zakah</a:t>
            </a:r>
            <a:r>
              <a:rPr lang="en-US" dirty="0"/>
              <a:t> in Quran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1070"/>
            <a:ext cx="8596668" cy="5138671"/>
          </a:xfrm>
        </p:spPr>
        <p:txBody>
          <a:bodyPr>
            <a:normAutofit lnSpcReduction="10000"/>
          </a:bodyPr>
          <a:lstStyle/>
          <a:p>
            <a:r>
              <a:rPr lang="fa-IR" dirty="0"/>
              <a:t>وَالَّذِيْنَ يَكْنِزُوْنَ الذَّهَبَ وَالْفِضَّةَ </a:t>
            </a:r>
            <a:r>
              <a:rPr lang="fa-IR" dirty="0">
                <a:solidFill>
                  <a:srgbClr val="FF0000"/>
                </a:solidFill>
              </a:rPr>
              <a:t>وَلَا يُنْفِقُوْنَهَا فِيْ سَبِيْلِ اللّٰهِ  </a:t>
            </a:r>
            <a:r>
              <a:rPr lang="fa-IR" dirty="0"/>
              <a:t>ۙ فَبَشِّرْهُمْ بِعَذَابٍ اَلِيْمٍ </a:t>
            </a:r>
            <a:r>
              <a:rPr lang="en-US" dirty="0"/>
              <a:t> </a:t>
            </a:r>
          </a:p>
          <a:p>
            <a:r>
              <a:rPr lang="fa-IR" dirty="0"/>
              <a:t> يَّوْمَ يُحْمٰي عَلَيْهَا فِيْ نَارِ جَهَنَّمَ فَتُكْوٰي بِهَا </a:t>
            </a:r>
            <a:r>
              <a:rPr lang="fa-IR" dirty="0">
                <a:solidFill>
                  <a:srgbClr val="00B050"/>
                </a:solidFill>
              </a:rPr>
              <a:t>جِبَاهُهُمْ وَجُنُوْبُهُمْ وَظُهُوْرُهُمْ </a:t>
            </a:r>
            <a:r>
              <a:rPr lang="fa-IR" dirty="0"/>
              <a:t>ۭهٰذَا مَا كَنَزْتُمْ لِاَنْفُسِكُمْ فَذُوْقُوْا مَا كُنْتُمْ تَكْنِزُوْنَ </a:t>
            </a:r>
            <a:endParaRPr lang="en-US" dirty="0"/>
          </a:p>
          <a:p>
            <a:r>
              <a:rPr lang="en-US" dirty="0"/>
              <a:t>"</a:t>
            </a:r>
            <a:r>
              <a:rPr lang="en-US" i="1" dirty="0"/>
              <a:t>Those who hoard up treasures of gold and silver and spend them not in the way of Allah; give them the news of a </a:t>
            </a:r>
            <a:r>
              <a:rPr lang="en-US" i="1" dirty="0">
                <a:solidFill>
                  <a:srgbClr val="C00000"/>
                </a:solidFill>
              </a:rPr>
              <a:t>painful punishment</a:t>
            </a:r>
            <a:r>
              <a:rPr lang="en-US" i="1" dirty="0"/>
              <a:t>, on the Day when that (wealth) will be heated in the Fire of Hell and with </a:t>
            </a:r>
            <a:r>
              <a:rPr lang="en-US" i="1" dirty="0">
                <a:solidFill>
                  <a:srgbClr val="C00000"/>
                </a:solidFill>
              </a:rPr>
              <a:t>it will be branded their forehead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their sides</a:t>
            </a:r>
            <a:r>
              <a:rPr lang="en-US" i="1" dirty="0"/>
              <a:t>, and </a:t>
            </a:r>
            <a:r>
              <a:rPr lang="en-US" i="1" dirty="0">
                <a:solidFill>
                  <a:srgbClr val="FFC000"/>
                </a:solidFill>
              </a:rPr>
              <a:t>their backs</a:t>
            </a:r>
            <a:r>
              <a:rPr lang="en-US" i="1" dirty="0"/>
              <a:t>, (and it will be said to them:) 'This is the treasure which you hoarded for yourselves. Now taste of what you used to hoard.</a:t>
            </a:r>
            <a:r>
              <a:rPr lang="en-US" dirty="0"/>
              <a:t>'" [Al-Quran 9:34-35]</a:t>
            </a:r>
          </a:p>
          <a:p>
            <a:r>
              <a:rPr lang="ur-PK" dirty="0">
                <a:solidFill>
                  <a:srgbClr val="404040"/>
                </a:solidFill>
                <a:latin typeface="scheherazaderegular"/>
              </a:rPr>
              <a:t>وَأَنفِقوا في سَبيلِ اللَّهِ </a:t>
            </a:r>
            <a:r>
              <a:rPr lang="ur-PK" dirty="0">
                <a:solidFill>
                  <a:srgbClr val="00B050"/>
                </a:solidFill>
                <a:latin typeface="scheherazaderegular"/>
              </a:rPr>
              <a:t>وَلا تُلقوا بِأَيديكُم </a:t>
            </a:r>
            <a:r>
              <a:rPr lang="ur-PK" dirty="0">
                <a:solidFill>
                  <a:srgbClr val="404040"/>
                </a:solidFill>
                <a:latin typeface="scheherazaderegular"/>
              </a:rPr>
              <a:t>إِلَى التَّهلُكَةِ</a:t>
            </a:r>
            <a:endParaRPr lang="en-US" dirty="0">
              <a:solidFill>
                <a:srgbClr val="404040"/>
              </a:solidFill>
              <a:latin typeface="scheherazaderegular"/>
            </a:endParaRPr>
          </a:p>
          <a:p>
            <a:r>
              <a:rPr lang="en-US" dirty="0">
                <a:solidFill>
                  <a:srgbClr val="404040"/>
                </a:solidFill>
                <a:latin typeface="gentium plus"/>
              </a:rPr>
              <a:t>Spend in the way of Allah, and do not </a:t>
            </a:r>
            <a:r>
              <a:rPr lang="en-US" dirty="0">
                <a:solidFill>
                  <a:srgbClr val="FF0000"/>
                </a:solidFill>
                <a:latin typeface="gentium plus"/>
              </a:rPr>
              <a:t>cast yourselves with your own hands into destruction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fa-IR" dirty="0"/>
              <a:t>الَّذِيْنَ لَا يُؤْتُوْنَ الزَّكٰوةَ وَهُمْ بِالْاٰخِرَةِ هُمْ </a:t>
            </a:r>
            <a:r>
              <a:rPr lang="fa-IR" dirty="0">
                <a:solidFill>
                  <a:srgbClr val="FF0000"/>
                </a:solidFill>
              </a:rPr>
              <a:t>كٰفِرُوْنَ</a:t>
            </a:r>
            <a:r>
              <a:rPr lang="fa-IR" dirty="0"/>
              <a:t> </a:t>
            </a:r>
            <a:endParaRPr lang="en-US" dirty="0"/>
          </a:p>
          <a:p>
            <a:r>
              <a:rPr lang="en-US" dirty="0"/>
              <a:t>Those who don’t pay </a:t>
            </a:r>
            <a:r>
              <a:rPr lang="en-US" dirty="0" err="1"/>
              <a:t>zakah</a:t>
            </a:r>
            <a:r>
              <a:rPr lang="en-US" dirty="0"/>
              <a:t> are the disbelievers of last day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28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9471218" cy="794197"/>
          </a:xfrm>
        </p:spPr>
        <p:txBody>
          <a:bodyPr/>
          <a:lstStyle/>
          <a:p>
            <a:r>
              <a:rPr lang="en-US" dirty="0"/>
              <a:t>Importance of Zakat in the light of Hadith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3797"/>
            <a:ext cx="8968942" cy="5100034"/>
          </a:xfrm>
        </p:spPr>
        <p:txBody>
          <a:bodyPr>
            <a:normAutofit/>
          </a:bodyPr>
          <a:lstStyle/>
          <a:p>
            <a:r>
              <a:rPr lang="en-US" b="1" dirty="0"/>
              <a:t>Zakat is </a:t>
            </a:r>
            <a:r>
              <a:rPr lang="en-US" b="1" dirty="0">
                <a:solidFill>
                  <a:srgbClr val="C00000"/>
                </a:solidFill>
              </a:rPr>
              <a:t>the bridge of Islam</a:t>
            </a:r>
            <a:r>
              <a:rPr lang="en-US" b="1" dirty="0"/>
              <a:t>; so whoever performs it can cross the bridge and whoever withholds it will be detained beneath it. </a:t>
            </a:r>
          </a:p>
          <a:p>
            <a:r>
              <a:rPr lang="en-US" dirty="0"/>
              <a:t>The Prophet said “He who paid </a:t>
            </a:r>
            <a:r>
              <a:rPr lang="en-US" dirty="0" err="1"/>
              <a:t>zakah</a:t>
            </a:r>
            <a:r>
              <a:rPr lang="en-US" dirty="0"/>
              <a:t> of his wealth, he  has </a:t>
            </a:r>
            <a:r>
              <a:rPr lang="en-US" dirty="0">
                <a:solidFill>
                  <a:srgbClr val="FFC000"/>
                </a:solidFill>
              </a:rPr>
              <a:t>saved his wealth from trial and tribulation </a:t>
            </a:r>
            <a:r>
              <a:rPr lang="en-US" dirty="0"/>
              <a:t>(</a:t>
            </a:r>
            <a:r>
              <a:rPr lang="en-US" i="1" dirty="0"/>
              <a:t>al fitna</a:t>
            </a:r>
            <a:r>
              <a:rPr lang="en-US" dirty="0"/>
              <a:t>h)</a:t>
            </a:r>
          </a:p>
          <a:p>
            <a:r>
              <a:rPr lang="en-US" dirty="0"/>
              <a:t>The Prophet said “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protect your wealth through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zakah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</a:p>
          <a:p>
            <a:r>
              <a:rPr lang="en-US" dirty="0"/>
              <a:t> </a:t>
            </a:r>
            <a:r>
              <a:rPr lang="en-US" dirty="0" err="1"/>
              <a:t>Hazrat</a:t>
            </a:r>
            <a:r>
              <a:rPr lang="en-US" dirty="0"/>
              <a:t> Aisha narrated: "</a:t>
            </a:r>
            <a:r>
              <a:rPr lang="en-US" i="1" dirty="0"/>
              <a:t>The Messenger of Allah came to me and saw me wearing </a:t>
            </a:r>
            <a:r>
              <a:rPr lang="en-US" b="1" u="sng" dirty="0">
                <a:solidFill>
                  <a:schemeClr val="bg1">
                    <a:lumMod val="65000"/>
                  </a:schemeClr>
                </a:solidFill>
              </a:rPr>
              <a:t>silver</a:t>
            </a:r>
            <a:r>
              <a:rPr lang="en-US" i="1" dirty="0"/>
              <a:t> rings, whereupon, he asked: 'What is this, Aisha?' I replied: 'I made them to adorn myself for you, O Messenger of Allah.' He said: 'Did you pay their Zakat?' I said: 'No, or what Allah wishes.' Then he said: </a:t>
            </a:r>
            <a:r>
              <a:rPr lang="en-US" i="1" dirty="0">
                <a:solidFill>
                  <a:srgbClr val="FF0000"/>
                </a:solidFill>
              </a:rPr>
              <a:t>'Their punishment in Hell is enough for you.’</a:t>
            </a: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The Prophet said, "Do not with-hold your money by counting it (i.e. hoarding it), (for if you did so), Allah would also </a:t>
            </a:r>
            <a:r>
              <a:rPr lang="en-US" dirty="0">
                <a:solidFill>
                  <a:srgbClr val="00B050"/>
                </a:solidFill>
              </a:rPr>
              <a:t>with-hold His blessings </a:t>
            </a:r>
            <a:r>
              <a:rPr lang="en-US" dirty="0"/>
              <a:t>from you.“</a:t>
            </a:r>
          </a:p>
          <a:p>
            <a:r>
              <a:rPr lang="en-US" dirty="0"/>
              <a:t>The Prophet said, giving a dirham in charity during his life is better than giving one hundred dirham at the movement of his death.</a:t>
            </a:r>
          </a:p>
        </p:txBody>
      </p:sp>
    </p:spTree>
    <p:extLst>
      <p:ext uri="{BB962C8B-B14F-4D97-AF65-F5344CB8AC3E}">
        <p14:creationId xmlns:p14="http://schemas.microsoft.com/office/powerpoint/2010/main" val="86352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00DDD4-15C2-4374-A28E-46BFB5CAF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0" y="327171"/>
            <a:ext cx="9055820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702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7772400" cy="762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u="sng" dirty="0"/>
              <a:t>Concept / Philosophy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193074"/>
            <a:ext cx="8382000" cy="5181600"/>
          </a:xfrm>
        </p:spPr>
        <p:txBody>
          <a:bodyPr/>
          <a:lstStyle/>
          <a:p>
            <a:pPr eaLnBrk="1" hangingPunct="1"/>
            <a:r>
              <a:rPr lang="en-US" altLang="en-US" dirty="0"/>
              <a:t>To share a small part of </a:t>
            </a:r>
            <a:r>
              <a:rPr lang="en-US" altLang="en-US" sz="3600" dirty="0">
                <a:solidFill>
                  <a:schemeClr val="hlink"/>
                </a:solidFill>
              </a:rPr>
              <a:t>Allah’</a:t>
            </a:r>
            <a:r>
              <a:rPr lang="en-US" altLang="en-US" sz="3600" dirty="0"/>
              <a:t>s</a:t>
            </a:r>
            <a:r>
              <a:rPr lang="en-US" altLang="en-US" dirty="0"/>
              <a:t> material blessings with people Who are materially less blessed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Help society at micro and macro level to provide basic needs to all members with dignity and love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To establish the Writ  of</a:t>
            </a:r>
            <a:r>
              <a:rPr lang="en-US" altLang="en-US" sz="3600" dirty="0">
                <a:solidFill>
                  <a:schemeClr val="hlink"/>
                </a:solidFill>
              </a:rPr>
              <a:t> Allah </a:t>
            </a:r>
            <a:r>
              <a:rPr lang="en-US" altLang="en-US" sz="2000" dirty="0">
                <a:solidFill>
                  <a:schemeClr val="hlink"/>
                </a:solidFill>
              </a:rPr>
              <a:t>(</a:t>
            </a:r>
            <a:r>
              <a:rPr lang="en-US" altLang="en-US" dirty="0">
                <a:solidFill>
                  <a:schemeClr val="hlink"/>
                </a:solidFill>
              </a:rPr>
              <a:t>S W T) </a:t>
            </a:r>
            <a:endParaRPr lang="en-US" altLang="en-US" sz="3600" dirty="0">
              <a:solidFill>
                <a:schemeClr val="hlink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5234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en-US" b="1" u="sng" dirty="0"/>
              <a:t>Expense of </a:t>
            </a:r>
            <a:r>
              <a:rPr lang="en-US" altLang="en-US" b="1" u="sng" dirty="0" err="1"/>
              <a:t>Zakat</a:t>
            </a:r>
            <a:endParaRPr lang="en-US" altLang="en-US" b="1" u="sng" dirty="0"/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044825" y="1295401"/>
          <a:ext cx="5949950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334480" imgH="1838095" progId="PBrush">
                  <p:embed/>
                </p:oleObj>
              </mc:Choice>
              <mc:Fallback>
                <p:oleObj name="Bitmap Image" r:id="rId2" imgW="4334480" imgH="1838095" progId="PBrush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1295401"/>
                        <a:ext cx="5949950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1676400" y="4191000"/>
            <a:ext cx="88392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 dirty="0">
                <a:solidFill>
                  <a:schemeClr val="tx2"/>
                </a:solidFill>
              </a:rPr>
              <a:t>Alms are only (exclusively) for the </a:t>
            </a:r>
            <a:r>
              <a:rPr lang="en-US" altLang="en-US" i="1" u="sng" dirty="0">
                <a:solidFill>
                  <a:schemeClr val="tx2"/>
                </a:solidFill>
              </a:rPr>
              <a:t>poor</a:t>
            </a:r>
            <a:r>
              <a:rPr lang="en-US" altLang="en-US" i="1" dirty="0">
                <a:solidFill>
                  <a:schemeClr val="tx2"/>
                </a:solidFill>
              </a:rPr>
              <a:t> </a:t>
            </a:r>
            <a:r>
              <a:rPr lang="en-US" altLang="en-US" i="1" dirty="0"/>
              <a:t>and the </a:t>
            </a:r>
            <a:r>
              <a:rPr lang="en-US" altLang="en-US" i="1" u="sng" dirty="0"/>
              <a:t>needy</a:t>
            </a:r>
            <a:r>
              <a:rPr lang="en-US" altLang="en-US" i="1" dirty="0">
                <a:solidFill>
                  <a:schemeClr val="tx2"/>
                </a:solidFill>
              </a:rPr>
              <a:t> and those </a:t>
            </a:r>
            <a:r>
              <a:rPr lang="en-US" altLang="en-US" i="1" u="sng" dirty="0">
                <a:solidFill>
                  <a:schemeClr val="tx2"/>
                </a:solidFill>
              </a:rPr>
              <a:t>employed to administer</a:t>
            </a:r>
            <a:r>
              <a:rPr lang="en-US" altLang="en-US" i="1" dirty="0">
                <a:solidFill>
                  <a:schemeClr val="tx2"/>
                </a:solidFill>
              </a:rPr>
              <a:t>, </a:t>
            </a:r>
            <a:r>
              <a:rPr lang="en-US" altLang="en-US" i="1" dirty="0"/>
              <a:t>and those </a:t>
            </a:r>
            <a:r>
              <a:rPr lang="en-US" altLang="en-US" i="1" u="sng" dirty="0"/>
              <a:t>whose hearts are to be reconciled</a:t>
            </a:r>
            <a:r>
              <a:rPr lang="en-US" altLang="en-US" i="1" u="sng" dirty="0">
                <a:solidFill>
                  <a:schemeClr val="tx2"/>
                </a:solidFill>
              </a:rPr>
              <a:t> </a:t>
            </a:r>
            <a:r>
              <a:rPr lang="en-US" altLang="en-US" i="1" dirty="0">
                <a:solidFill>
                  <a:schemeClr val="tx2"/>
                </a:solidFill>
              </a:rPr>
              <a:t>and </a:t>
            </a:r>
            <a:r>
              <a:rPr lang="en-US" altLang="en-US" i="1" u="sng" dirty="0">
                <a:solidFill>
                  <a:schemeClr val="tx2"/>
                </a:solidFill>
              </a:rPr>
              <a:t>to free the captives</a:t>
            </a:r>
            <a:r>
              <a:rPr lang="en-US" altLang="en-US" i="1" dirty="0">
                <a:solidFill>
                  <a:schemeClr val="tx2"/>
                </a:solidFill>
              </a:rPr>
              <a:t> </a:t>
            </a:r>
            <a:r>
              <a:rPr lang="en-US" altLang="en-US" i="1" dirty="0"/>
              <a:t>and </a:t>
            </a:r>
            <a:r>
              <a:rPr lang="en-US" altLang="en-US" i="1" u="sng" dirty="0"/>
              <a:t>those in debt</a:t>
            </a:r>
            <a:r>
              <a:rPr lang="en-US" altLang="en-US" i="1" u="sng" dirty="0">
                <a:solidFill>
                  <a:schemeClr val="tx2"/>
                </a:solidFill>
              </a:rPr>
              <a:t> </a:t>
            </a:r>
            <a:r>
              <a:rPr lang="en-US" altLang="en-US" i="1" dirty="0">
                <a:solidFill>
                  <a:schemeClr val="tx2"/>
                </a:solidFill>
              </a:rPr>
              <a:t>and </a:t>
            </a:r>
            <a:r>
              <a:rPr lang="en-US" altLang="en-US" i="1" u="sng" dirty="0">
                <a:solidFill>
                  <a:schemeClr val="tx2"/>
                </a:solidFill>
              </a:rPr>
              <a:t>in the way of Allah </a:t>
            </a:r>
            <a:r>
              <a:rPr lang="en-US" altLang="en-US" i="1" dirty="0"/>
              <a:t>and </a:t>
            </a:r>
            <a:r>
              <a:rPr lang="en-US" altLang="en-US" i="1" u="sng" dirty="0"/>
              <a:t>the wayfarer</a:t>
            </a:r>
            <a:r>
              <a:rPr lang="en-US" altLang="en-US" i="1" u="sng" dirty="0">
                <a:solidFill>
                  <a:schemeClr val="tx2"/>
                </a:solidFill>
              </a:rPr>
              <a:t> </a:t>
            </a:r>
            <a:r>
              <a:rPr lang="en-US" altLang="en-US" i="1" dirty="0">
                <a:solidFill>
                  <a:schemeClr val="tx2"/>
                </a:solidFill>
              </a:rPr>
              <a:t>a duty imposed by Allah </a:t>
            </a:r>
            <a:r>
              <a:rPr lang="en-US" altLang="en-US" i="1" dirty="0"/>
              <a:t>and Allah is Knowing, Wise</a:t>
            </a:r>
            <a:r>
              <a:rPr lang="en-US" altLang="en-US" i="1" dirty="0">
                <a:solidFill>
                  <a:schemeClr val="tx2"/>
                </a:solidFill>
                <a:latin typeface="Arial" panose="020B0604020202020204" pitchFamily="34" charset="0"/>
              </a:rPr>
              <a:t>”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 err="1">
                <a:solidFill>
                  <a:schemeClr val="tx2"/>
                </a:solidFill>
              </a:rPr>
              <a:t>Surah</a:t>
            </a:r>
            <a:r>
              <a:rPr lang="en-US" altLang="en-US" dirty="0">
                <a:solidFill>
                  <a:schemeClr val="tx2"/>
                </a:solidFill>
              </a:rPr>
              <a:t> Tuba:60</a:t>
            </a:r>
            <a:br>
              <a:rPr lang="en-US" altLang="en-US" dirty="0">
                <a:solidFill>
                  <a:schemeClr val="tx2"/>
                </a:solidFill>
              </a:rPr>
            </a:br>
            <a:endParaRPr lang="en-US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958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800" b="1"/>
              <a:t>Recipient of Zakat</a:t>
            </a:r>
            <a:r>
              <a:rPr lang="en-US" altLang="en-US"/>
              <a:t>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2895600" y="1524000"/>
            <a:ext cx="7772400" cy="5334000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i="1" dirty="0" err="1"/>
              <a:t>Fuqara</a:t>
            </a:r>
            <a:r>
              <a:rPr lang="en-US" altLang="en-US" b="1" i="1" dirty="0"/>
              <a:t> (</a:t>
            </a:r>
            <a:r>
              <a:rPr lang="en-US" alt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 penny less and)</a:t>
            </a:r>
            <a:endParaRPr lang="en-US" altLang="en-US" b="1" i="1" dirty="0"/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i="1" dirty="0" err="1"/>
              <a:t>Maskeen</a:t>
            </a:r>
            <a:r>
              <a:rPr lang="en-US" altLang="en-US" b="1" i="1" dirty="0"/>
              <a:t> (</a:t>
            </a:r>
            <a:r>
              <a:rPr lang="en-US" altLang="en-US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is needy one)</a:t>
            </a:r>
            <a:endParaRPr lang="en-US" altLang="en-US" b="1" i="1" dirty="0"/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Administrator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Influencing heart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Freeing from bondage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Debtors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way of Allah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Wayfarer</a:t>
            </a:r>
          </a:p>
          <a:p>
            <a:pPr marL="533400" indent="-533400"/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191599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800" b="1" u="sng"/>
              <a:t>Administrators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42891" y="1250272"/>
            <a:ext cx="8763000" cy="5029200"/>
          </a:xfrm>
        </p:spPr>
        <p:txBody>
          <a:bodyPr/>
          <a:lstStyle/>
          <a:p>
            <a:pPr eaLnBrk="1" hangingPunct="1"/>
            <a:r>
              <a:rPr lang="en-US" altLang="en-US" sz="3600" dirty="0" err="1"/>
              <a:t>Aameleen</a:t>
            </a:r>
            <a:r>
              <a:rPr lang="en-US" altLang="en-US" sz="3600" dirty="0"/>
              <a:t>; Those employed for Collection and maintenance of record, paid from Zakat, even if they are rich</a:t>
            </a:r>
          </a:p>
          <a:p>
            <a:pPr eaLnBrk="1" hangingPunct="1"/>
            <a:r>
              <a:rPr lang="en-US" altLang="en-US" sz="3600" dirty="0"/>
              <a:t>Wages should not exceed half the Zakat collection</a:t>
            </a:r>
          </a:p>
          <a:p>
            <a:pPr eaLnBrk="1" hangingPunct="1"/>
            <a:r>
              <a:rPr lang="en-US" altLang="en-US" sz="3600" dirty="0"/>
              <a:t> Only those employed by State</a:t>
            </a:r>
          </a:p>
          <a:p>
            <a:pPr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49383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/>
              <a:t>Influencing Hearts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587202" y="1626833"/>
            <a:ext cx="8686800" cy="4343400"/>
          </a:xfrm>
        </p:spPr>
        <p:txBody>
          <a:bodyPr/>
          <a:lstStyle/>
          <a:p>
            <a:pPr eaLnBrk="1" hangingPunct="1"/>
            <a:r>
              <a:rPr lang="en-US" altLang="en-US" sz="3600" dirty="0" err="1"/>
              <a:t>Maallafatatil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Quloob</a:t>
            </a:r>
            <a:r>
              <a:rPr lang="en-US" altLang="en-US" sz="3600" dirty="0"/>
              <a:t>; Influence hearts towards Islam thru charity, kindness</a:t>
            </a:r>
          </a:p>
          <a:p>
            <a:pPr eaLnBrk="1" hangingPunct="1"/>
            <a:endParaRPr lang="en-US" altLang="en-US" sz="3600" b="1" dirty="0"/>
          </a:p>
          <a:p>
            <a:pPr marL="0" indent="0" eaLnBrk="1" hangingPunct="1">
              <a:buNone/>
            </a:pP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620226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/>
              <a:t>Freeing from Bondage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140822" y="1606732"/>
            <a:ext cx="8763000" cy="4267200"/>
          </a:xfrm>
        </p:spPr>
        <p:txBody>
          <a:bodyPr/>
          <a:lstStyle/>
          <a:p>
            <a:pPr eaLnBrk="1" hangingPunct="1"/>
            <a:r>
              <a:rPr lang="en-US" altLang="en-US" sz="3600" dirty="0" err="1"/>
              <a:t>Riqab</a:t>
            </a:r>
            <a:r>
              <a:rPr lang="en-US" altLang="en-US" sz="3600" dirty="0"/>
              <a:t>; neck, signifies someone who is freed from bondage</a:t>
            </a:r>
          </a:p>
          <a:p>
            <a:pPr eaLnBrk="1" hangingPunct="1"/>
            <a:endParaRPr lang="en-US" altLang="en-US" sz="3600" dirty="0"/>
          </a:p>
          <a:p>
            <a:pPr eaLnBrk="1" hangingPunct="1"/>
            <a:r>
              <a:rPr lang="en-US" altLang="en-US" sz="3600" dirty="0"/>
              <a:t>Slaves and captives of war</a:t>
            </a:r>
          </a:p>
          <a:p>
            <a:pPr eaLnBrk="1" hangingPunct="1"/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548341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800" b="1" u="sng"/>
              <a:t>Debtors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603682" y="1447800"/>
            <a:ext cx="8610600" cy="4953000"/>
          </a:xfrm>
        </p:spPr>
        <p:txBody>
          <a:bodyPr>
            <a:normAutofit/>
          </a:bodyPr>
          <a:lstStyle/>
          <a:p>
            <a:pPr marL="420624" indent="-384048">
              <a:buFont typeface="Wingdings 2"/>
              <a:buChar char=""/>
              <a:defRPr/>
            </a:pPr>
            <a:r>
              <a:rPr lang="en-US" sz="3200" dirty="0"/>
              <a:t>Gharimeen; Debt, bankruptcy </a:t>
            </a:r>
          </a:p>
          <a:p>
            <a:pPr marL="420624" indent="-384048">
              <a:buFont typeface="Wingdings 2"/>
              <a:buChar char=""/>
              <a:defRPr/>
            </a:pPr>
            <a:r>
              <a:rPr lang="en-US" sz="3200" dirty="0"/>
              <a:t>Condition that debtor himself should not possess sufficient funds or goods to clear the debt</a:t>
            </a:r>
          </a:p>
          <a:p>
            <a:pPr marL="420624" indent="-384048">
              <a:buFont typeface="Wingdings 2"/>
              <a:buChar char=""/>
              <a:defRPr/>
            </a:pPr>
            <a:r>
              <a:rPr lang="en-US" sz="3200" dirty="0"/>
              <a:t>Debt incurred for legitimate purpose incl. Blood money, unexpected penalty and not due to gambling, drinking, intoxicants or lavish expense in marriage  </a:t>
            </a:r>
          </a:p>
          <a:p>
            <a:pPr marL="420624" indent="-384048">
              <a:buFont typeface="Wingdings 2"/>
              <a:buChar char=""/>
              <a:defRPr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493082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800" b="1" u="sng"/>
              <a:t>In Way of Allah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591105" y="1861352"/>
            <a:ext cx="8534400" cy="4267200"/>
          </a:xfrm>
        </p:spPr>
        <p:txBody>
          <a:bodyPr/>
          <a:lstStyle/>
          <a:p>
            <a:pPr eaLnBrk="1" hangingPunct="1"/>
            <a:r>
              <a:rPr lang="en-US" altLang="en-US" sz="3600" b="1" dirty="0"/>
              <a:t>Fe </a:t>
            </a:r>
            <a:r>
              <a:rPr lang="en-US" altLang="en-US" sz="3600" b="1" dirty="0" err="1"/>
              <a:t>sabeelillah</a:t>
            </a:r>
            <a:r>
              <a:rPr lang="en-US" altLang="en-US" sz="3600" b="1" dirty="0"/>
              <a:t>; </a:t>
            </a:r>
            <a:r>
              <a:rPr lang="en-US" altLang="en-US" sz="3600" dirty="0"/>
              <a:t>Wide interpretation, implication and application, incl. Jihad, invitation to Islam, education, anything serving the cause of Islam</a:t>
            </a:r>
          </a:p>
        </p:txBody>
      </p:sp>
    </p:spTree>
    <p:extLst>
      <p:ext uri="{BB962C8B-B14F-4D97-AF65-F5344CB8AC3E}">
        <p14:creationId xmlns:p14="http://schemas.microsoft.com/office/powerpoint/2010/main" val="1784111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5400" b="1" u="sng"/>
              <a:t>Traveler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08373" y="1829539"/>
            <a:ext cx="8534400" cy="4267200"/>
          </a:xfrm>
        </p:spPr>
        <p:txBody>
          <a:bodyPr/>
          <a:lstStyle/>
          <a:p>
            <a:pPr eaLnBrk="1" hangingPunct="1"/>
            <a:r>
              <a:rPr lang="en-US" altLang="en-US" sz="3600" b="1" dirty="0" err="1"/>
              <a:t>Ibnis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Sabeel</a:t>
            </a:r>
            <a:r>
              <a:rPr lang="en-US" altLang="en-US" sz="3600" b="1" dirty="0"/>
              <a:t>; </a:t>
            </a:r>
            <a:r>
              <a:rPr lang="en-US" altLang="en-US" sz="3600" dirty="0"/>
              <a:t>Can be paid from Zakat, even though he may be rich at home, if during the journey he becomes destitute and unable to meet his expenses to return</a:t>
            </a:r>
          </a:p>
          <a:p>
            <a:pPr eaLnBrk="1" hangingPunct="1"/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06945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u="sng"/>
              <a:t>Where zakat can</a:t>
            </a:r>
            <a:r>
              <a:rPr lang="en-US" altLang="en-US" b="1" u="sng">
                <a:latin typeface="Times New Roman" panose="02020603050405020304" pitchFamily="18" charset="0"/>
              </a:rPr>
              <a:t>’</a:t>
            </a:r>
            <a:r>
              <a:rPr lang="en-US" altLang="en-US" b="1" u="sng"/>
              <a:t>t be used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878149" y="12954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For persons with sufficient / adequate means of living</a:t>
            </a:r>
          </a:p>
          <a:p>
            <a:pPr eaLnBrk="1" hangingPunct="1"/>
            <a:r>
              <a:rPr lang="en-US" altLang="en-US" b="1" dirty="0"/>
              <a:t>For ones dependents  like “parents, children.</a:t>
            </a:r>
          </a:p>
          <a:p>
            <a:pPr eaLnBrk="1" hangingPunct="1"/>
            <a:r>
              <a:rPr lang="en-US" altLang="en-US" b="1" dirty="0"/>
              <a:t>Trust for investments.</a:t>
            </a:r>
          </a:p>
          <a:p>
            <a:pPr eaLnBrk="1" hangingPunct="1"/>
            <a:r>
              <a:rPr lang="en-US" altLang="en-US" b="1" dirty="0"/>
              <a:t>Buying luxury goods.</a:t>
            </a:r>
          </a:p>
          <a:p>
            <a:pPr eaLnBrk="1" hangingPunct="1"/>
            <a:r>
              <a:rPr lang="en-US" altLang="en-US" b="1" dirty="0"/>
              <a:t>On wasteful Activities.</a:t>
            </a:r>
          </a:p>
          <a:p>
            <a:pPr eaLnBrk="1" hangingPunct="1"/>
            <a:r>
              <a:rPr lang="en-US" altLang="en-US" b="1" dirty="0"/>
              <a:t>On road works and infrastructure.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6504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8077200" cy="838200"/>
          </a:xfrm>
        </p:spPr>
        <p:txBody>
          <a:bodyPr/>
          <a:lstStyle/>
          <a:p>
            <a:pPr eaLnBrk="1" hangingPunct="1"/>
            <a:r>
              <a:rPr lang="en-US" altLang="en-US" b="1" u="sng"/>
              <a:t>Effective Rate  P.A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8077200" cy="4114800"/>
          </a:xfrm>
        </p:spPr>
        <p:txBody>
          <a:bodyPr>
            <a:normAutofit/>
          </a:bodyPr>
          <a:lstStyle/>
          <a:p>
            <a:pPr marL="420624" indent="-384048">
              <a:lnSpc>
                <a:spcPct val="90000"/>
              </a:lnSpc>
              <a:buFont typeface="Wingdings 2"/>
              <a:buChar char=""/>
              <a:defRPr/>
            </a:pPr>
            <a:r>
              <a:rPr lang="en-US" b="1" dirty="0"/>
              <a:t>On wealth and Income			     2.5%</a:t>
            </a:r>
          </a:p>
          <a:p>
            <a:pPr marL="420624" indent="-384048">
              <a:lnSpc>
                <a:spcPct val="90000"/>
              </a:lnSpc>
              <a:buNone/>
              <a:defRPr/>
            </a:pPr>
            <a:r>
              <a:rPr lang="en-US" b="1" dirty="0"/>
              <a:t>    </a:t>
            </a:r>
          </a:p>
          <a:p>
            <a:pPr marL="420624" indent="-384048">
              <a:lnSpc>
                <a:spcPct val="90000"/>
              </a:lnSpc>
              <a:buFont typeface="Wingdings 2"/>
              <a:buChar char=""/>
              <a:defRPr/>
            </a:pPr>
            <a:r>
              <a:rPr lang="en-US" b="1" dirty="0"/>
              <a:t> </a:t>
            </a:r>
            <a:r>
              <a:rPr lang="en-US" sz="2000" b="1" i="1" u="sng" dirty="0"/>
              <a:t>On Agricultural produce</a:t>
            </a:r>
            <a:r>
              <a:rPr lang="en-US" sz="2000" b="1" i="1" dirty="0"/>
              <a:t>                      </a:t>
            </a:r>
          </a:p>
          <a:p>
            <a:pPr marL="420624" indent="-384048">
              <a:lnSpc>
                <a:spcPct val="90000"/>
              </a:lnSpc>
              <a:buNone/>
              <a:defRPr/>
            </a:pPr>
            <a:r>
              <a:rPr lang="en-US" b="1" dirty="0"/>
              <a:t>     Irrigated                                               5%</a:t>
            </a:r>
          </a:p>
          <a:p>
            <a:pPr marL="420624" indent="-384048">
              <a:lnSpc>
                <a:spcPct val="90000"/>
              </a:lnSpc>
              <a:buNone/>
              <a:defRPr/>
            </a:pPr>
            <a:r>
              <a:rPr lang="en-US" b="1" dirty="0"/>
              <a:t>     Non irrigated”                                    10%</a:t>
            </a:r>
          </a:p>
          <a:p>
            <a:pPr marL="420624" indent="-384048">
              <a:lnSpc>
                <a:spcPct val="90000"/>
              </a:lnSpc>
              <a:buFont typeface="Wingdings 2"/>
              <a:buChar char=""/>
              <a:defRPr/>
            </a:pPr>
            <a:r>
              <a:rPr lang="en-US" b="1" dirty="0"/>
              <a:t> On Natural resources                        20%     </a:t>
            </a:r>
          </a:p>
          <a:p>
            <a:pPr marL="420624" indent="-384048">
              <a:lnSpc>
                <a:spcPct val="90000"/>
              </a:lnSpc>
              <a:buFont typeface="Wingdings 2"/>
              <a:buChar char=""/>
              <a:defRPr/>
            </a:pPr>
            <a:r>
              <a:rPr lang="en-US" sz="4000" b="1" dirty="0">
                <a:solidFill>
                  <a:schemeClr val="folHlink"/>
                </a:solidFill>
              </a:rPr>
              <a:t>Based upon Lunar Calendar</a:t>
            </a:r>
          </a:p>
        </p:txBody>
      </p:sp>
    </p:spTree>
    <p:extLst>
      <p:ext uri="{BB962C8B-B14F-4D97-AF65-F5344CB8AC3E}">
        <p14:creationId xmlns:p14="http://schemas.microsoft.com/office/powerpoint/2010/main" val="382148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Rate of Zakat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52283"/>
            <a:ext cx="8596668" cy="4689080"/>
          </a:xfrm>
        </p:spPr>
        <p:txBody>
          <a:bodyPr/>
          <a:lstStyle/>
          <a:p>
            <a:pPr fontAlgn="base"/>
            <a:r>
              <a:rPr lang="en-US" dirty="0"/>
              <a:t>On every 7.5 </a:t>
            </a:r>
            <a:r>
              <a:rPr lang="en-US" dirty="0" err="1"/>
              <a:t>tolas</a:t>
            </a:r>
            <a:r>
              <a:rPr lang="en-US" dirty="0"/>
              <a:t> of gold = 2.5%</a:t>
            </a:r>
          </a:p>
          <a:p>
            <a:pPr fontAlgn="base"/>
            <a:r>
              <a:rPr lang="en-US" dirty="0"/>
              <a:t>On every 52.5 </a:t>
            </a:r>
            <a:r>
              <a:rPr lang="en-US" dirty="0" err="1"/>
              <a:t>tolas</a:t>
            </a:r>
            <a:r>
              <a:rPr lang="en-US" dirty="0"/>
              <a:t> of silver or (equivalent in cash) = 2.5%</a:t>
            </a:r>
          </a:p>
          <a:p>
            <a:pPr fontAlgn="base"/>
            <a:r>
              <a:rPr lang="en-US" dirty="0" err="1"/>
              <a:t>Khums</a:t>
            </a:r>
            <a:r>
              <a:rPr lang="en-US" dirty="0"/>
              <a:t> is 1/5 of the produce from mines.</a:t>
            </a:r>
          </a:p>
          <a:p>
            <a:pPr fontAlgn="base"/>
            <a:r>
              <a:rPr lang="en-US" dirty="0"/>
              <a:t>For every 5 camels, 1 Sheep</a:t>
            </a:r>
          </a:p>
          <a:p>
            <a:pPr fontAlgn="base"/>
            <a:r>
              <a:rPr lang="en-US" dirty="0"/>
              <a:t>For every 30 cows, bulls or buffalos, a one year old bull</a:t>
            </a:r>
          </a:p>
          <a:p>
            <a:pPr fontAlgn="base"/>
            <a:r>
              <a:rPr lang="en-US" dirty="0"/>
              <a:t>For 40-120 sheep,1 sheep;</a:t>
            </a:r>
          </a:p>
          <a:p>
            <a:pPr fontAlgn="base"/>
            <a:r>
              <a:rPr lang="en-US" dirty="0"/>
              <a:t>The produce of land. (The rate is one tenth of the produce of the unirrigated and undeveloped land and one twentieth of the produce of the irrigated and developed land.)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522514"/>
            <a:ext cx="8229600" cy="118872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200" dirty="0"/>
            </a:br>
            <a:r>
              <a:rPr lang="en-US" sz="3200" dirty="0"/>
              <a:t> ZAKAT Rules for giving </a:t>
            </a:r>
            <a:r>
              <a:rPr lang="en-US" sz="3200" dirty="0" err="1"/>
              <a:t>zakat</a:t>
            </a:r>
            <a:r>
              <a:rPr lang="en-US" sz="3200" dirty="0"/>
              <a:t> On gold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9640" y="1867989"/>
            <a:ext cx="8915400" cy="2603863"/>
          </a:xfrm>
        </p:spPr>
        <p:txBody>
          <a:bodyPr>
            <a:noAutofit/>
          </a:bodyPr>
          <a:lstStyle/>
          <a:p>
            <a:pPr marL="457200" indent="-457200" algn="l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000" dirty="0"/>
              <a:t>If a person possesses </a:t>
            </a:r>
            <a:r>
              <a:rPr lang="en-US" sz="2000" b="1" dirty="0">
                <a:solidFill>
                  <a:srgbClr val="FFC000"/>
                </a:solidFill>
              </a:rPr>
              <a:t>7 ½ </a:t>
            </a:r>
            <a:r>
              <a:rPr lang="en-US" sz="2000" b="1" dirty="0" err="1">
                <a:solidFill>
                  <a:srgbClr val="FFC000"/>
                </a:solidFill>
              </a:rPr>
              <a:t>Tola</a:t>
            </a:r>
            <a:r>
              <a:rPr lang="en-US" sz="2000" b="1" dirty="0">
                <a:solidFill>
                  <a:srgbClr val="FFC000"/>
                </a:solidFill>
              </a:rPr>
              <a:t> or  </a:t>
            </a:r>
            <a:r>
              <a:rPr lang="en-US" sz="2000" dirty="0">
                <a:solidFill>
                  <a:srgbClr val="FFC000"/>
                </a:solidFill>
              </a:rPr>
              <a:t>87.479 grams of gold </a:t>
            </a:r>
            <a:r>
              <a:rPr lang="en-US" sz="2000" dirty="0"/>
              <a:t>or any currency that equals the value of this amount of gold ,this wealth remains in his possession for a complete year, then on the expiry of this year it will be </a:t>
            </a:r>
            <a:r>
              <a:rPr lang="en-US" sz="2000" dirty="0" err="1"/>
              <a:t>wajib</a:t>
            </a:r>
            <a:r>
              <a:rPr lang="en-US" sz="2000" dirty="0"/>
              <a:t> on him to give </a:t>
            </a:r>
            <a:r>
              <a:rPr lang="en-US" sz="2000" dirty="0" err="1"/>
              <a:t>zakaat</a:t>
            </a:r>
            <a:r>
              <a:rPr lang="en-US" sz="2000" dirty="0"/>
              <a:t> for it. If his wealth is less than this, </a:t>
            </a:r>
            <a:r>
              <a:rPr lang="en-US" sz="2000" dirty="0" err="1"/>
              <a:t>zakaat</a:t>
            </a:r>
            <a:r>
              <a:rPr lang="en-US" sz="2000" dirty="0"/>
              <a:t> will not be </a:t>
            </a:r>
            <a:r>
              <a:rPr lang="en-US" sz="2000" dirty="0" err="1"/>
              <a:t>wajib</a:t>
            </a:r>
            <a:r>
              <a:rPr lang="en-US" sz="2000" dirty="0"/>
              <a:t>. If it is more than this, </a:t>
            </a:r>
            <a:r>
              <a:rPr lang="en-US" sz="2000" dirty="0" err="1"/>
              <a:t>zakaat</a:t>
            </a:r>
            <a:r>
              <a:rPr lang="en-US" sz="2000" dirty="0"/>
              <a:t> will still be </a:t>
            </a:r>
            <a:r>
              <a:rPr lang="en-US" sz="2000" dirty="0" err="1"/>
              <a:t>wajib</a:t>
            </a:r>
            <a:r>
              <a:rPr lang="en-US" sz="20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06040" cy="160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9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1783" y="269966"/>
            <a:ext cx="8125097" cy="1336765"/>
          </a:xfrm>
        </p:spPr>
        <p:txBody>
          <a:bodyPr>
            <a:normAutofit fontScale="90000"/>
          </a:bodyPr>
          <a:lstStyle/>
          <a:p>
            <a:pPr algn="l"/>
            <a:br>
              <a:rPr lang="en-US" sz="3600" dirty="0"/>
            </a:br>
            <a:r>
              <a:rPr lang="en-US" sz="3600" dirty="0"/>
              <a:t>     ZAKAT  Rules for giving </a:t>
            </a:r>
            <a:r>
              <a:rPr lang="en-US" sz="3600" dirty="0" err="1"/>
              <a:t>zakat</a:t>
            </a:r>
            <a:r>
              <a:rPr lang="en-US" sz="3600" dirty="0"/>
              <a:t> On Silver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2057400"/>
            <a:ext cx="8915400" cy="2667000"/>
          </a:xfrm>
        </p:spPr>
        <p:txBody>
          <a:bodyPr>
            <a:noAutofit/>
          </a:bodyPr>
          <a:lstStyle/>
          <a:p>
            <a:pPr marL="342900" indent="-342900" algn="l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sz="2400" dirty="0"/>
              <a:t>If a person possesses </a:t>
            </a:r>
            <a:r>
              <a:rPr lang="en-US" sz="2400" b="1" u="sng" dirty="0">
                <a:solidFill>
                  <a:srgbClr val="00B0F0"/>
                </a:solidFill>
              </a:rPr>
              <a:t>52 </a:t>
            </a:r>
            <a:r>
              <a:rPr lang="en-US" sz="1200" b="1" u="sng" dirty="0">
                <a:solidFill>
                  <a:srgbClr val="00B0F0"/>
                </a:solidFill>
              </a:rPr>
              <a:t>½ </a:t>
            </a:r>
            <a:r>
              <a:rPr lang="en-US" sz="2000" b="1" u="sng" dirty="0" err="1">
                <a:solidFill>
                  <a:srgbClr val="00B0F0"/>
                </a:solidFill>
              </a:rPr>
              <a:t>Tola</a:t>
            </a:r>
            <a:r>
              <a:rPr lang="en-US" sz="2000" b="1" u="sng" dirty="0">
                <a:solidFill>
                  <a:srgbClr val="00B0F0"/>
                </a:solidFill>
              </a:rPr>
              <a:t> </a:t>
            </a:r>
            <a:r>
              <a:rPr lang="en-US" sz="2000" dirty="0">
                <a:solidFill>
                  <a:srgbClr val="00B0F0"/>
                </a:solidFill>
              </a:rPr>
              <a:t>or  </a:t>
            </a:r>
            <a:r>
              <a:rPr lang="en-US" sz="2400" b="1" u="sng" dirty="0">
                <a:solidFill>
                  <a:srgbClr val="00B0F0"/>
                </a:solidFill>
              </a:rPr>
              <a:t>612.35 grams </a:t>
            </a:r>
            <a:r>
              <a:rPr lang="en-US" sz="2400" dirty="0"/>
              <a:t>of silver any currency that equals the value of this amount of gold or silver, and this wealth remains in his possession for a complete year, then on the expiry of this year it will be </a:t>
            </a:r>
            <a:r>
              <a:rPr lang="en-US" sz="2400" dirty="0" err="1"/>
              <a:t>wajib</a:t>
            </a:r>
            <a:r>
              <a:rPr lang="en-US" sz="2400" dirty="0"/>
              <a:t> on him to give </a:t>
            </a:r>
            <a:r>
              <a:rPr lang="en-US" sz="2400" dirty="0" err="1"/>
              <a:t>zakaat</a:t>
            </a:r>
            <a:r>
              <a:rPr lang="en-US" sz="2400" dirty="0"/>
              <a:t> for it. If his wealth is less than this, </a:t>
            </a:r>
            <a:r>
              <a:rPr lang="en-US" sz="2400" dirty="0" err="1"/>
              <a:t>zakaat</a:t>
            </a:r>
            <a:r>
              <a:rPr lang="en-US" sz="2400" dirty="0"/>
              <a:t> will not be </a:t>
            </a:r>
            <a:r>
              <a:rPr lang="en-US" sz="2400" dirty="0" err="1"/>
              <a:t>wajib</a:t>
            </a:r>
            <a:r>
              <a:rPr lang="en-US" sz="2400" dirty="0"/>
              <a:t>. If it is more than this, </a:t>
            </a:r>
            <a:r>
              <a:rPr lang="en-US" sz="2400" dirty="0" err="1"/>
              <a:t>zakaat</a:t>
            </a:r>
            <a:r>
              <a:rPr lang="en-US" sz="2400" dirty="0"/>
              <a:t> will still be </a:t>
            </a:r>
            <a:r>
              <a:rPr lang="en-US" sz="2400" dirty="0" err="1"/>
              <a:t>wajib</a:t>
            </a:r>
            <a:r>
              <a:rPr lang="en-US" sz="2400" dirty="0"/>
              <a:t>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28761" y="0"/>
            <a:ext cx="3063239" cy="169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41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6BE7-D547-4D22-BBD9-A2D086A9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834" y="1115348"/>
            <a:ext cx="8596668" cy="182658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ZAKAT Rules for giving zakat On animals </a:t>
            </a:r>
            <a:br>
              <a:rPr lang="en-US" sz="4000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81197-7C89-4980-8124-C69C75705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834" y="2835478"/>
            <a:ext cx="8596668" cy="106451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082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4301" y="110455"/>
            <a:ext cx="9135611" cy="1349829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/>
              <a:t>For the camel, there are twelve following Nisaab:</a:t>
            </a:r>
            <a:br>
              <a:rPr lang="en-US" sz="3200"/>
            </a:br>
            <a:br>
              <a:rPr lang="en-US" sz="320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2057400"/>
            <a:ext cx="8915400" cy="2590800"/>
          </a:xfrm>
        </p:spPr>
        <p:txBody>
          <a:bodyPr>
            <a:noAutofit/>
          </a:bodyPr>
          <a:lstStyle/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400" dirty="0"/>
              <a:t>•Five (5) camels -Its </a:t>
            </a:r>
            <a:r>
              <a:rPr lang="en-US" sz="2400" dirty="0" err="1"/>
              <a:t>Zakah</a:t>
            </a:r>
            <a:r>
              <a:rPr lang="en-US" sz="2400" dirty="0"/>
              <a:t> is one (1) sheep. </a:t>
            </a:r>
            <a:r>
              <a:rPr lang="en-US" sz="1600" dirty="0"/>
              <a:t>(There is no </a:t>
            </a:r>
            <a:r>
              <a:rPr lang="en-US" sz="1600" dirty="0" err="1"/>
              <a:t>Zakah</a:t>
            </a:r>
            <a:r>
              <a:rPr lang="en-US" sz="1600" dirty="0"/>
              <a:t> unless it has reached this number.)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400" dirty="0"/>
              <a:t>Ten (10) camels -Its </a:t>
            </a:r>
            <a:r>
              <a:rPr lang="en-US" sz="2400" dirty="0" err="1"/>
              <a:t>Zakah</a:t>
            </a:r>
            <a:r>
              <a:rPr lang="en-US" sz="2400" dirty="0"/>
              <a:t> is two (2)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400" dirty="0"/>
              <a:t> Fifteen (15) camels - Its </a:t>
            </a:r>
            <a:r>
              <a:rPr lang="en-US" sz="2400" dirty="0" err="1"/>
              <a:t>Zakah</a:t>
            </a:r>
            <a:r>
              <a:rPr lang="en-US" sz="2400" dirty="0"/>
              <a:t> is three (3)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400" dirty="0"/>
              <a:t> Twenty (20) camels - Its </a:t>
            </a:r>
            <a:r>
              <a:rPr lang="en-US" sz="2400" dirty="0" err="1"/>
              <a:t>Zakah</a:t>
            </a:r>
            <a:r>
              <a:rPr lang="en-US" sz="2400" dirty="0"/>
              <a:t> is four (4)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400" dirty="0"/>
              <a:t> Twenty five (25) camels - Its </a:t>
            </a:r>
            <a:r>
              <a:rPr lang="en-US" sz="2400" dirty="0" err="1"/>
              <a:t>Zakah</a:t>
            </a:r>
            <a:r>
              <a:rPr lang="en-US" sz="2400" dirty="0"/>
              <a:t> is five (5)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400" dirty="0"/>
              <a:t> Twenty six (26) camels - Its </a:t>
            </a:r>
            <a:r>
              <a:rPr lang="en-US" sz="2400" dirty="0" err="1"/>
              <a:t>Zakah</a:t>
            </a:r>
            <a:r>
              <a:rPr lang="en-US" sz="2400" dirty="0"/>
              <a:t> is a (</a:t>
            </a:r>
            <a:r>
              <a:rPr lang="en-US" sz="1600" u="sng" dirty="0" err="1"/>
              <a:t>Bint</a:t>
            </a:r>
            <a:r>
              <a:rPr lang="en-US" sz="1600" u="sng" dirty="0"/>
              <a:t> </a:t>
            </a:r>
            <a:r>
              <a:rPr lang="en-US" sz="1600" u="sng" dirty="0" err="1"/>
              <a:t>Makhaadh</a:t>
            </a:r>
            <a:r>
              <a:rPr lang="en-US" sz="2400" u="sng" dirty="0"/>
              <a:t>) </a:t>
            </a:r>
            <a:r>
              <a:rPr lang="en-US" sz="2400" dirty="0"/>
              <a:t>and it is the female camel which has entered into the second year.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904300" cy="20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72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52400"/>
            <a:ext cx="7783585" cy="1828800"/>
          </a:xfrm>
        </p:spPr>
        <p:txBody>
          <a:bodyPr>
            <a:normAutofit/>
          </a:bodyPr>
          <a:lstStyle/>
          <a:p>
            <a:pPr algn="ctr"/>
            <a:br>
              <a:rPr lang="en-US" sz="3200" dirty="0"/>
            </a:br>
            <a:r>
              <a:rPr lang="en-US" sz="3200" dirty="0"/>
              <a:t> For cows ,bulls &amp; buffalo there are two </a:t>
            </a:r>
            <a:r>
              <a:rPr lang="en-US" sz="3200" dirty="0" err="1"/>
              <a:t>Nisaab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2057400"/>
            <a:ext cx="8915400" cy="2209800"/>
          </a:xfrm>
        </p:spPr>
        <p:txBody>
          <a:bodyPr>
            <a:noAutofit/>
          </a:bodyPr>
          <a:lstStyle/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800" dirty="0"/>
              <a:t>The First </a:t>
            </a:r>
            <a:r>
              <a:rPr lang="en-US" sz="2800" dirty="0" err="1"/>
              <a:t>Nisaab</a:t>
            </a:r>
            <a:r>
              <a:rPr lang="en-US" sz="2800" dirty="0"/>
              <a:t>: Thirty (30) head of cows, meaning that when the number of cows reach 30 heads and the previously mentioned conditions are fulfilled, it is obligatory to give a </a:t>
            </a:r>
            <a:r>
              <a:rPr lang="en-US" sz="2800" dirty="0" err="1">
                <a:solidFill>
                  <a:srgbClr val="C00000"/>
                </a:solidFill>
              </a:rPr>
              <a:t>Tabee</a:t>
            </a:r>
            <a:r>
              <a:rPr lang="en-US" sz="2800" dirty="0">
                <a:solidFill>
                  <a:srgbClr val="C00000"/>
                </a:solidFill>
              </a:rPr>
              <a:t>' or </a:t>
            </a:r>
            <a:r>
              <a:rPr lang="en-US" sz="2800" dirty="0" err="1">
                <a:solidFill>
                  <a:srgbClr val="C00000"/>
                </a:solidFill>
              </a:rPr>
              <a:t>Tabee'ah</a:t>
            </a:r>
            <a:r>
              <a:rPr lang="en-US" sz="2800" dirty="0"/>
              <a:t>. They are the cows that have entered into the </a:t>
            </a:r>
            <a:r>
              <a:rPr lang="en-US" sz="2800" dirty="0">
                <a:solidFill>
                  <a:srgbClr val="C00000"/>
                </a:solidFill>
              </a:rPr>
              <a:t>second year </a:t>
            </a:r>
            <a:r>
              <a:rPr lang="en-US" sz="2800" dirty="0"/>
              <a:t>at the minimum.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2800" dirty="0"/>
              <a:t>The Second </a:t>
            </a:r>
            <a:r>
              <a:rPr lang="en-US" sz="2800" dirty="0" err="1"/>
              <a:t>Nisaab</a:t>
            </a:r>
            <a:r>
              <a:rPr lang="en-US" sz="2800" dirty="0"/>
              <a:t>: Forty (40) head of cows. Its </a:t>
            </a:r>
            <a:r>
              <a:rPr lang="en-US" sz="2800" dirty="0" err="1"/>
              <a:t>Zakah</a:t>
            </a:r>
            <a:r>
              <a:rPr lang="en-US" sz="2800" dirty="0"/>
              <a:t> is a </a:t>
            </a:r>
            <a:r>
              <a:rPr lang="en-US" sz="2800" dirty="0" err="1">
                <a:solidFill>
                  <a:srgbClr val="C00000"/>
                </a:solidFill>
              </a:rPr>
              <a:t>Musannah</a:t>
            </a:r>
            <a:r>
              <a:rPr lang="en-US" sz="2800" dirty="0"/>
              <a:t>, meaning the female cow that has entered into the </a:t>
            </a:r>
            <a:r>
              <a:rPr lang="en-US" sz="2800" dirty="0">
                <a:solidFill>
                  <a:srgbClr val="C00000"/>
                </a:solidFill>
              </a:rPr>
              <a:t>third year</a:t>
            </a:r>
            <a:r>
              <a:rPr lang="en-US" sz="2800" dirty="0"/>
              <a:t> at the minimum.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endParaRPr lang="en-US" sz="2800" dirty="0"/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2288275" cy="138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82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0157" y="228600"/>
            <a:ext cx="7295906" cy="182880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3200" dirty="0"/>
            </a:br>
            <a:r>
              <a:rPr lang="en-US" sz="3200" dirty="0"/>
              <a:t> For goats ,sheep etc. there are (5) </a:t>
            </a:r>
            <a:r>
              <a:rPr lang="en-US" sz="3200" dirty="0" err="1"/>
              <a:t>Nisaab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2286000"/>
            <a:ext cx="8915400" cy="1752600"/>
          </a:xfrm>
        </p:spPr>
        <p:txBody>
          <a:bodyPr>
            <a:noAutofit/>
          </a:bodyPr>
          <a:lstStyle/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/>
              <a:t>• 40 Sheep - Its </a:t>
            </a:r>
            <a:r>
              <a:rPr lang="en-US" dirty="0" err="1"/>
              <a:t>Zakah</a:t>
            </a:r>
            <a:r>
              <a:rPr lang="en-US" dirty="0"/>
              <a:t> is one (1)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/>
              <a:t>• 121 Sheep - Its </a:t>
            </a:r>
            <a:r>
              <a:rPr lang="en-US" dirty="0" err="1"/>
              <a:t>Zakah</a:t>
            </a:r>
            <a:r>
              <a:rPr lang="en-US" dirty="0"/>
              <a:t> is two (2)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/>
              <a:t>• 201 Sheep - Its </a:t>
            </a:r>
            <a:r>
              <a:rPr lang="en-US" dirty="0" err="1"/>
              <a:t>Zakah</a:t>
            </a:r>
            <a:r>
              <a:rPr lang="en-US" dirty="0"/>
              <a:t> is three (3)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/>
              <a:t>• 301 Sheep - Its </a:t>
            </a:r>
            <a:r>
              <a:rPr lang="en-US" dirty="0" err="1"/>
              <a:t>Zakah</a:t>
            </a:r>
            <a:r>
              <a:rPr lang="en-US" dirty="0"/>
              <a:t> is four (4) sheep.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r>
              <a:rPr lang="en-US" dirty="0"/>
              <a:t>• 400 Sheep or more. One sheep is given per each hundred sheep</a:t>
            </a:r>
          </a:p>
          <a:p>
            <a:pPr algn="l">
              <a:buClr>
                <a:schemeClr val="tx1"/>
              </a:buClr>
              <a:buFont typeface="Wingdings" pitchFamily="2" charset="2"/>
              <a:buChar char="q"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58723" y="0"/>
            <a:ext cx="2468880" cy="220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13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Zakat on Agricultural 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en-US" dirty="0"/>
              <a:t>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Agricultural land: </a:t>
            </a:r>
          </a:p>
          <a:p>
            <a:pPr marL="137160" indent="0">
              <a:buNone/>
            </a:pPr>
            <a:r>
              <a:rPr lang="en-US" dirty="0"/>
              <a:t>There is no zakat on land itself. Zakat is levied on the production from zakat. </a:t>
            </a:r>
          </a:p>
          <a:p>
            <a:pPr marL="137160" indent="0">
              <a:buNone/>
            </a:pPr>
            <a:r>
              <a:rPr lang="en-US" dirty="0"/>
              <a:t>(5%) if </a:t>
            </a:r>
            <a:r>
              <a:rPr lang="en-US" dirty="0">
                <a:solidFill>
                  <a:srgbClr val="C00000"/>
                </a:solidFill>
              </a:rPr>
              <a:t>expenses were incurred </a:t>
            </a:r>
            <a:r>
              <a:rPr lang="en-US" dirty="0"/>
              <a:t>to produce the crops. </a:t>
            </a:r>
          </a:p>
          <a:p>
            <a:pPr marL="137160" indent="0">
              <a:buNone/>
            </a:pPr>
            <a:r>
              <a:rPr lang="en-US" dirty="0"/>
              <a:t>(10%) if </a:t>
            </a:r>
            <a:r>
              <a:rPr lang="en-US" dirty="0">
                <a:solidFill>
                  <a:srgbClr val="C00000"/>
                </a:solidFill>
              </a:rPr>
              <a:t>none or very little expenses</a:t>
            </a:r>
            <a:r>
              <a:rPr lang="en-US" dirty="0"/>
              <a:t> were incurred for producing the crops. </a:t>
            </a:r>
          </a:p>
          <a:p>
            <a:pPr marL="13716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769" y="1143000"/>
            <a:ext cx="17049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73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D9CB6D-CC6F-4ED9-B50B-F68854F46B7E}"/>
              </a:ext>
            </a:extLst>
          </p:cNvPr>
          <p:cNvSpPr txBox="1"/>
          <p:nvPr/>
        </p:nvSpPr>
        <p:spPr>
          <a:xfrm>
            <a:off x="2390862" y="2483033"/>
            <a:ext cx="71600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Conditions of acceptance of zakat</a:t>
            </a:r>
          </a:p>
        </p:txBody>
      </p:sp>
    </p:spTree>
    <p:extLst>
      <p:ext uri="{BB962C8B-B14F-4D97-AF65-F5344CB8AC3E}">
        <p14:creationId xmlns:p14="http://schemas.microsoft.com/office/powerpoint/2010/main" val="1099204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5F092-E829-4FDC-8FEF-16F925A1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Obtained from honest income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213D2-9E9B-4D7D-BE07-6929C4392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r-PK" b="0" i="0" dirty="0">
                <a:solidFill>
                  <a:srgbClr val="708090"/>
                </a:solidFill>
                <a:effectLst/>
                <a:latin typeface="noorehuda"/>
              </a:rPr>
              <a:t>يَا أَيُّهَا الَّذِينَ آمَنُواْ أَنفِقُواْ مِن طَيِّبَاتِ مَا كَسَبْتُمْ</a:t>
            </a:r>
            <a:endParaRPr lang="en-US" b="0" i="0" dirty="0">
              <a:solidFill>
                <a:srgbClr val="708090"/>
              </a:solidFill>
              <a:effectLst/>
              <a:latin typeface="noorehuda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“O believer! Spend on others </a:t>
            </a:r>
            <a:r>
              <a:rPr lang="en-US" b="0" i="0" dirty="0">
                <a:solidFill>
                  <a:srgbClr val="00B050"/>
                </a:solidFill>
                <a:effectLst/>
                <a:latin typeface="lato"/>
              </a:rPr>
              <a:t>out of the good things </a:t>
            </a: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which you may have acquired”.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51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A849-DFB9-484C-971E-58791C35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7725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It should be for the sake of Allah</a:t>
            </a:r>
            <a:br>
              <a:rPr lang="en-US" sz="3600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6BC13-D2C7-4FEB-A7B9-C54BB1D62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r-PK" b="0" i="0" dirty="0">
                <a:solidFill>
                  <a:srgbClr val="708090"/>
                </a:solidFill>
                <a:effectLst/>
                <a:latin typeface="noorehuda"/>
              </a:rPr>
              <a:t>وَمَا تُنفِقُونَ إِلاَّ ابْتِغَاء وَجْهِ اللّهِ</a:t>
            </a:r>
            <a:endParaRPr lang="en-US" b="0" i="0" dirty="0">
              <a:solidFill>
                <a:srgbClr val="708090"/>
              </a:solidFill>
              <a:effectLst/>
              <a:latin typeface="noorehuda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you spend only </a:t>
            </a:r>
            <a:r>
              <a:rPr lang="en-US" b="0" i="0" dirty="0">
                <a:solidFill>
                  <a:srgbClr val="C00000"/>
                </a:solidFill>
                <a:effectLst/>
                <a:latin typeface="lato"/>
              </a:rPr>
              <a:t>out of a longing for God's countenance</a:t>
            </a:r>
          </a:p>
          <a:p>
            <a:pPr marL="0" indent="0">
              <a:buNone/>
            </a:pPr>
            <a:r>
              <a:rPr lang="ur-PK" b="0" i="0" dirty="0">
                <a:solidFill>
                  <a:srgbClr val="708090"/>
                </a:solidFill>
                <a:effectLst/>
                <a:latin typeface="noorehuda"/>
              </a:rPr>
              <a:t>كَالَّذِي يُنفِقُ مَالَهُ رِئَاء النَّاسِ</a:t>
            </a:r>
            <a:endParaRPr lang="en-US" b="0" i="0" dirty="0">
              <a:solidFill>
                <a:srgbClr val="708090"/>
              </a:solidFill>
              <a:effectLst/>
              <a:latin typeface="noorehuda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“who spends his wealth only </a:t>
            </a:r>
            <a:r>
              <a:rPr lang="en-US" b="0" i="0" dirty="0">
                <a:solidFill>
                  <a:srgbClr val="C00000"/>
                </a:solidFill>
                <a:effectLst/>
                <a:latin typeface="lato"/>
              </a:rPr>
              <a:t>to be seen and praised by men</a:t>
            </a:r>
            <a:r>
              <a:rPr lang="en-US" dirty="0">
                <a:solidFill>
                  <a:srgbClr val="708090"/>
                </a:solidFill>
                <a:latin typeface="noorehuda"/>
              </a:rPr>
              <a:t>”.</a:t>
            </a:r>
            <a:endParaRPr lang="en-US" b="0" i="0" dirty="0">
              <a:solidFill>
                <a:srgbClr val="708090"/>
              </a:solidFill>
              <a:effectLst/>
              <a:latin typeface="lato"/>
            </a:endParaRP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lato"/>
              </a:rPr>
              <a:t>Prophet said</a:t>
            </a:r>
            <a:r>
              <a:rPr lang="en-US" dirty="0">
                <a:solidFill>
                  <a:srgbClr val="708090"/>
                </a:solidFill>
                <a:latin typeface="lato"/>
              </a:rPr>
              <a:t>” </a:t>
            </a:r>
          </a:p>
          <a:p>
            <a:pPr marL="0" indent="0">
              <a:buNone/>
            </a:pPr>
            <a:r>
              <a:rPr lang="en-US" dirty="0">
                <a:solidFill>
                  <a:srgbClr val="708090"/>
                </a:solidFill>
                <a:latin typeface="lato"/>
              </a:rPr>
              <a:t>He who gives charity to be </a:t>
            </a:r>
            <a:r>
              <a:rPr lang="en-US" dirty="0">
                <a:solidFill>
                  <a:srgbClr val="00B050"/>
                </a:solidFill>
                <a:latin typeface="lato"/>
              </a:rPr>
              <a:t>shown off </a:t>
            </a:r>
            <a:r>
              <a:rPr lang="en-US" dirty="0">
                <a:solidFill>
                  <a:srgbClr val="708090"/>
                </a:solidFill>
                <a:latin typeface="lato"/>
              </a:rPr>
              <a:t>he, in fact makes partnership with Allah.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1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4928-7F5B-4A27-8D8E-89F56F10E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should be beloved (good) 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A0B29-6FBD-4CC9-BA2E-192C1C09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r-PK" b="0" i="0" dirty="0">
                <a:solidFill>
                  <a:srgbClr val="708090"/>
                </a:solidFill>
                <a:effectLst/>
                <a:latin typeface="noorehuda"/>
              </a:rPr>
              <a:t>وَلاَ تَيَمَّمُواْ الْخَبِيثَ مِنْهُ تُنفِقُونَ</a:t>
            </a:r>
            <a:endParaRPr lang="en-US" b="0" i="0" dirty="0">
              <a:solidFill>
                <a:srgbClr val="708090"/>
              </a:solidFill>
              <a:effectLst/>
              <a:latin typeface="noorehuda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“and choose not for your spending the </a:t>
            </a:r>
            <a:r>
              <a:rPr lang="en-US" b="0" i="0" dirty="0">
                <a:solidFill>
                  <a:srgbClr val="00B050"/>
                </a:solidFill>
                <a:effectLst/>
                <a:latin typeface="lato"/>
              </a:rPr>
              <a:t>bad things </a:t>
            </a: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which you yourselves would not accept</a:t>
            </a:r>
            <a:r>
              <a:rPr lang="en-US" dirty="0">
                <a:solidFill>
                  <a:srgbClr val="708090"/>
                </a:solidFill>
                <a:latin typeface="noorehuda"/>
              </a:rPr>
              <a:t>”.</a:t>
            </a:r>
          </a:p>
          <a:p>
            <a:pPr marL="0" indent="0">
              <a:buNone/>
            </a:pPr>
            <a:r>
              <a:rPr lang="ur-PK" b="0" i="0" dirty="0">
                <a:solidFill>
                  <a:srgbClr val="708090"/>
                </a:solidFill>
                <a:effectLst/>
                <a:latin typeface="noorehuda"/>
              </a:rPr>
              <a:t>لَن تَنَالُواْ الْبِرَّ حَتَّى تُنفِقُواْ مِمَّا تُحِبُّونَ</a:t>
            </a:r>
            <a:endParaRPr lang="en-US" b="0" i="0" dirty="0">
              <a:solidFill>
                <a:srgbClr val="708090"/>
              </a:solidFill>
              <a:effectLst/>
              <a:latin typeface="noorehuda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you</a:t>
            </a:r>
            <a:r>
              <a:rPr lang="en-US" dirty="0">
                <a:solidFill>
                  <a:srgbClr val="708090"/>
                </a:solidFill>
                <a:latin typeface="lato"/>
              </a:rPr>
              <a:t> can</a:t>
            </a: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 never attain to true piety unless you spend your the </a:t>
            </a:r>
            <a:r>
              <a:rPr lang="en-US" b="0" i="0" dirty="0">
                <a:solidFill>
                  <a:srgbClr val="00B050"/>
                </a:solidFill>
                <a:effectLst/>
                <a:latin typeface="lato"/>
              </a:rPr>
              <a:t>most beloved thi</a:t>
            </a: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078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5F11-F718-4909-B7EC-39F42633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Recipients self respect should not be hurt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D3925-2B6C-4134-BB0E-39EACF8AD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r-PK" b="0" i="0" dirty="0">
                <a:solidFill>
                  <a:srgbClr val="708090"/>
                </a:solidFill>
                <a:effectLst/>
                <a:latin typeface="noorehuda"/>
              </a:rPr>
              <a:t>يَا أَيُّهَا الَّذِينَ آمَنُواْ لاَ تُبْطِلُواْ صَدَقَاتِكُم بِالْمَنِّ وَالأذَى</a:t>
            </a:r>
            <a:endParaRPr lang="en-US" b="0" i="0" dirty="0">
              <a:solidFill>
                <a:srgbClr val="708090"/>
              </a:solidFill>
              <a:effectLst/>
              <a:latin typeface="noorehuda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08090"/>
                </a:solidFill>
                <a:effectLst/>
                <a:latin typeface="lato"/>
              </a:rPr>
              <a:t>“O Believer! Do not deprive your charitable deeds of all worth by stressing your own benevolence and hurting [the feelings of the needy]”.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7951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0" y="1295400"/>
            <a:ext cx="5791200" cy="3581400"/>
          </a:xfrm>
        </p:spPr>
        <p:txBody>
          <a:bodyPr/>
          <a:lstStyle/>
          <a:p>
            <a:pPr eaLnBrk="1" hangingPunct="1"/>
            <a:r>
              <a:rPr lang="en-US" altLang="en-US" sz="7200"/>
              <a:t>Why Pay Zakat</a:t>
            </a:r>
          </a:p>
        </p:txBody>
      </p:sp>
    </p:spTree>
    <p:extLst>
      <p:ext uri="{BB962C8B-B14F-4D97-AF65-F5344CB8AC3E}">
        <p14:creationId xmlns:p14="http://schemas.microsoft.com/office/powerpoint/2010/main" val="1494429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28600"/>
            <a:ext cx="7772400" cy="1143000"/>
          </a:xfrm>
        </p:spPr>
        <p:txBody>
          <a:bodyPr/>
          <a:lstStyle/>
          <a:p>
            <a:pPr marL="838200" indent="-838200"/>
            <a:r>
              <a:rPr lang="en-US" altLang="en-US" b="1" u="sng" dirty="0" err="1"/>
              <a:t>Zakat</a:t>
            </a:r>
            <a:r>
              <a:rPr lang="en-US" altLang="en-US" b="1" u="sng" dirty="0"/>
              <a:t> Increases Wealth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Ar-Rum-39</a:t>
            </a:r>
          </a:p>
        </p:txBody>
      </p:sp>
      <p:pic>
        <p:nvPicPr>
          <p:cNvPr id="3994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86000"/>
            <a:ext cx="7467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3200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2209800" y="4038601"/>
            <a:ext cx="8458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latin typeface="Arial" panose="020B0604020202020204" pitchFamily="34" charset="0"/>
                <a:cs typeface="Times New Roman" panose="02020603050405020304" pitchFamily="18" charset="0"/>
              </a:rPr>
              <a:t>The interest that you give in order to increase the wealth of the people, does not increase in the sight of </a:t>
            </a:r>
            <a:r>
              <a:rPr lang="en-US" altLang="en-US" sz="2800" b="1" i="1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Allah</a:t>
            </a:r>
            <a:r>
              <a:rPr lang="en-US" altLang="en-US" sz="2800" b="1">
                <a:latin typeface="Arial" panose="020B0604020202020204" pitchFamily="34" charset="0"/>
                <a:cs typeface="Times New Roman" panose="02020603050405020304" pitchFamily="18" charset="0"/>
              </a:rPr>
              <a:t>: and the </a:t>
            </a:r>
            <a:r>
              <a:rPr lang="en-US" altLang="en-US" sz="2800" b="1" i="1">
                <a:solidFill>
                  <a:schemeClr val="fol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Zakat</a:t>
            </a:r>
            <a:r>
              <a:rPr lang="en-US" altLang="en-US" sz="2800" b="1">
                <a:latin typeface="Arial" panose="020B0604020202020204" pitchFamily="34" charset="0"/>
                <a:cs typeface="Times New Roman" panose="02020603050405020304" pitchFamily="18" charset="0"/>
              </a:rPr>
              <a:t> that you pay in order to win </a:t>
            </a:r>
            <a:r>
              <a:rPr lang="en-US" altLang="en-US" sz="2800" b="1" i="1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Allah</a:t>
            </a:r>
            <a:r>
              <a:rPr lang="en-US" altLang="en-US" sz="2800" b="1">
                <a:latin typeface="Arial" panose="020B0604020202020204" pitchFamily="34" charset="0"/>
                <a:cs typeface="Times New Roman" panose="02020603050405020304" pitchFamily="18" charset="0"/>
              </a:rPr>
              <a:t>’s approval, its payer do indeed increases their wealth.</a:t>
            </a:r>
          </a:p>
        </p:txBody>
      </p:sp>
    </p:spTree>
    <p:extLst>
      <p:ext uri="{BB962C8B-B14F-4D97-AF65-F5344CB8AC3E}">
        <p14:creationId xmlns:p14="http://schemas.microsoft.com/office/powerpoint/2010/main" val="8545131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Why Muslims are Suffering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598503" y="635493"/>
            <a:ext cx="8763000" cy="5867400"/>
          </a:xfrm>
        </p:spPr>
        <p:txBody>
          <a:bodyPr>
            <a:normAutofit fontScale="92500" lnSpcReduction="20000"/>
          </a:bodyPr>
          <a:lstStyle/>
          <a:p>
            <a:pPr marL="420624" indent="-384048">
              <a:buFont typeface="Wingdings 2"/>
              <a:buChar char=""/>
              <a:defRPr/>
            </a:pPr>
            <a:r>
              <a:rPr lang="en-US" sz="2400" b="1" i="1" dirty="0"/>
              <a:t>"O Muhajirun, beware of five traits: if ever </a:t>
            </a:r>
            <a:r>
              <a:rPr lang="en-US" sz="2400" b="1" i="1" dirty="0">
                <a:solidFill>
                  <a:srgbClr val="00B050"/>
                </a:solidFill>
              </a:rPr>
              <a:t>immorality</a:t>
            </a:r>
            <a:r>
              <a:rPr lang="en-US" sz="2400" b="1" i="1" dirty="0"/>
              <a:t> spreads in a community and there is no sense of shame on its occurrence or mentioning it [and people talk about it as if nothing bad has taken place], </a:t>
            </a:r>
            <a:r>
              <a:rPr lang="en-US" sz="2400" b="1" i="1" dirty="0">
                <a:solidFill>
                  <a:srgbClr val="00B050"/>
                </a:solidFill>
              </a:rPr>
              <a:t>diseases</a:t>
            </a:r>
            <a:r>
              <a:rPr lang="en-US" sz="2400" b="1" i="1" dirty="0"/>
              <a:t> which were not present in the time of their predecessors will spread among them. </a:t>
            </a:r>
          </a:p>
          <a:p>
            <a:pPr marL="420624" indent="-384048">
              <a:buFont typeface="Wingdings 2"/>
              <a:buChar char=""/>
              <a:defRPr/>
            </a:pPr>
            <a:r>
              <a:rPr lang="en-US" sz="2400" b="1" i="1" dirty="0"/>
              <a:t>If they </a:t>
            </a:r>
            <a:r>
              <a:rPr lang="en-US" sz="2400" b="1" i="1" dirty="0">
                <a:solidFill>
                  <a:srgbClr val="C00000"/>
                </a:solidFill>
              </a:rPr>
              <a:t>decrease the measure </a:t>
            </a:r>
            <a:r>
              <a:rPr lang="en-US" sz="2400" b="1" i="1" dirty="0"/>
              <a:t>and weight (of sold grains or food), they will </a:t>
            </a:r>
            <a:r>
              <a:rPr lang="en-US" sz="2400" b="1" i="1" dirty="0">
                <a:solidFill>
                  <a:srgbClr val="C00000"/>
                </a:solidFill>
              </a:rPr>
              <a:t>be overcome by poverty</a:t>
            </a:r>
            <a:r>
              <a:rPr lang="en-US" sz="2400" b="1" i="1" dirty="0"/>
              <a:t>, their provisions will decrease and </a:t>
            </a:r>
            <a:r>
              <a:rPr lang="en-US" sz="2400" b="1" i="1" dirty="0">
                <a:solidFill>
                  <a:srgbClr val="C00000"/>
                </a:solidFill>
              </a:rPr>
              <a:t>their ruler will be unjust</a:t>
            </a:r>
            <a:r>
              <a:rPr lang="en-US" sz="2400" b="1" i="1" dirty="0"/>
              <a:t>. </a:t>
            </a:r>
          </a:p>
          <a:p>
            <a:pPr marL="420624" indent="-384048">
              <a:buFont typeface="Wingdings 2"/>
              <a:buChar char=""/>
              <a:defRPr/>
            </a:pPr>
            <a:r>
              <a:rPr lang="en-US" sz="2400" b="1" i="1" dirty="0">
                <a:solidFill>
                  <a:srgbClr val="FF0000"/>
                </a:solidFill>
              </a:rPr>
              <a:t>If they refrain from paying the zakah due on their properties, they will be deprived of rain, unless they get it only for the sake of their cattle</a:t>
            </a:r>
            <a:r>
              <a:rPr lang="en-US" sz="2400" b="1" i="1" dirty="0">
                <a:solidFill>
                  <a:srgbClr val="FF9999"/>
                </a:solidFill>
              </a:rPr>
              <a:t>.</a:t>
            </a:r>
          </a:p>
          <a:p>
            <a:pPr marL="420624" indent="-384048">
              <a:buFont typeface="Wingdings 2"/>
              <a:buChar char=""/>
              <a:defRPr/>
            </a:pPr>
            <a:r>
              <a:rPr lang="en-US" sz="2400" b="1" i="1" dirty="0"/>
              <a:t> If they </a:t>
            </a:r>
            <a:r>
              <a:rPr lang="en-US" sz="2400" b="1" i="1" dirty="0">
                <a:solidFill>
                  <a:srgbClr val="0070C0"/>
                </a:solidFill>
              </a:rPr>
              <a:t>renounce their commitment to Allah and His Messenger</a:t>
            </a:r>
            <a:r>
              <a:rPr lang="en-US" sz="2400" b="1" i="1" dirty="0"/>
              <a:t>, they will be </a:t>
            </a:r>
            <a:r>
              <a:rPr lang="en-US" sz="2400" b="1" i="1" dirty="0">
                <a:solidFill>
                  <a:srgbClr val="0070C0"/>
                </a:solidFill>
              </a:rPr>
              <a:t>governed by an enemy </a:t>
            </a:r>
            <a:r>
              <a:rPr lang="en-US" sz="2400" b="1" i="1" dirty="0"/>
              <a:t>who is a stranger to them and who will take away some of what they possess.</a:t>
            </a:r>
          </a:p>
          <a:p>
            <a:pPr marL="420624" indent="-384048">
              <a:buFont typeface="Wingdings 2"/>
              <a:buChar char=""/>
              <a:defRPr/>
            </a:pPr>
            <a:r>
              <a:rPr lang="en-US" sz="2400" b="1" i="1" dirty="0"/>
              <a:t> </a:t>
            </a:r>
            <a:r>
              <a:rPr lang="en-US" sz="2400" b="1" i="1" dirty="0">
                <a:solidFill>
                  <a:srgbClr val="7030A0"/>
                </a:solidFill>
              </a:rPr>
              <a:t>If their rulers do not rule according to Allah's Book</a:t>
            </a: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they </a:t>
            </a:r>
            <a:r>
              <a:rPr lang="en-US" sz="2400" b="1" i="1" dirty="0">
                <a:solidFill>
                  <a:srgbClr val="7030A0"/>
                </a:solidFill>
              </a:rPr>
              <a:t>will be afflicted by civil war</a:t>
            </a: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Allah forbid that these should happen to you</a:t>
            </a:r>
            <a:r>
              <a:rPr lang="en-US" sz="2400" b="1" i="1" dirty="0">
                <a:solidFill>
                  <a:schemeClr val="folHlink"/>
                </a:solidFill>
              </a:rPr>
              <a:t>."</a:t>
            </a:r>
            <a:br>
              <a:rPr lang="en-US" sz="2400" b="1" i="1" dirty="0">
                <a:solidFill>
                  <a:schemeClr val="folHlink"/>
                </a:solidFill>
              </a:rPr>
            </a:br>
            <a:r>
              <a:rPr lang="en-US" sz="1300" b="1" i="1" dirty="0"/>
              <a:t>Ibn Maja</a:t>
            </a:r>
          </a:p>
        </p:txBody>
      </p:sp>
    </p:spTree>
    <p:extLst>
      <p:ext uri="{BB962C8B-B14F-4D97-AF65-F5344CB8AC3E}">
        <p14:creationId xmlns:p14="http://schemas.microsoft.com/office/powerpoint/2010/main" val="676351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70457"/>
            <a:ext cx="8596668" cy="824248"/>
          </a:xfrm>
        </p:spPr>
        <p:txBody>
          <a:bodyPr/>
          <a:lstStyle/>
          <a:p>
            <a:r>
              <a:rPr lang="en-US" dirty="0"/>
              <a:t>Objectives of Zakat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877" y="1220540"/>
            <a:ext cx="8823241" cy="4946657"/>
          </a:xfrm>
        </p:spPr>
        <p:txBody>
          <a:bodyPr>
            <a:normAutofit/>
          </a:bodyPr>
          <a:lstStyle/>
          <a:p>
            <a:endParaRPr lang="en-GB" b="1" dirty="0"/>
          </a:p>
          <a:p>
            <a:r>
              <a:rPr lang="en-US" b="1" dirty="0"/>
              <a:t>Purification Of The Soul</a:t>
            </a:r>
          </a:p>
          <a:p>
            <a:r>
              <a:rPr lang="en-US" b="1" dirty="0"/>
              <a:t>Help Of The Poor</a:t>
            </a:r>
          </a:p>
          <a:p>
            <a:r>
              <a:rPr lang="en-US" b="1" dirty="0"/>
              <a:t>Support Of Islam.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92842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8596668" cy="866503"/>
          </a:xfrm>
        </p:spPr>
        <p:txBody>
          <a:bodyPr/>
          <a:lstStyle/>
          <a:p>
            <a:pPr algn="ctr" eaLnBrk="1" hangingPunct="1"/>
            <a:r>
              <a:rPr lang="en-US" altLang="en-US" b="1" u="sng" dirty="0"/>
              <a:t>Objectives of </a:t>
            </a:r>
            <a:r>
              <a:rPr lang="en-US" altLang="en-US" b="1" u="sng" dirty="0" err="1"/>
              <a:t>Zakat</a:t>
            </a:r>
            <a:endParaRPr lang="en-US" altLang="en-US" b="1" u="sng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981200"/>
            <a:ext cx="7772400" cy="4648200"/>
          </a:xfrm>
        </p:spPr>
        <p:txBody>
          <a:bodyPr/>
          <a:lstStyle/>
          <a:p>
            <a:pPr eaLnBrk="1" hangingPunct="1"/>
            <a:r>
              <a:rPr lang="en-US" altLang="en-US" dirty="0"/>
              <a:t>Establish a welfare System in the Society</a:t>
            </a:r>
          </a:p>
          <a:p>
            <a:pPr eaLnBrk="1" hangingPunct="1"/>
            <a:r>
              <a:rPr lang="en-US" altLang="en-US" dirty="0"/>
              <a:t>Ensure circulation of wealth</a:t>
            </a:r>
          </a:p>
          <a:p>
            <a:pPr eaLnBrk="1" hangingPunct="1"/>
            <a:r>
              <a:rPr lang="en-US" altLang="en-US" dirty="0"/>
              <a:t>Create spirit of sharing</a:t>
            </a:r>
          </a:p>
          <a:p>
            <a:pPr eaLnBrk="1" hangingPunct="1"/>
            <a:r>
              <a:rPr lang="en-US" altLang="en-US" dirty="0"/>
              <a:t>Reduce love for Wealth</a:t>
            </a:r>
          </a:p>
          <a:p>
            <a:pPr eaLnBrk="1" hangingPunct="1"/>
            <a:r>
              <a:rPr lang="en-US" altLang="en-US" dirty="0"/>
              <a:t>Generate harmony/love in the community</a:t>
            </a:r>
          </a:p>
          <a:p>
            <a:pPr marL="342900" lvl="2" indent="-342900"/>
            <a:r>
              <a:rPr lang="en-US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Way to Earn Rewards</a:t>
            </a:r>
          </a:p>
          <a:p>
            <a:pPr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972108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C7070"/>
                </a:solidFill>
                <a:latin typeface="+mn-lt"/>
                <a:cs typeface="Times New Roman" pitchFamily="18" charset="0"/>
              </a:rPr>
              <a:t>SOCIAL BENEFITS OF ZAKAT</a:t>
            </a:r>
            <a:endParaRPr lang="en-US" dirty="0">
              <a:solidFill>
                <a:srgbClr val="FC7070"/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5794"/>
            <a:ext cx="8596668" cy="437195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+mn-lt"/>
                <a:cs typeface="Times New Roman" pitchFamily="18" charset="0"/>
              </a:rPr>
              <a:t>Zakat</a:t>
            </a:r>
            <a:r>
              <a:rPr lang="en-US" i="1" dirty="0">
                <a:latin typeface="+mn-lt"/>
                <a:cs typeface="Times New Roman" pitchFamily="18" charset="0"/>
              </a:rPr>
              <a:t> </a:t>
            </a:r>
            <a:r>
              <a:rPr lang="en-US" dirty="0">
                <a:latin typeface="+mn-lt"/>
                <a:cs typeface="Times New Roman" pitchFamily="18" charset="0"/>
              </a:rPr>
              <a:t>reduces class struggles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+mn-lt"/>
                <a:cs typeface="Times New Roman" pitchFamily="18" charset="0"/>
              </a:rPr>
              <a:t>Zakat</a:t>
            </a:r>
            <a:r>
              <a:rPr lang="en-US" i="1" dirty="0">
                <a:latin typeface="+mn-lt"/>
                <a:cs typeface="Times New Roman" pitchFamily="18" charset="0"/>
              </a:rPr>
              <a:t> </a:t>
            </a:r>
            <a:r>
              <a:rPr lang="en-US" dirty="0">
                <a:latin typeface="+mn-lt"/>
                <a:cs typeface="Times New Roman" pitchFamily="18" charset="0"/>
              </a:rPr>
              <a:t>strengthens the lower class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+mn-lt"/>
                <a:cs typeface="Times New Roman" pitchFamily="18" charset="0"/>
              </a:rPr>
              <a:t>Zakat cures social diseases</a:t>
            </a:r>
          </a:p>
          <a:p>
            <a:pPr>
              <a:buFont typeface="Wingdings" pitchFamily="2" charset="2"/>
              <a:buChar char="q"/>
            </a:pPr>
            <a:r>
              <a:rPr lang="en-US" dirty="0">
                <a:latin typeface="+mn-lt"/>
                <a:cs typeface="Times New Roman" pitchFamily="18" charset="0"/>
              </a:rPr>
              <a:t>Zakat liberates society from interest</a:t>
            </a:r>
          </a:p>
          <a:p>
            <a:endParaRPr lang="en-US" dirty="0">
              <a:latin typeface="+mn-lt"/>
              <a:cs typeface="Times New Roman" pitchFamily="18" charset="0"/>
            </a:endParaRPr>
          </a:p>
        </p:txBody>
      </p:sp>
      <p:pic>
        <p:nvPicPr>
          <p:cNvPr id="4" name="Picture 3" descr="imagesKK1XIQ64.jpg"/>
          <p:cNvPicPr>
            <a:picLocks noChangeAspect="1"/>
          </p:cNvPicPr>
          <p:nvPr/>
        </p:nvPicPr>
        <p:blipFill>
          <a:blip r:embed="rId2">
            <a:lum contrast="-40000"/>
          </a:blip>
          <a:stretch>
            <a:fillRect/>
          </a:stretch>
        </p:blipFill>
        <p:spPr>
          <a:xfrm>
            <a:off x="815802" y="3163252"/>
            <a:ext cx="8458200" cy="30851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537</TotalTime>
  <Words>2631</Words>
  <Application>Microsoft Office PowerPoint</Application>
  <PresentationFormat>Widescreen</PresentationFormat>
  <Paragraphs>204</Paragraphs>
  <Slides>44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60" baseType="lpstr">
      <vt:lpstr>Arial</vt:lpstr>
      <vt:lpstr>Arial Black</vt:lpstr>
      <vt:lpstr>Courier New</vt:lpstr>
      <vt:lpstr>gentium plus</vt:lpstr>
      <vt:lpstr>lato</vt:lpstr>
      <vt:lpstr>noorehuda</vt:lpstr>
      <vt:lpstr>scheherazaderegular</vt:lpstr>
      <vt:lpstr>SFProText-Regular</vt:lpstr>
      <vt:lpstr>Times New Roman</vt:lpstr>
      <vt:lpstr>Trebuchet MS</vt:lpstr>
      <vt:lpstr>web2_b</vt:lpstr>
      <vt:lpstr>Wingdings</vt:lpstr>
      <vt:lpstr>Wingdings 2</vt:lpstr>
      <vt:lpstr>Wingdings 3</vt:lpstr>
      <vt:lpstr>Facet</vt:lpstr>
      <vt:lpstr>Bitmap Image</vt:lpstr>
      <vt:lpstr>PowerPoint Presentation</vt:lpstr>
      <vt:lpstr>Zakat (Poor's due)</vt:lpstr>
      <vt:lpstr>Literal meaning</vt:lpstr>
      <vt:lpstr> In Islamic Terminology</vt:lpstr>
      <vt:lpstr>One of the most important principles of Islam is that:</vt:lpstr>
      <vt:lpstr>Cont:</vt:lpstr>
      <vt:lpstr>Salat &amp; Zakat</vt:lpstr>
      <vt:lpstr>Who should pay zakat</vt:lpstr>
      <vt:lpstr>Importance of Zakat in the light of Quran</vt:lpstr>
      <vt:lpstr>Contt.</vt:lpstr>
      <vt:lpstr>The term (INFAQ) for poor's due</vt:lpstr>
      <vt:lpstr>Punishment for not paying zakah in Quran</vt:lpstr>
      <vt:lpstr>Importance of Zakat in the light of Hadith</vt:lpstr>
      <vt:lpstr>PowerPoint Presentation</vt:lpstr>
      <vt:lpstr>Concept / Philosophy</vt:lpstr>
      <vt:lpstr>Expense of Zakat</vt:lpstr>
      <vt:lpstr>Recipient of Zakat </vt:lpstr>
      <vt:lpstr>Administrators</vt:lpstr>
      <vt:lpstr>Influencing Hearts</vt:lpstr>
      <vt:lpstr>Freeing from Bondage</vt:lpstr>
      <vt:lpstr>Debtors</vt:lpstr>
      <vt:lpstr>In Way of Allah</vt:lpstr>
      <vt:lpstr>Traveler</vt:lpstr>
      <vt:lpstr>Where zakat can’t be used</vt:lpstr>
      <vt:lpstr>Effective Rate  P.A</vt:lpstr>
      <vt:lpstr>The Rate of Zakat</vt:lpstr>
      <vt:lpstr>  ZAKAT Rules for giving zakat On gold  </vt:lpstr>
      <vt:lpstr>      ZAKAT  Rules for giving zakat On Silver  </vt:lpstr>
      <vt:lpstr>ZAKAT Rules for giving zakat On animals  </vt:lpstr>
      <vt:lpstr>For the camel, there are twelve following Nisaab:  </vt:lpstr>
      <vt:lpstr>  For cows ,bulls &amp; buffalo there are two Nisaab</vt:lpstr>
      <vt:lpstr>  For goats ,sheep etc. there are (5) Nisaab </vt:lpstr>
      <vt:lpstr>Zakat on Agricultural lands</vt:lpstr>
      <vt:lpstr>PowerPoint Presentation</vt:lpstr>
      <vt:lpstr>Obtained from honest income</vt:lpstr>
      <vt:lpstr>It should be for the sake of Allah </vt:lpstr>
      <vt:lpstr>It should be beloved (good) thing</vt:lpstr>
      <vt:lpstr>Recipients self respect should not be hurt</vt:lpstr>
      <vt:lpstr>Why Pay Zakat</vt:lpstr>
      <vt:lpstr>Zakat Increases Wealth</vt:lpstr>
      <vt:lpstr>Why Muslims are Suffering</vt:lpstr>
      <vt:lpstr>Objectives of Zakat</vt:lpstr>
      <vt:lpstr>Objectives of Zakat</vt:lpstr>
      <vt:lpstr>SOCIAL BENEFITS OF ZAKAT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Zakat Meaning and Concepts</dc:title>
  <dc:creator>student</dc:creator>
  <cp:lastModifiedBy>Peeral Sb</cp:lastModifiedBy>
  <cp:revision>78</cp:revision>
  <dcterms:created xsi:type="dcterms:W3CDTF">2016-02-01T07:13:47Z</dcterms:created>
  <dcterms:modified xsi:type="dcterms:W3CDTF">2021-04-24T05:18:35Z</dcterms:modified>
</cp:coreProperties>
</file>