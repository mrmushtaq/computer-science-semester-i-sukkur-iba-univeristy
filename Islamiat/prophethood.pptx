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3" r:id="rId2"/>
    <p:sldId id="256" r:id="rId3"/>
    <p:sldId id="271" r:id="rId4"/>
    <p:sldId id="257" r:id="rId5"/>
    <p:sldId id="258" r:id="rId6"/>
    <p:sldId id="283" r:id="rId7"/>
    <p:sldId id="277" r:id="rId8"/>
    <p:sldId id="278" r:id="rId9"/>
    <p:sldId id="280" r:id="rId10"/>
    <p:sldId id="281" r:id="rId11"/>
    <p:sldId id="259" r:id="rId12"/>
    <p:sldId id="260" r:id="rId13"/>
    <p:sldId id="264" r:id="rId14"/>
    <p:sldId id="262" r:id="rId15"/>
    <p:sldId id="266" r:id="rId16"/>
    <p:sldId id="268" r:id="rId17"/>
    <p:sldId id="269" r:id="rId18"/>
    <p:sldId id="270" r:id="rId19"/>
    <p:sldId id="272" r:id="rId20"/>
    <p:sldId id="275" r:id="rId21"/>
    <p:sldId id="284"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C385F34-61F9-4749-B541-02E1F6C5C836}" type="datetimeFigureOut">
              <a:rPr lang="en-US" smtClean="0"/>
              <a:pPr/>
              <a:t>10/23/2021</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332E664-D3FC-47D4-AF37-5D9FDB1F9E3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385F34-61F9-4749-B541-02E1F6C5C836}" type="datetimeFigureOut">
              <a:rPr lang="en-US" smtClean="0"/>
              <a:pPr/>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32E664-D3FC-47D4-AF37-5D9FDB1F9E3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C385F34-61F9-4749-B541-02E1F6C5C836}" type="datetimeFigureOut">
              <a:rPr lang="en-US" smtClean="0"/>
              <a:pPr/>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32E664-D3FC-47D4-AF37-5D9FDB1F9E3D}"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385F34-61F9-4749-B541-02E1F6C5C836}" type="datetimeFigureOut">
              <a:rPr lang="en-US" smtClean="0"/>
              <a:pPr/>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32E664-D3FC-47D4-AF37-5D9FDB1F9E3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C385F34-61F9-4749-B541-02E1F6C5C836}" type="datetimeFigureOut">
              <a:rPr lang="en-US" smtClean="0"/>
              <a:pPr/>
              <a:t>10/23/2021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32E664-D3FC-47D4-AF37-5D9FDB1F9E3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BC385F34-61F9-4749-B541-02E1F6C5C836}" type="datetimeFigureOut">
              <a:rPr lang="en-US" smtClean="0"/>
              <a:pPr/>
              <a:t>10/23/2021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32E664-D3FC-47D4-AF37-5D9FDB1F9E3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385F34-61F9-4749-B541-02E1F6C5C836}" type="datetimeFigureOut">
              <a:rPr lang="en-US" smtClean="0"/>
              <a:pPr/>
              <a:t>10/23/2021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32E664-D3FC-47D4-AF37-5D9FDB1F9E3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C385F34-61F9-4749-B541-02E1F6C5C836}" type="datetimeFigureOut">
              <a:rPr lang="en-US" smtClean="0"/>
              <a:pPr/>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32E664-D3FC-47D4-AF37-5D9FDB1F9E3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C385F34-61F9-4749-B541-02E1F6C5C836}" type="datetimeFigureOut">
              <a:rPr lang="en-US" smtClean="0"/>
              <a:pPr/>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9332E664-D3FC-47D4-AF37-5D9FDB1F9E3D}"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385F34-61F9-4749-B541-02E1F6C5C836}" type="datetimeFigureOut">
              <a:rPr lang="en-US" smtClean="0"/>
              <a:pPr/>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32E664-D3FC-47D4-AF37-5D9FDB1F9E3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C385F34-61F9-4749-B541-02E1F6C5C836}" type="datetimeFigureOut">
              <a:rPr lang="en-US" smtClean="0"/>
              <a:pPr/>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32E664-D3FC-47D4-AF37-5D9FDB1F9E3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C385F34-61F9-4749-B541-02E1F6C5C836}" type="datetimeFigureOut">
              <a:rPr lang="en-US" smtClean="0"/>
              <a:pPr/>
              <a:t>10/23/2021</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332E664-D3FC-47D4-AF37-5D9FDB1F9E3D}"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US" dirty="0"/>
              <a:t>PROPHETHOOD (RISALAT)</a:t>
            </a:r>
          </a:p>
        </p:txBody>
      </p:sp>
      <p:sp>
        <p:nvSpPr>
          <p:cNvPr id="3" name="Subtitle 2"/>
          <p:cNvSpPr>
            <a:spLocks noGrp="1"/>
          </p:cNvSpPr>
          <p:nvPr>
            <p:ph type="subTitle" idx="1"/>
          </p:nvPr>
        </p:nvSpPr>
        <p:spPr/>
        <p:txBody>
          <a:bodyPr>
            <a:normAutofit/>
          </a:bodyPr>
          <a:lstStyle/>
          <a:p>
            <a:pPr algn="ctr"/>
            <a:r>
              <a:rPr lang="en-US" sz="4000" dirty="0"/>
              <a:t>Meaning and concept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28601"/>
            <a:ext cx="8991600" cy="457199"/>
          </a:xfrm>
        </p:spPr>
        <p:txBody>
          <a:bodyPr>
            <a:normAutofit fontScale="90000"/>
          </a:bodyPr>
          <a:lstStyle/>
          <a:p>
            <a:pPr algn="l"/>
            <a:r>
              <a:rPr lang="en-US" dirty="0"/>
              <a:t> </a:t>
            </a:r>
            <a:r>
              <a:rPr lang="en-US" sz="3600" dirty="0"/>
              <a:t>MEANING</a:t>
            </a:r>
            <a:endParaRPr lang="en-US" dirty="0"/>
          </a:p>
        </p:txBody>
      </p:sp>
      <p:sp>
        <p:nvSpPr>
          <p:cNvPr id="3" name="Subtitle 2"/>
          <p:cNvSpPr>
            <a:spLocks noGrp="1"/>
          </p:cNvSpPr>
          <p:nvPr>
            <p:ph type="subTitle" idx="1"/>
          </p:nvPr>
        </p:nvSpPr>
        <p:spPr>
          <a:xfrm>
            <a:off x="228600" y="838200"/>
            <a:ext cx="8915400" cy="5638800"/>
          </a:xfrm>
        </p:spPr>
        <p:txBody>
          <a:bodyPr/>
          <a:lstStyle/>
          <a:p>
            <a:pPr algn="l"/>
            <a:r>
              <a:rPr lang="en-US" dirty="0" err="1"/>
              <a:t>Risalat</a:t>
            </a:r>
            <a:r>
              <a:rPr lang="en-US" dirty="0"/>
              <a:t> is the Arabic word which means’ Apostleship’</a:t>
            </a:r>
          </a:p>
          <a:p>
            <a:pPr algn="l"/>
            <a:r>
              <a:rPr lang="en-US" dirty="0"/>
              <a:t>Two terms are used for the above assigned task.</a:t>
            </a:r>
          </a:p>
          <a:p>
            <a:pPr marL="457200" indent="-457200" algn="l">
              <a:buFont typeface="Arial" panose="020B0604020202020204" pitchFamily="34" charset="0"/>
              <a:buChar char="•"/>
            </a:pPr>
            <a:r>
              <a:rPr lang="en-US" dirty="0" err="1">
                <a:solidFill>
                  <a:srgbClr val="FF0000"/>
                </a:solidFill>
              </a:rPr>
              <a:t>Nabi</a:t>
            </a:r>
            <a:endParaRPr lang="en-US" dirty="0">
              <a:solidFill>
                <a:srgbClr val="FF0000"/>
              </a:solidFill>
            </a:endParaRPr>
          </a:p>
          <a:p>
            <a:pPr marL="457200" indent="-457200" algn="l">
              <a:buFont typeface="Arial" panose="020B0604020202020204" pitchFamily="34" charset="0"/>
              <a:buChar char="•"/>
            </a:pPr>
            <a:r>
              <a:rPr lang="en-US" dirty="0" err="1">
                <a:solidFill>
                  <a:srgbClr val="FF0000"/>
                </a:solidFill>
              </a:rPr>
              <a:t>Rasool</a:t>
            </a:r>
            <a:endParaRPr lang="en-US" dirty="0">
              <a:solidFill>
                <a:srgbClr val="FF0000"/>
              </a:solidFill>
            </a:endParaRPr>
          </a:p>
          <a:p>
            <a:pPr marL="457200" indent="-457200" algn="l">
              <a:buFont typeface="Wingdings" panose="05000000000000000000" pitchFamily="2" charset="2"/>
              <a:buChar char="v"/>
            </a:pPr>
            <a:r>
              <a:rPr lang="en-US" dirty="0" err="1"/>
              <a:t>Nabi</a:t>
            </a:r>
            <a:r>
              <a:rPr lang="en-US" dirty="0"/>
              <a:t> means  prophet, reviver </a:t>
            </a:r>
          </a:p>
          <a:p>
            <a:pPr marL="457200" indent="-457200" algn="l">
              <a:buFont typeface="Wingdings" panose="05000000000000000000" pitchFamily="2" charset="2"/>
              <a:buChar char="v"/>
            </a:pPr>
            <a:r>
              <a:rPr lang="en-US" dirty="0" err="1"/>
              <a:t>Rasool</a:t>
            </a:r>
            <a:r>
              <a:rPr lang="en-US" dirty="0"/>
              <a:t> means messenger ,Informer or harbinger.</a:t>
            </a:r>
          </a:p>
          <a:p>
            <a:pPr marL="457200" indent="-457200" algn="l">
              <a:buFont typeface="Arial" panose="020B0604020202020204" pitchFamily="34" charset="0"/>
              <a:buChar char="•"/>
            </a:pPr>
            <a:r>
              <a:rPr lang="en-US" dirty="0"/>
              <a:t>The messenger( </a:t>
            </a:r>
            <a:r>
              <a:rPr lang="en-US" dirty="0" err="1"/>
              <a:t>Rasool</a:t>
            </a:r>
            <a:r>
              <a:rPr lang="en-US" dirty="0"/>
              <a:t>) is one who brought the new Sharia (code of life) like Moses, Jesus and </a:t>
            </a:r>
            <a:r>
              <a:rPr lang="en-US" dirty="0" err="1"/>
              <a:t>Muhammed</a:t>
            </a:r>
            <a:r>
              <a:rPr lang="en-US" dirty="0"/>
              <a:t> (S.A.W) </a:t>
            </a:r>
          </a:p>
          <a:p>
            <a:pPr marL="457200" indent="-457200" algn="l">
              <a:buFont typeface="Arial" panose="020B0604020202020204" pitchFamily="34" charset="0"/>
              <a:buChar char="•"/>
            </a:pPr>
            <a:r>
              <a:rPr lang="en-US" dirty="0"/>
              <a:t>Where as the </a:t>
            </a:r>
            <a:r>
              <a:rPr lang="en-US" dirty="0" err="1"/>
              <a:t>Nabi</a:t>
            </a:r>
            <a:r>
              <a:rPr lang="en-US" dirty="0"/>
              <a:t> is one who revived the Sharia of the previous prophet.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 calcmode="lin" valueType="num">
                                      <p:cBhvr additive="base">
                                        <p:cTn id="4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
                                            <p:txEl>
                                              <p:pRg st="7" end="7"/>
                                            </p:txEl>
                                          </p:spTgt>
                                        </p:tgtEl>
                                        <p:attrNameLst>
                                          <p:attrName>style.visibility</p:attrName>
                                        </p:attrNameLst>
                                      </p:cBhvr>
                                      <p:to>
                                        <p:strVal val="visible"/>
                                      </p:to>
                                    </p:set>
                                    <p:anim calcmode="lin" valueType="num">
                                      <p:cBhvr additive="base">
                                        <p:cTn id="54"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6285"/>
            <a:ext cx="9143999" cy="6851715"/>
          </a:xfrm>
          <a:prstGeom prst="rect">
            <a:avLst/>
          </a:prstGeom>
        </p:spPr>
      </p:pic>
      <p:sp>
        <p:nvSpPr>
          <p:cNvPr id="3" name="Rectangle 2"/>
          <p:cNvSpPr/>
          <p:nvPr/>
        </p:nvSpPr>
        <p:spPr>
          <a:xfrm>
            <a:off x="3886200" y="2895600"/>
            <a:ext cx="4572000" cy="830997"/>
          </a:xfrm>
          <a:prstGeom prst="rect">
            <a:avLst/>
          </a:prstGeom>
        </p:spPr>
        <p:txBody>
          <a:bodyPr>
            <a:spAutoFit/>
          </a:bodyPr>
          <a:lstStyle/>
          <a:p>
            <a:r>
              <a:rPr lang="ar-AE" sz="2400" dirty="0">
                <a:solidFill>
                  <a:srgbClr val="0000FF"/>
                </a:solidFill>
                <a:latin typeface="Muhammadi Bold Font" panose="03020400000000000000" pitchFamily="66" charset="-78"/>
              </a:rPr>
              <a:t>وَلَقَدْ أَرْسَلْنَا رُسُلًا مِّن قَبْلِكَ مِنْهُم مَّن قَصَصْنَا عَلَيْكَ وَمِنْهُم مَّن لَّمْ نَقْصُصْ عَلَيْكَ </a:t>
            </a:r>
            <a:endParaRPr lang="en-US" sz="2400" dirty="0"/>
          </a:p>
        </p:txBody>
      </p:sp>
    </p:spTree>
    <p:extLst>
      <p:ext uri="{BB962C8B-B14F-4D97-AF65-F5344CB8AC3E}">
        <p14:creationId xmlns:p14="http://schemas.microsoft.com/office/powerpoint/2010/main" val="3828051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dirty="0"/>
              <a:t> NEED FOR PROPHETHOOD </a:t>
            </a:r>
          </a:p>
        </p:txBody>
      </p:sp>
      <p:sp>
        <p:nvSpPr>
          <p:cNvPr id="3" name="Content Placeholder 2"/>
          <p:cNvSpPr>
            <a:spLocks noGrp="1"/>
          </p:cNvSpPr>
          <p:nvPr>
            <p:ph idx="1"/>
          </p:nvPr>
        </p:nvSpPr>
        <p:spPr>
          <a:xfrm>
            <a:off x="152400" y="685800"/>
            <a:ext cx="8763000" cy="5867400"/>
          </a:xfrm>
        </p:spPr>
        <p:txBody>
          <a:bodyPr>
            <a:normAutofit/>
          </a:bodyPr>
          <a:lstStyle/>
          <a:p>
            <a:pPr algn="just">
              <a:buNone/>
            </a:pPr>
            <a:r>
              <a:rPr lang="en-US" dirty="0"/>
              <a:t>	The aim of man's creation and the responsibility assigned to him by Islam is that he should worship Allah and submit to Him.  </a:t>
            </a:r>
          </a:p>
          <a:p>
            <a:pPr>
              <a:buNone/>
            </a:pPr>
            <a:r>
              <a:rPr lang="en-US" dirty="0"/>
              <a:t>Submission is made to injunctions. Man becomes curious to know the injunctions of His master which he is required to know. The question arises as to how we come to know of His injunctions and will.</a:t>
            </a:r>
          </a:p>
          <a:p>
            <a:pPr>
              <a:buNone/>
            </a:pPr>
            <a:r>
              <a:rPr lang="en-US" dirty="0"/>
              <a:t>Following are few of the means to achieve it:</a:t>
            </a:r>
          </a:p>
          <a:p>
            <a:pPr>
              <a:buNone/>
            </a:pPr>
            <a:r>
              <a:rPr lang="en-US" dirty="0"/>
              <a:t>1- REASON</a:t>
            </a:r>
          </a:p>
          <a:p>
            <a:pPr>
              <a:buNone/>
            </a:pPr>
            <a:r>
              <a:rPr lang="en-US" dirty="0"/>
              <a:t>2- INTUATION	</a:t>
            </a:r>
          </a:p>
          <a:p>
            <a:pPr>
              <a:buNone/>
            </a:pPr>
            <a:r>
              <a:rPr lang="en-US" dirty="0"/>
              <a:t>3- COLLECTIVE CONTEMPLATION</a:t>
            </a:r>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 calcmode="lin" valueType="num">
                                      <p:cBhvr additive="base">
                                        <p:cTn id="18"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 calcmode="lin" valueType="num">
                                      <p:cBhvr additive="base">
                                        <p:cTn id="36"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additive="base">
                                        <p:cTn id="4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err="1"/>
              <a:t>Cont</a:t>
            </a:r>
            <a:r>
              <a:rPr lang="en-US" dirty="0"/>
              <a:t>:</a:t>
            </a:r>
          </a:p>
        </p:txBody>
      </p:sp>
      <p:sp>
        <p:nvSpPr>
          <p:cNvPr id="3" name="Content Placeholder 2"/>
          <p:cNvSpPr>
            <a:spLocks noGrp="1"/>
          </p:cNvSpPr>
          <p:nvPr>
            <p:ph idx="1"/>
          </p:nvPr>
        </p:nvSpPr>
        <p:spPr>
          <a:xfrm>
            <a:off x="152400" y="838200"/>
            <a:ext cx="8839200" cy="5791200"/>
          </a:xfrm>
        </p:spPr>
        <p:txBody>
          <a:bodyPr/>
          <a:lstStyle/>
          <a:p>
            <a:pPr>
              <a:buNone/>
            </a:pPr>
            <a:r>
              <a:rPr lang="en-US" dirty="0"/>
              <a:t>Above all means are not enough to guide man to the true injunctions of Allah. Some external arrangement had to be made by Allah for his guidance.  </a:t>
            </a:r>
          </a:p>
          <a:p>
            <a:pPr>
              <a:buNone/>
            </a:pPr>
            <a:r>
              <a:rPr lang="en-US" dirty="0"/>
              <a:t>A person  through whom Allah done this arrangement is called Prophet.</a:t>
            </a:r>
          </a:p>
          <a:p>
            <a:pPr>
              <a:buNone/>
            </a:pPr>
            <a:r>
              <a:rPr lang="en-US" dirty="0"/>
              <a:t> It is abundantly clear that man can not learn divine injunctions without prophet hood. </a:t>
            </a:r>
          </a:p>
          <a:p>
            <a:pPr>
              <a:buNone/>
            </a:pPr>
            <a:r>
              <a:rPr lang="en-US" dirty="0"/>
              <a:t>In the absence of prophet hood we would even fail to know Allah and after life, what to say of divine guidance.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9143999" cy="6858000"/>
          </a:xfrm>
          <a:prstGeom prst="rect">
            <a:avLst/>
          </a:prstGeom>
        </p:spPr>
      </p:pic>
    </p:spTree>
    <p:extLst>
      <p:ext uri="{BB962C8B-B14F-4D97-AF65-F5344CB8AC3E}">
        <p14:creationId xmlns:p14="http://schemas.microsoft.com/office/powerpoint/2010/main" val="262509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37B03B29-5A8B-41DE-9F53-7F1BA759E7AC}" type="slidenum">
              <a:rPr lang="en-US"/>
              <a:pPr/>
              <a:t>7</a:t>
            </a:fld>
            <a:endParaRPr lang="en-US"/>
          </a:p>
        </p:txBody>
      </p:sp>
      <p:sp>
        <p:nvSpPr>
          <p:cNvPr id="63490" name="Rectangle 2"/>
          <p:cNvSpPr>
            <a:spLocks noGrp="1" noChangeArrowheads="1"/>
          </p:cNvSpPr>
          <p:nvPr>
            <p:ph type="title"/>
          </p:nvPr>
        </p:nvSpPr>
        <p:spPr/>
        <p:txBody>
          <a:bodyPr/>
          <a:lstStyle/>
          <a:p>
            <a:r>
              <a:rPr lang="en-US"/>
              <a:t>Testimony of scientists</a:t>
            </a:r>
          </a:p>
        </p:txBody>
      </p:sp>
      <p:sp>
        <p:nvSpPr>
          <p:cNvPr id="63491" name="Rectangle 3"/>
          <p:cNvSpPr>
            <a:spLocks noGrp="1" noChangeArrowheads="1"/>
          </p:cNvSpPr>
          <p:nvPr>
            <p:ph type="body" idx="1"/>
          </p:nvPr>
        </p:nvSpPr>
        <p:spPr>
          <a:xfrm>
            <a:off x="762000" y="2057400"/>
            <a:ext cx="7772400" cy="4114800"/>
          </a:xfrm>
        </p:spPr>
        <p:txBody>
          <a:bodyPr>
            <a:normAutofit fontScale="92500" lnSpcReduction="10000"/>
          </a:bodyPr>
          <a:lstStyle/>
          <a:p>
            <a:pPr>
              <a:lnSpc>
                <a:spcPct val="90000"/>
              </a:lnSpc>
            </a:pPr>
            <a:r>
              <a:rPr lang="en-US" sz="2000" dirty="0">
                <a:solidFill>
                  <a:srgbClr val="7030A0"/>
                </a:solidFill>
              </a:rPr>
              <a:t>Keith Moore, head of the department of anatomy, at the University of Toronto,</a:t>
            </a:r>
            <a:r>
              <a:rPr lang="en-US" sz="2000" dirty="0"/>
              <a:t> was shown verses of the Qur’an dealing with the microscopic stages of the human embryo. He was so surprised at what he found that he went back and revised the history of embryology in his standard texts on the subject. The books that Keith Moore authored are used at prestigious institutions like Yale and at universities all around the world. He stated, after being unable to provide an explanation on how microscopic details of the embryo could be accurately described in a book written before the discovery of the microscope: </a:t>
            </a:r>
            <a:br>
              <a:rPr lang="en-US" sz="2000" dirty="0"/>
            </a:br>
            <a:br>
              <a:rPr lang="en-US" sz="2000" dirty="0"/>
            </a:br>
            <a:r>
              <a:rPr lang="en-US" sz="2000" i="1" dirty="0"/>
              <a:t>"</a:t>
            </a:r>
            <a:r>
              <a:rPr lang="en-US" sz="2000" i="1" dirty="0">
                <a:solidFill>
                  <a:srgbClr val="00B0F0"/>
                </a:solidFill>
              </a:rPr>
              <a:t>It is clear to me that these statements (in the Qur’an on embryology) must have come to Muhammad from God. This proves to me that Muhammad must have been the Messenger of God." </a:t>
            </a:r>
            <a:r>
              <a:rPr lang="en-US" sz="2000" i="1" dirty="0"/>
              <a:t>(</a:t>
            </a:r>
            <a:r>
              <a:rPr lang="en-US" sz="2000" i="1" dirty="0" err="1"/>
              <a:t>Rehaili</a:t>
            </a:r>
            <a:r>
              <a:rPr lang="en-US" sz="2000" i="1" dirty="0"/>
              <a:t> 1995) </a:t>
            </a:r>
            <a:br>
              <a:rPr lang="en-US" sz="2000" i="1" dirty="0"/>
            </a:br>
            <a:br>
              <a:rPr lang="en-US" sz="2000" dirty="0"/>
            </a:br>
            <a:endParaRPr lang="en-US" sz="2000" dirty="0"/>
          </a:p>
        </p:txBody>
      </p:sp>
    </p:spTree>
    <p:extLst>
      <p:ext uri="{BB962C8B-B14F-4D97-AF65-F5344CB8AC3E}">
        <p14:creationId xmlns:p14="http://schemas.microsoft.com/office/powerpoint/2010/main" val="2575021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B30E842-0E81-49F1-BD1A-33476CA78261}" type="datetime1">
              <a:rPr lang="en-US"/>
              <a:pPr/>
              <a:t>10/23/2021</a:t>
            </a:fld>
            <a:endParaRPr lang="en-US"/>
          </a:p>
        </p:txBody>
      </p:sp>
      <p:sp>
        <p:nvSpPr>
          <p:cNvPr id="5" name="Footer Placeholder 4"/>
          <p:cNvSpPr>
            <a:spLocks noGrp="1"/>
          </p:cNvSpPr>
          <p:nvPr>
            <p:ph type="ftr" sz="quarter" idx="11"/>
          </p:nvPr>
        </p:nvSpPr>
        <p:spPr>
          <a:xfrm>
            <a:off x="2667000" y="6629400"/>
            <a:ext cx="3352800" cy="92075"/>
          </a:xfrm>
        </p:spPr>
        <p:txBody>
          <a:bodyPr/>
          <a:lstStyle/>
          <a:p>
            <a:endParaRPr lang="en-US" dirty="0"/>
          </a:p>
        </p:txBody>
      </p:sp>
      <p:sp>
        <p:nvSpPr>
          <p:cNvPr id="6" name="Slide Number Placeholder 5"/>
          <p:cNvSpPr>
            <a:spLocks noGrp="1"/>
          </p:cNvSpPr>
          <p:nvPr>
            <p:ph type="sldNum" sz="quarter" idx="12"/>
          </p:nvPr>
        </p:nvSpPr>
        <p:spPr/>
        <p:txBody>
          <a:bodyPr/>
          <a:lstStyle/>
          <a:p>
            <a:fld id="{223F144A-C004-492C-96F3-BA96D32DE856}" type="slidenum">
              <a:rPr lang="en-US"/>
              <a:pPr/>
              <a:t>8</a:t>
            </a:fld>
            <a:endParaRPr lang="en-US"/>
          </a:p>
        </p:txBody>
      </p:sp>
      <p:sp>
        <p:nvSpPr>
          <p:cNvPr id="24579" name="Rectangle 3"/>
          <p:cNvSpPr>
            <a:spLocks noGrp="1" noChangeArrowheads="1"/>
          </p:cNvSpPr>
          <p:nvPr>
            <p:ph type="body" idx="1"/>
          </p:nvPr>
        </p:nvSpPr>
        <p:spPr>
          <a:xfrm>
            <a:off x="827088" y="2060575"/>
            <a:ext cx="7772400" cy="4114800"/>
          </a:xfrm>
        </p:spPr>
        <p:txBody>
          <a:bodyPr>
            <a:normAutofit/>
          </a:bodyPr>
          <a:lstStyle/>
          <a:p>
            <a:r>
              <a:rPr lang="en-US" sz="2400" b="1" i="1" dirty="0"/>
              <a:t>Qur’an:</a:t>
            </a:r>
            <a:endParaRPr lang="en-US" sz="2400" i="1" dirty="0"/>
          </a:p>
          <a:p>
            <a:pPr algn="r"/>
            <a:r>
              <a:rPr lang="ar-AE" sz="2400" dirty="0"/>
              <a:t>أَوَلَمْ يَرَ الَّذِينَ كَفَرُوا أَنَّ السَّمَاوَاتِ وَالْأَرْضَ كَانَتَا رَتْقًا فَفَتَقْنَاهُمَا</a:t>
            </a:r>
            <a:endParaRPr lang="en-US" sz="2400" i="1" dirty="0"/>
          </a:p>
          <a:p>
            <a:r>
              <a:rPr lang="en-US" sz="2400" i="1" dirty="0"/>
              <a:t>"Do not the unbelievers see that the Heavens and the earth were joined together, then We split them apart."</a:t>
            </a:r>
          </a:p>
          <a:p>
            <a:pPr>
              <a:lnSpc>
                <a:spcPct val="110000"/>
              </a:lnSpc>
            </a:pPr>
            <a:r>
              <a:rPr lang="en-US" sz="2000" dirty="0">
                <a:solidFill>
                  <a:srgbClr val="7030A0"/>
                </a:solidFill>
              </a:rPr>
              <a:t>Professor Alfred Kroner, chairman of the Department of Geology at the Institute of Geosciences</a:t>
            </a:r>
            <a:r>
              <a:rPr lang="en-US" sz="2000" dirty="0"/>
              <a:t>, Johannes </a:t>
            </a:r>
            <a:r>
              <a:rPr lang="en-US" sz="2000" dirty="0" err="1"/>
              <a:t>Gutenburg</a:t>
            </a:r>
            <a:r>
              <a:rPr lang="en-US" sz="2000" dirty="0"/>
              <a:t> University, Mainz, Germany stated about this verse in the Qur’an: </a:t>
            </a:r>
            <a:r>
              <a:rPr lang="en-US" sz="2000" dirty="0">
                <a:solidFill>
                  <a:srgbClr val="00B0F0"/>
                </a:solidFill>
              </a:rPr>
              <a:t>"Somebody who did not know something about nuclear physics 1400 years ago could not, </a:t>
            </a:r>
            <a:r>
              <a:rPr lang="en-US" sz="2000" dirty="0"/>
              <a:t>I think, be in a position to find out from his own mind for instance that the earth and the heavens had the same origin, (</a:t>
            </a:r>
            <a:r>
              <a:rPr lang="en-US" sz="2000" dirty="0" err="1"/>
              <a:t>Rehaili</a:t>
            </a:r>
            <a:r>
              <a:rPr lang="en-US" sz="2000" dirty="0"/>
              <a:t> 1995)" </a:t>
            </a:r>
          </a:p>
        </p:txBody>
      </p:sp>
      <p:sp>
        <p:nvSpPr>
          <p:cNvPr id="24581" name="Rectangle 5"/>
          <p:cNvSpPr>
            <a:spLocks noGrp="1" noChangeArrowheads="1"/>
          </p:cNvSpPr>
          <p:nvPr>
            <p:ph type="title"/>
          </p:nvPr>
        </p:nvSpPr>
        <p:spPr/>
        <p:txBody>
          <a:bodyPr/>
          <a:lstStyle/>
          <a:p>
            <a:r>
              <a:rPr lang="en-US"/>
              <a:t>The ‘Big Bang’ theory</a:t>
            </a:r>
          </a:p>
        </p:txBody>
      </p:sp>
    </p:spTree>
    <p:extLst>
      <p:ext uri="{BB962C8B-B14F-4D97-AF65-F5344CB8AC3E}">
        <p14:creationId xmlns:p14="http://schemas.microsoft.com/office/powerpoint/2010/main" val="2148973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D239D2D-539C-49F9-A2B5-D614F4164796}" type="datetime1">
              <a:rPr lang="en-US"/>
              <a:pPr/>
              <a:t>10/23/2021</a:t>
            </a:fld>
            <a:endParaRPr lang="en-US"/>
          </a:p>
        </p:txBody>
      </p:sp>
      <p:sp>
        <p:nvSpPr>
          <p:cNvPr id="5" name="Footer Placeholder 4"/>
          <p:cNvSpPr>
            <a:spLocks noGrp="1"/>
          </p:cNvSpPr>
          <p:nvPr>
            <p:ph type="ftr" sz="quarter" idx="11"/>
          </p:nvPr>
        </p:nvSpPr>
        <p:spPr>
          <a:xfrm>
            <a:off x="2667000" y="6629400"/>
            <a:ext cx="3352800" cy="92075"/>
          </a:xfrm>
        </p:spPr>
        <p:txBody>
          <a:bodyPr/>
          <a:lstStyle/>
          <a:p>
            <a:endParaRPr lang="en-US" dirty="0"/>
          </a:p>
        </p:txBody>
      </p:sp>
      <p:sp>
        <p:nvSpPr>
          <p:cNvPr id="6" name="Slide Number Placeholder 5"/>
          <p:cNvSpPr>
            <a:spLocks noGrp="1"/>
          </p:cNvSpPr>
          <p:nvPr>
            <p:ph type="sldNum" sz="quarter" idx="12"/>
          </p:nvPr>
        </p:nvSpPr>
        <p:spPr/>
        <p:txBody>
          <a:bodyPr/>
          <a:lstStyle/>
          <a:p>
            <a:fld id="{8BD7028A-07F2-4DA2-AA8F-2B7FAF1AEA31}" type="slidenum">
              <a:rPr lang="en-US"/>
              <a:pPr/>
              <a:t>9</a:t>
            </a:fld>
            <a:endParaRPr lang="en-US"/>
          </a:p>
        </p:txBody>
      </p:sp>
      <p:sp>
        <p:nvSpPr>
          <p:cNvPr id="91140" name="Rectangle 4"/>
          <p:cNvSpPr>
            <a:spLocks noGrp="1" noChangeArrowheads="1"/>
          </p:cNvSpPr>
          <p:nvPr>
            <p:ph type="title"/>
          </p:nvPr>
        </p:nvSpPr>
        <p:spPr/>
        <p:txBody>
          <a:bodyPr>
            <a:normAutofit fontScale="90000"/>
          </a:bodyPr>
          <a:lstStyle/>
          <a:p>
            <a:r>
              <a:rPr lang="en-US" dirty="0"/>
              <a:t>Sir George Bernard Shaw</a:t>
            </a:r>
            <a:br>
              <a:rPr lang="en-US" dirty="0"/>
            </a:br>
            <a:r>
              <a:rPr lang="en-US" sz="2400" b="1" dirty="0"/>
              <a:t>‘The Genuine Islam,’ Vol. 1, No. 8, 1936</a:t>
            </a:r>
          </a:p>
        </p:txBody>
      </p:sp>
      <p:sp>
        <p:nvSpPr>
          <p:cNvPr id="91141" name="Rectangle 5"/>
          <p:cNvSpPr>
            <a:spLocks noGrp="1" noChangeArrowheads="1"/>
          </p:cNvSpPr>
          <p:nvPr>
            <p:ph type="body" idx="1"/>
          </p:nvPr>
        </p:nvSpPr>
        <p:spPr>
          <a:xfrm>
            <a:off x="755650" y="2060575"/>
            <a:ext cx="7772400" cy="4114800"/>
          </a:xfrm>
        </p:spPr>
        <p:txBody>
          <a:bodyPr/>
          <a:lstStyle/>
          <a:p>
            <a:pPr>
              <a:lnSpc>
                <a:spcPct val="90000"/>
              </a:lnSpc>
            </a:pPr>
            <a:r>
              <a:rPr lang="en-US" sz="2400" dirty="0"/>
              <a:t>“I have studied him – (Prophet </a:t>
            </a:r>
            <a:r>
              <a:rPr lang="en-US" sz="2400" dirty="0" err="1"/>
              <a:t>Muhamned</a:t>
            </a:r>
            <a:r>
              <a:rPr lang="en-US" sz="2400" dirty="0"/>
              <a:t> </a:t>
            </a:r>
            <a:r>
              <a:rPr lang="en-US" sz="1400" dirty="0"/>
              <a:t>S.A.W</a:t>
            </a:r>
            <a:r>
              <a:rPr lang="en-US" sz="2400" dirty="0"/>
              <a:t>) the wonderful man – in in my opinion far from being an anti-Christ </a:t>
            </a:r>
            <a:r>
              <a:rPr lang="en-US" sz="2400" dirty="0">
                <a:solidFill>
                  <a:srgbClr val="FF0000"/>
                </a:solidFill>
              </a:rPr>
              <a:t>he must be called the Savior of Humanity</a:t>
            </a:r>
            <a:r>
              <a:rPr lang="en-US" sz="2400" dirty="0"/>
              <a:t>. I believe that </a:t>
            </a:r>
            <a:r>
              <a:rPr lang="en-US" sz="2400" dirty="0">
                <a:solidFill>
                  <a:srgbClr val="00B0F0"/>
                </a:solidFill>
              </a:rPr>
              <a:t>if a man like him were to assume the dictatorship of the modern world, he would succeed in solving the problems in a way that would bring much needed peace and happiness</a:t>
            </a:r>
            <a:r>
              <a:rPr lang="en-US" sz="2400" dirty="0"/>
              <a:t>. </a:t>
            </a:r>
          </a:p>
          <a:p>
            <a:pPr>
              <a:lnSpc>
                <a:spcPct val="90000"/>
              </a:lnSpc>
            </a:pPr>
            <a:r>
              <a:rPr lang="en-US" sz="2400" dirty="0"/>
              <a:t>I have prophesied about the faith of Muhammad that </a:t>
            </a:r>
            <a:r>
              <a:rPr lang="en-US" sz="2400" dirty="0">
                <a:solidFill>
                  <a:srgbClr val="0070C0"/>
                </a:solidFill>
              </a:rPr>
              <a:t>it would be acceptable to the Europe of tomorrow </a:t>
            </a:r>
            <a:r>
              <a:rPr lang="en-US" sz="2400" dirty="0"/>
              <a:t>as it is beginning to be acceptable to the Europe of today.” </a:t>
            </a:r>
          </a:p>
        </p:txBody>
      </p:sp>
    </p:spTree>
    <p:extLst>
      <p:ext uri="{BB962C8B-B14F-4D97-AF65-F5344CB8AC3E}">
        <p14:creationId xmlns:p14="http://schemas.microsoft.com/office/powerpoint/2010/main" val="3664329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FC93D70-F00C-401D-8173-AAFC0A435EE0}" type="datetime1">
              <a:rPr lang="en-US"/>
              <a:pPr/>
              <a:t>10/23/2021</a:t>
            </a:fld>
            <a:endParaRPr lang="en-US"/>
          </a:p>
        </p:txBody>
      </p:sp>
      <p:sp>
        <p:nvSpPr>
          <p:cNvPr id="5" name="Footer Placeholder 4"/>
          <p:cNvSpPr>
            <a:spLocks noGrp="1"/>
          </p:cNvSpPr>
          <p:nvPr>
            <p:ph type="ftr" sz="quarter" idx="11"/>
          </p:nvPr>
        </p:nvSpPr>
        <p:spPr>
          <a:xfrm>
            <a:off x="2667000" y="6629400"/>
            <a:ext cx="3352800" cy="92075"/>
          </a:xfrm>
        </p:spPr>
        <p:txBody>
          <a:bodyPr/>
          <a:lstStyle/>
          <a:p>
            <a:endParaRPr lang="en-US" dirty="0"/>
          </a:p>
        </p:txBody>
      </p:sp>
      <p:sp>
        <p:nvSpPr>
          <p:cNvPr id="6" name="Slide Number Placeholder 5"/>
          <p:cNvSpPr>
            <a:spLocks noGrp="1"/>
          </p:cNvSpPr>
          <p:nvPr>
            <p:ph type="sldNum" sz="quarter" idx="12"/>
          </p:nvPr>
        </p:nvSpPr>
        <p:spPr/>
        <p:txBody>
          <a:bodyPr/>
          <a:lstStyle/>
          <a:p>
            <a:fld id="{A122536C-56C1-43A0-869E-DCDAF0AB8604}" type="slidenum">
              <a:rPr lang="en-US"/>
              <a:pPr/>
              <a:t>10</a:t>
            </a:fld>
            <a:endParaRPr lang="en-US"/>
          </a:p>
        </p:txBody>
      </p:sp>
      <p:sp>
        <p:nvSpPr>
          <p:cNvPr id="94210" name="Rectangle 2"/>
          <p:cNvSpPr>
            <a:spLocks noGrp="1" noChangeArrowheads="1"/>
          </p:cNvSpPr>
          <p:nvPr>
            <p:ph type="title"/>
          </p:nvPr>
        </p:nvSpPr>
        <p:spPr/>
        <p:txBody>
          <a:bodyPr>
            <a:normAutofit fontScale="90000"/>
          </a:bodyPr>
          <a:lstStyle/>
          <a:p>
            <a:r>
              <a:rPr lang="en-US" dirty="0"/>
              <a:t>Rev. Bosworth Smith </a:t>
            </a:r>
            <a:br>
              <a:rPr lang="en-US" dirty="0"/>
            </a:br>
            <a:r>
              <a:rPr lang="en-US" sz="2800" dirty="0"/>
              <a:t>“Mohammed and Mohammedanism”, 1874</a:t>
            </a:r>
          </a:p>
        </p:txBody>
      </p:sp>
      <p:sp>
        <p:nvSpPr>
          <p:cNvPr id="94211" name="Rectangle 3"/>
          <p:cNvSpPr>
            <a:spLocks noGrp="1" noChangeArrowheads="1"/>
          </p:cNvSpPr>
          <p:nvPr>
            <p:ph type="body" idx="1"/>
          </p:nvPr>
        </p:nvSpPr>
        <p:spPr>
          <a:xfrm>
            <a:off x="755650" y="2060575"/>
            <a:ext cx="7772400" cy="4114800"/>
          </a:xfrm>
        </p:spPr>
        <p:txBody>
          <a:bodyPr/>
          <a:lstStyle/>
          <a:p>
            <a:pPr>
              <a:lnSpc>
                <a:spcPct val="90000"/>
              </a:lnSpc>
            </a:pPr>
            <a:r>
              <a:rPr lang="en-US" sz="2400" dirty="0"/>
              <a:t>“By a fortune absolutely unique in history, </a:t>
            </a:r>
            <a:r>
              <a:rPr lang="en-US" sz="2400" dirty="0">
                <a:solidFill>
                  <a:srgbClr val="7030A0"/>
                </a:solidFill>
              </a:rPr>
              <a:t>Mohammed is a threefold founder</a:t>
            </a:r>
            <a:r>
              <a:rPr lang="en-US" sz="2400" dirty="0"/>
              <a:t>, of a nation, of an empire and of a religion.</a:t>
            </a:r>
          </a:p>
          <a:p>
            <a:pPr>
              <a:lnSpc>
                <a:spcPct val="90000"/>
              </a:lnSpc>
            </a:pPr>
            <a:r>
              <a:rPr lang="en-US" sz="2400" dirty="0"/>
              <a:t>He was </a:t>
            </a:r>
            <a:r>
              <a:rPr lang="en-US" sz="2400" dirty="0">
                <a:solidFill>
                  <a:schemeClr val="accent6">
                    <a:lumMod val="50000"/>
                  </a:schemeClr>
                </a:solidFill>
              </a:rPr>
              <a:t>Caesar and Pope in one</a:t>
            </a:r>
            <a:r>
              <a:rPr lang="en-US" sz="2400" dirty="0"/>
              <a:t>, but </a:t>
            </a:r>
            <a:r>
              <a:rPr lang="en-US" sz="2400" dirty="0">
                <a:solidFill>
                  <a:srgbClr val="FFC000"/>
                </a:solidFill>
              </a:rPr>
              <a:t>he was Pope without the Pope’s pretensions </a:t>
            </a:r>
            <a:r>
              <a:rPr lang="en-US" sz="2400" dirty="0"/>
              <a:t>and </a:t>
            </a:r>
            <a:r>
              <a:rPr lang="en-US" sz="2400" dirty="0">
                <a:solidFill>
                  <a:srgbClr val="FF0000"/>
                </a:solidFill>
              </a:rPr>
              <a:t>Caesar without the legions of Caesar</a:t>
            </a:r>
            <a:r>
              <a:rPr lang="en-US" sz="2400" dirty="0"/>
              <a:t>: </a:t>
            </a:r>
            <a:r>
              <a:rPr lang="en-US" sz="2400" dirty="0">
                <a:solidFill>
                  <a:srgbClr val="C00000"/>
                </a:solidFill>
              </a:rPr>
              <a:t>without a standing army</a:t>
            </a:r>
            <a:r>
              <a:rPr lang="en-US" sz="2400" dirty="0"/>
              <a:t>, without a bodyguard, </a:t>
            </a:r>
            <a:r>
              <a:rPr lang="en-US" sz="2400" dirty="0">
                <a:solidFill>
                  <a:schemeClr val="accent1">
                    <a:lumMod val="60000"/>
                    <a:lumOff val="40000"/>
                  </a:schemeClr>
                </a:solidFill>
              </a:rPr>
              <a:t>without a palace</a:t>
            </a:r>
            <a:r>
              <a:rPr lang="en-US" sz="2400" dirty="0"/>
              <a:t>, without a fixed revenue, </a:t>
            </a:r>
          </a:p>
          <a:p>
            <a:pPr>
              <a:lnSpc>
                <a:spcPct val="90000"/>
              </a:lnSpc>
            </a:pPr>
            <a:r>
              <a:rPr lang="en-US" sz="2400" dirty="0"/>
              <a:t>if ever any man had the right to say that he ruled by right Divine, it was Mohammed, for he had all the powers without its instruments and without its supports.”</a:t>
            </a:r>
          </a:p>
        </p:txBody>
      </p:sp>
    </p:spTree>
    <p:extLst>
      <p:ext uri="{BB962C8B-B14F-4D97-AF65-F5344CB8AC3E}">
        <p14:creationId xmlns:p14="http://schemas.microsoft.com/office/powerpoint/2010/main" val="2518175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a:t>NATURE OF PROPHETHOOD</a:t>
            </a:r>
          </a:p>
        </p:txBody>
      </p:sp>
      <p:sp>
        <p:nvSpPr>
          <p:cNvPr id="3" name="Content Placeholder 2"/>
          <p:cNvSpPr>
            <a:spLocks noGrp="1"/>
          </p:cNvSpPr>
          <p:nvPr>
            <p:ph idx="1"/>
          </p:nvPr>
        </p:nvSpPr>
        <p:spPr>
          <a:xfrm>
            <a:off x="152400" y="914400"/>
            <a:ext cx="8839200" cy="5638800"/>
          </a:xfrm>
        </p:spPr>
        <p:txBody>
          <a:bodyPr/>
          <a:lstStyle/>
          <a:p>
            <a:pPr>
              <a:buNone/>
            </a:pPr>
            <a:r>
              <a:rPr lang="en-US" dirty="0"/>
              <a:t>The designation of prophethood is not something that can be achieved by practicing virtue and gaining piety. It is solely a gift (WAHABE) not earned(KASABI). Allah has clearly indicated in the Holy Quran:  </a:t>
            </a:r>
          </a:p>
          <a:p>
            <a:pPr>
              <a:buNone/>
            </a:pPr>
            <a:r>
              <a:rPr lang="en-US" dirty="0"/>
              <a:t>‘ Allah knows best with whom to place his message’</a:t>
            </a:r>
          </a:p>
          <a:p>
            <a:pPr>
              <a:buNone/>
            </a:pPr>
            <a:r>
              <a:rPr lang="ar-AE" dirty="0"/>
              <a:t>اللَّهُ أَعْلَمُ حَيْثُ يَجْعَلُ رِسَالَتَهُ </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a:t>UNIVERSALITY OF PROPHETHOOD</a:t>
            </a:r>
          </a:p>
        </p:txBody>
      </p:sp>
      <p:sp>
        <p:nvSpPr>
          <p:cNvPr id="3" name="Content Placeholder 2"/>
          <p:cNvSpPr>
            <a:spLocks noGrp="1"/>
          </p:cNvSpPr>
          <p:nvPr>
            <p:ph idx="1"/>
          </p:nvPr>
        </p:nvSpPr>
        <p:spPr>
          <a:xfrm>
            <a:off x="152400" y="914400"/>
            <a:ext cx="8991600" cy="5638800"/>
          </a:xfrm>
        </p:spPr>
        <p:txBody>
          <a:bodyPr/>
          <a:lstStyle/>
          <a:p>
            <a:pPr>
              <a:buNone/>
            </a:pPr>
            <a:r>
              <a:rPr lang="en-US" dirty="0"/>
              <a:t>Prophets have been sent to every nation: Quran says:</a:t>
            </a:r>
          </a:p>
          <a:p>
            <a:r>
              <a:rPr lang="fa-IR" dirty="0"/>
              <a:t>وَاِنْ مِّنْ اُمَّةٍ اِلَّا خَلَا فِيْهَا نَذِيْرٌ</a:t>
            </a:r>
            <a:endParaRPr lang="en-US" dirty="0"/>
          </a:p>
          <a:p>
            <a:pPr>
              <a:buNone/>
            </a:pPr>
            <a:r>
              <a:rPr lang="en-US" dirty="0"/>
              <a:t>“and there is not a nation but a Warner had passed among them”</a:t>
            </a:r>
          </a:p>
          <a:p>
            <a:pPr>
              <a:buNone/>
            </a:pPr>
            <a:r>
              <a:rPr lang="en-US" dirty="0"/>
              <a:t>The reason is that men all over the world are equal. They have been created with one purpose. </a:t>
            </a:r>
          </a:p>
          <a:p>
            <a:pPr>
              <a:buNone/>
            </a:pPr>
            <a:r>
              <a:rPr lang="en-US" dirty="0"/>
              <a:t>It may be noted here that when we claim that a prophet was sent to every nation it means that he was sent in a certain generation of a nation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dirty="0"/>
              <a:t>POSITION OF PROPHETS</a:t>
            </a:r>
          </a:p>
        </p:txBody>
      </p:sp>
      <p:sp>
        <p:nvSpPr>
          <p:cNvPr id="3" name="Content Placeholder 2"/>
          <p:cNvSpPr>
            <a:spLocks noGrp="1"/>
          </p:cNvSpPr>
          <p:nvPr>
            <p:ph idx="1"/>
          </p:nvPr>
        </p:nvSpPr>
        <p:spPr>
          <a:xfrm>
            <a:off x="0" y="685800"/>
            <a:ext cx="9144000" cy="5943600"/>
          </a:xfrm>
        </p:spPr>
        <p:txBody>
          <a:bodyPr/>
          <a:lstStyle/>
          <a:p>
            <a:pPr>
              <a:buNone/>
            </a:pPr>
            <a:r>
              <a:rPr lang="en-US" dirty="0"/>
              <a:t>1- EXPOUNDER OF THE BOOK OF ALLAH</a:t>
            </a:r>
          </a:p>
          <a:p>
            <a:pPr>
              <a:buNone/>
            </a:pPr>
            <a:r>
              <a:rPr lang="fa-IR" dirty="0"/>
              <a:t> لِيُبَيِّنَ لَهُمْ </a:t>
            </a:r>
            <a:endParaRPr lang="en-US" dirty="0"/>
          </a:p>
          <a:p>
            <a:pPr>
              <a:buNone/>
            </a:pPr>
            <a:r>
              <a:rPr lang="en-US" dirty="0"/>
              <a:t>2- AUTHORIZED DIVINE LAW GIVER</a:t>
            </a:r>
          </a:p>
          <a:p>
            <a:pPr>
              <a:buNone/>
            </a:pPr>
            <a:r>
              <a:rPr lang="fa-IR" dirty="0"/>
              <a:t>وَمَآ اٰتٰىكُمُ الرَّسُوْلُ فَخُذُوْهُ ۤ وَمَا نَهٰىكُمْ عَنْهُ فَانْتَهُوْا </a:t>
            </a:r>
            <a:r>
              <a:rPr lang="en-US" dirty="0"/>
              <a:t> </a:t>
            </a:r>
          </a:p>
          <a:p>
            <a:pPr>
              <a:buNone/>
            </a:pPr>
            <a:r>
              <a:rPr lang="en-US" dirty="0"/>
              <a:t>3-  JUSTICE AND ABSOLUTE ARBITRATOR</a:t>
            </a:r>
          </a:p>
          <a:p>
            <a:pPr>
              <a:buNone/>
            </a:pPr>
            <a:r>
              <a:rPr lang="fa-IR" dirty="0"/>
              <a:t>اِذَا قَضَى اللّٰهُ وَرَسُوْلُهٗٓ اَمْرًا اَنْ يَّكُوْنَ لَهُمُ الْخِـيَرَةُ مِنْ اَمْرِهِمْ</a:t>
            </a:r>
            <a:endParaRPr lang="en-US" dirty="0"/>
          </a:p>
          <a:p>
            <a:pPr>
              <a:buNone/>
            </a:pPr>
            <a:r>
              <a:rPr lang="en-US" dirty="0"/>
              <a:t>4- TEACHER OF THE BOOK AND WISDOM</a:t>
            </a:r>
          </a:p>
          <a:p>
            <a:pPr>
              <a:buNone/>
            </a:pPr>
            <a:r>
              <a:rPr lang="fa-IR" dirty="0"/>
              <a:t>يَتْلُوْا عَلَيْھِمْ اٰيٰتِھٖ وَيُزَكِّيْھِمْ وَيُعَلِّمُھُمُ الْكِتٰبَ وَالْحِكْمَةَ </a:t>
            </a:r>
            <a:endParaRPr lang="en-US" dirty="0"/>
          </a:p>
          <a:p>
            <a:pPr>
              <a:buNone/>
            </a:pPr>
            <a:r>
              <a:rPr lang="en-US" dirty="0"/>
              <a:t>5- SHOULD BE OBEYED</a:t>
            </a:r>
          </a:p>
          <a:p>
            <a:pPr>
              <a:buNone/>
            </a:pPr>
            <a:r>
              <a:rPr lang="fa-IR" dirty="0"/>
              <a:t>وَمَآ اَرْسَلْنَا مِنْ رَّسُوْلٍ اِلَّا لِيُطَاعَ بِاِذْنِ اللّٰهِ </a:t>
            </a:r>
            <a:endParaRPr lang="en-US" dirty="0"/>
          </a:p>
          <a:p>
            <a:pPr>
              <a:buNone/>
            </a:pPr>
            <a:r>
              <a:rPr lang="en-US" dirty="0"/>
              <a:t>6- NOT TO BE DENIED AS IT IS A DISBELIEF</a:t>
            </a:r>
          </a:p>
          <a:p>
            <a:pPr>
              <a:buNone/>
            </a:pPr>
            <a:r>
              <a:rPr lang="fa-IR" dirty="0"/>
              <a:t>وَمَنْ يَّعْصِ اللّٰهَ وَرَسُوْلَهٗ فَقَدْ ضَلَّ ضَلٰلًا مُّبِيْنًا </a:t>
            </a:r>
            <a:endParaRPr lang="en-US" dirty="0"/>
          </a:p>
          <a:p>
            <a:pPr>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 calcmode="lin" valueType="num">
                                      <p:cBhvr additive="base">
                                        <p:cTn id="6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9" end="9"/>
                                            </p:txEl>
                                          </p:spTgt>
                                        </p:tgtEl>
                                        <p:attrNameLst>
                                          <p:attrName>style.visibility</p:attrName>
                                        </p:attrNameLst>
                                      </p:cBhvr>
                                      <p:to>
                                        <p:strVal val="visible"/>
                                      </p:to>
                                    </p:set>
                                    <p:anim calcmode="lin" valueType="num">
                                      <p:cBhvr additive="base">
                                        <p:cTn id="6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0" end="10"/>
                                            </p:txEl>
                                          </p:spTgt>
                                        </p:tgtEl>
                                        <p:attrNameLst>
                                          <p:attrName>style.visibility</p:attrName>
                                        </p:attrNameLst>
                                      </p:cBhvr>
                                      <p:to>
                                        <p:strVal val="visible"/>
                                      </p:to>
                                    </p:set>
                                    <p:anim calcmode="lin" valueType="num">
                                      <p:cBhvr additive="base">
                                        <p:cTn id="7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1" end="11"/>
                                            </p:txEl>
                                          </p:spTgt>
                                        </p:tgtEl>
                                        <p:attrNameLst>
                                          <p:attrName>style.visibility</p:attrName>
                                        </p:attrNameLst>
                                      </p:cBhvr>
                                      <p:to>
                                        <p:strVal val="visible"/>
                                      </p:to>
                                    </p:set>
                                    <p:anim calcmode="lin" valueType="num">
                                      <p:cBhvr additive="base">
                                        <p:cTn id="7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normAutofit/>
          </a:bodyPr>
          <a:lstStyle/>
          <a:p>
            <a:pPr algn="l"/>
            <a:r>
              <a:rPr lang="en-US" sz="3600" dirty="0"/>
              <a:t>SPECIAL CHARACTERISTICS OF LAST PROPHET</a:t>
            </a:r>
          </a:p>
        </p:txBody>
      </p:sp>
      <p:sp>
        <p:nvSpPr>
          <p:cNvPr id="3" name="Content Placeholder 2"/>
          <p:cNvSpPr>
            <a:spLocks noGrp="1"/>
          </p:cNvSpPr>
          <p:nvPr>
            <p:ph idx="1"/>
          </p:nvPr>
        </p:nvSpPr>
        <p:spPr>
          <a:xfrm>
            <a:off x="152400" y="762000"/>
            <a:ext cx="8839200" cy="5791200"/>
          </a:xfrm>
        </p:spPr>
        <p:txBody>
          <a:bodyPr/>
          <a:lstStyle/>
          <a:p>
            <a:pPr>
              <a:buNone/>
            </a:pPr>
            <a:r>
              <a:rPr lang="en-US" dirty="0"/>
              <a:t>Chastity, trusteeship, humanness, and teachings from Allah are the common characteristics of all the prophets. </a:t>
            </a:r>
            <a:r>
              <a:rPr lang="en-US" dirty="0">
                <a:solidFill>
                  <a:srgbClr val="00B0F0"/>
                </a:solidFill>
              </a:rPr>
              <a:t>Following are the only special characteristics related with our Holy Prophet</a:t>
            </a:r>
            <a:r>
              <a:rPr lang="en-US" dirty="0"/>
              <a:t>:</a:t>
            </a:r>
          </a:p>
          <a:p>
            <a:r>
              <a:rPr lang="en-US" dirty="0"/>
              <a:t>UNIVERSALITY OF THE MESSAGE</a:t>
            </a:r>
          </a:p>
          <a:p>
            <a:r>
              <a:rPr lang="en-US" dirty="0"/>
              <a:t>COMPLETION OF THE DEEN</a:t>
            </a:r>
          </a:p>
          <a:p>
            <a:r>
              <a:rPr lang="en-US" dirty="0"/>
              <a:t>FINALITY OF THE RELIGION</a:t>
            </a:r>
          </a:p>
          <a:p>
            <a:r>
              <a:rPr lang="en-US" dirty="0"/>
              <a:t>FINALITY OF THE PROPHETHOOD</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7197967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18853"/>
            <a:ext cx="9143999" cy="6876853"/>
          </a:xfrm>
          <a:prstGeom prst="rect">
            <a:avLst/>
          </a:prstGeom>
        </p:spPr>
      </p:pic>
    </p:spTree>
    <p:extLst>
      <p:ext uri="{BB962C8B-B14F-4D97-AF65-F5344CB8AC3E}">
        <p14:creationId xmlns:p14="http://schemas.microsoft.com/office/powerpoint/2010/main" val="152095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284717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9144000" cy="6781800"/>
          </a:xfrm>
          <a:prstGeom prst="rect">
            <a:avLst/>
          </a:prstGeom>
        </p:spPr>
      </p:pic>
    </p:spTree>
    <p:extLst>
      <p:ext uri="{BB962C8B-B14F-4D97-AF65-F5344CB8AC3E}">
        <p14:creationId xmlns:p14="http://schemas.microsoft.com/office/powerpoint/2010/main" val="42817197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52585" y="533400"/>
            <a:ext cx="7334250" cy="1857375"/>
          </a:xfrm>
          <a:prstGeom prst="rect">
            <a:avLst/>
          </a:prstGeom>
        </p:spPr>
      </p:pic>
      <p:pic>
        <p:nvPicPr>
          <p:cNvPr id="3" name="Picture 2"/>
          <p:cNvPicPr>
            <a:picLocks noChangeAspect="1"/>
          </p:cNvPicPr>
          <p:nvPr/>
        </p:nvPicPr>
        <p:blipFill>
          <a:blip r:embed="rId3"/>
          <a:stretch>
            <a:fillRect/>
          </a:stretch>
        </p:blipFill>
        <p:spPr>
          <a:xfrm>
            <a:off x="1066800" y="3124200"/>
            <a:ext cx="7010399" cy="1323975"/>
          </a:xfrm>
          <a:prstGeom prst="rect">
            <a:avLst/>
          </a:prstGeom>
        </p:spPr>
      </p:pic>
      <p:pic>
        <p:nvPicPr>
          <p:cNvPr id="4" name="Picture 3"/>
          <p:cNvPicPr>
            <a:picLocks noChangeAspect="1"/>
          </p:cNvPicPr>
          <p:nvPr/>
        </p:nvPicPr>
        <p:blipFill>
          <a:blip r:embed="rId4"/>
          <a:stretch>
            <a:fillRect/>
          </a:stretch>
        </p:blipFill>
        <p:spPr>
          <a:xfrm>
            <a:off x="1004053" y="5181600"/>
            <a:ext cx="7184353" cy="1123950"/>
          </a:xfrm>
          <a:prstGeom prst="rect">
            <a:avLst/>
          </a:prstGeom>
        </p:spPr>
      </p:pic>
    </p:spTree>
    <p:extLst>
      <p:ext uri="{BB962C8B-B14F-4D97-AF65-F5344CB8AC3E}">
        <p14:creationId xmlns:p14="http://schemas.microsoft.com/office/powerpoint/2010/main" val="19713777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95400" y="762000"/>
            <a:ext cx="6248400" cy="890587"/>
          </a:xfrm>
          <a:prstGeom prst="rect">
            <a:avLst/>
          </a:prstGeom>
        </p:spPr>
      </p:pic>
      <p:pic>
        <p:nvPicPr>
          <p:cNvPr id="3" name="Picture 2"/>
          <p:cNvPicPr>
            <a:picLocks noChangeAspect="1"/>
          </p:cNvPicPr>
          <p:nvPr/>
        </p:nvPicPr>
        <p:blipFill>
          <a:blip r:embed="rId3"/>
          <a:stretch>
            <a:fillRect/>
          </a:stretch>
        </p:blipFill>
        <p:spPr>
          <a:xfrm>
            <a:off x="1260049" y="2472841"/>
            <a:ext cx="6172200" cy="838200"/>
          </a:xfrm>
          <a:prstGeom prst="rect">
            <a:avLst/>
          </a:prstGeom>
        </p:spPr>
      </p:pic>
      <p:pic>
        <p:nvPicPr>
          <p:cNvPr id="4" name="Picture 3"/>
          <p:cNvPicPr>
            <a:picLocks noChangeAspect="1"/>
          </p:cNvPicPr>
          <p:nvPr/>
        </p:nvPicPr>
        <p:blipFill>
          <a:blip r:embed="rId4"/>
          <a:stretch>
            <a:fillRect/>
          </a:stretch>
        </p:blipFill>
        <p:spPr>
          <a:xfrm>
            <a:off x="1447800" y="4191000"/>
            <a:ext cx="5715000" cy="914400"/>
          </a:xfrm>
          <a:prstGeom prst="rect">
            <a:avLst/>
          </a:prstGeom>
        </p:spPr>
      </p:pic>
    </p:spTree>
    <p:extLst>
      <p:ext uri="{BB962C8B-B14F-4D97-AF65-F5344CB8AC3E}">
        <p14:creationId xmlns:p14="http://schemas.microsoft.com/office/powerpoint/2010/main" val="1995267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D207B-6246-4549-BE29-58BE257FA836}"/>
              </a:ext>
            </a:extLst>
          </p:cNvPr>
          <p:cNvSpPr>
            <a:spLocks noGrp="1"/>
          </p:cNvSpPr>
          <p:nvPr>
            <p:ph type="title"/>
          </p:nvPr>
        </p:nvSpPr>
        <p:spPr/>
        <p:txBody>
          <a:bodyPr/>
          <a:lstStyle/>
          <a:p>
            <a:r>
              <a:rPr lang="en-US" dirty="0"/>
              <a:t>Mirza Gulam Ahmed </a:t>
            </a:r>
            <a:r>
              <a:rPr lang="en-US" dirty="0" err="1"/>
              <a:t>Qadyani</a:t>
            </a:r>
            <a:endParaRPr lang="en-US" dirty="0"/>
          </a:p>
        </p:txBody>
      </p:sp>
      <p:sp>
        <p:nvSpPr>
          <p:cNvPr id="3" name="Content Placeholder 2">
            <a:extLst>
              <a:ext uri="{FF2B5EF4-FFF2-40B4-BE49-F238E27FC236}">
                <a16:creationId xmlns:a16="http://schemas.microsoft.com/office/drawing/2014/main" id="{ABD6F4C4-07D8-459D-AD40-05337C65925D}"/>
              </a:ext>
            </a:extLst>
          </p:cNvPr>
          <p:cNvSpPr>
            <a:spLocks noGrp="1"/>
          </p:cNvSpPr>
          <p:nvPr>
            <p:ph idx="1"/>
          </p:nvPr>
        </p:nvSpPr>
        <p:spPr/>
        <p:txBody>
          <a:bodyPr/>
          <a:lstStyle/>
          <a:p>
            <a:r>
              <a:rPr lang="en-US" dirty="0"/>
              <a:t>Birth 13 Feb 1835</a:t>
            </a:r>
          </a:p>
          <a:p>
            <a:r>
              <a:rPr lang="en-US" dirty="0" err="1"/>
              <a:t>Qadyan</a:t>
            </a:r>
            <a:r>
              <a:rPr lang="en-US" dirty="0"/>
              <a:t> </a:t>
            </a:r>
            <a:r>
              <a:rPr lang="en-US" dirty="0" err="1"/>
              <a:t>distt</a:t>
            </a:r>
            <a:r>
              <a:rPr lang="en-US" dirty="0"/>
              <a:t> Gurdaspur India</a:t>
            </a:r>
          </a:p>
          <a:p>
            <a:r>
              <a:rPr lang="en-US" dirty="0"/>
              <a:t>1864 got employment in district courts at Sialkot.</a:t>
            </a:r>
          </a:p>
          <a:p>
            <a:r>
              <a:rPr lang="en-US" dirty="0"/>
              <a:t>1882 claimed to have receiver </a:t>
            </a:r>
            <a:r>
              <a:rPr lang="en-US" dirty="0" err="1"/>
              <a:t>wahi</a:t>
            </a:r>
            <a:r>
              <a:rPr lang="en-US" dirty="0"/>
              <a:t> to be </a:t>
            </a:r>
            <a:r>
              <a:rPr lang="en-US" i="1" dirty="0" err="1"/>
              <a:t>mamoor</a:t>
            </a:r>
            <a:r>
              <a:rPr lang="en-US" i="1" dirty="0"/>
              <a:t> </a:t>
            </a:r>
            <a:r>
              <a:rPr lang="en-US" i="1" dirty="0" err="1"/>
              <a:t>manallah</a:t>
            </a:r>
            <a:r>
              <a:rPr lang="en-US" i="1" dirty="0"/>
              <a:t>.</a:t>
            </a:r>
          </a:p>
          <a:p>
            <a:r>
              <a:rPr lang="en-US" i="1" dirty="0"/>
              <a:t>1890 </a:t>
            </a:r>
            <a:r>
              <a:rPr lang="en-US" dirty="0"/>
              <a:t>claimed to be</a:t>
            </a:r>
            <a:r>
              <a:rPr lang="en-US" i="1" dirty="0"/>
              <a:t> </a:t>
            </a:r>
            <a:r>
              <a:rPr lang="en-US" i="1" dirty="0" err="1"/>
              <a:t>misl</a:t>
            </a:r>
            <a:r>
              <a:rPr lang="en-US" i="1" dirty="0"/>
              <a:t>-e- Maseeh</a:t>
            </a:r>
          </a:p>
          <a:p>
            <a:r>
              <a:rPr lang="en-US" dirty="0"/>
              <a:t>1901 claimed to be </a:t>
            </a:r>
            <a:r>
              <a:rPr lang="en-US" i="1" dirty="0" err="1"/>
              <a:t>zilee</a:t>
            </a:r>
            <a:r>
              <a:rPr lang="en-US" i="1" dirty="0"/>
              <a:t> Nabi</a:t>
            </a:r>
          </a:p>
          <a:p>
            <a:r>
              <a:rPr lang="en-US" dirty="0"/>
              <a:t>Died in 1908 and declared his follower to be the only true Muslims</a:t>
            </a:r>
          </a:p>
          <a:p>
            <a:endParaRPr lang="en-US" i="1" dirty="0"/>
          </a:p>
        </p:txBody>
      </p:sp>
    </p:spTree>
    <p:extLst>
      <p:ext uri="{BB962C8B-B14F-4D97-AF65-F5344CB8AC3E}">
        <p14:creationId xmlns:p14="http://schemas.microsoft.com/office/powerpoint/2010/main" val="73911813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3972</TotalTime>
  <Words>1136</Words>
  <Application>Microsoft Office PowerPoint</Application>
  <PresentationFormat>On-screen Show (4:3)</PresentationFormat>
  <Paragraphs>82</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Constantia</vt:lpstr>
      <vt:lpstr>Muhammadi Bold Font</vt:lpstr>
      <vt:lpstr>Wingdings</vt:lpstr>
      <vt:lpstr>Wingdings 2</vt:lpstr>
      <vt:lpstr>Flow</vt:lpstr>
      <vt:lpstr>PROPHETHOOD (RISALAT)</vt:lpstr>
      <vt:lpstr> MEANING</vt:lpstr>
      <vt:lpstr>PowerPoint Presentation</vt:lpstr>
      <vt:lpstr> NEED FOR PROPHETHOOD </vt:lpstr>
      <vt:lpstr>Cont:</vt:lpstr>
      <vt:lpstr>PowerPoint Presentation</vt:lpstr>
      <vt:lpstr>Testimony of scientists</vt:lpstr>
      <vt:lpstr>The ‘Big Bang’ theory</vt:lpstr>
      <vt:lpstr>Sir George Bernard Shaw ‘The Genuine Islam,’ Vol. 1, No. 8, 1936</vt:lpstr>
      <vt:lpstr>Rev. Bosworth Smith  “Mohammed and Mohammedanism”, 1874</vt:lpstr>
      <vt:lpstr>NATURE OF PROPHETHOOD</vt:lpstr>
      <vt:lpstr>UNIVERSALITY OF PROPHETHOOD</vt:lpstr>
      <vt:lpstr>POSITION OF PROPHETS</vt:lpstr>
      <vt:lpstr>SPECIAL CHARACTERISTICS OF LAST PROPHET</vt:lpstr>
      <vt:lpstr>PowerPoint Presentation</vt:lpstr>
      <vt:lpstr>PowerPoint Presentation</vt:lpstr>
      <vt:lpstr>PowerPoint Presentation</vt:lpstr>
      <vt:lpstr>PowerPoint Presentation</vt:lpstr>
      <vt:lpstr>PowerPoint Presentation</vt:lpstr>
      <vt:lpstr>PowerPoint Presentation</vt:lpstr>
      <vt:lpstr>Mirza Gulam Ahmed Qadyani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PROPHETHOOD , MEANING &amp; COCEPT</dc:title>
  <dc:creator>Peeral</dc:creator>
  <cp:lastModifiedBy>Peeral Sb</cp:lastModifiedBy>
  <cp:revision>72</cp:revision>
  <dcterms:created xsi:type="dcterms:W3CDTF">2016-01-25T04:23:44Z</dcterms:created>
  <dcterms:modified xsi:type="dcterms:W3CDTF">2021-10-23T08:44:23Z</dcterms:modified>
</cp:coreProperties>
</file>