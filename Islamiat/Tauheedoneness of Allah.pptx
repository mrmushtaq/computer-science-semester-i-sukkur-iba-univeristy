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27"/>
  </p:notesMasterIdLst>
  <p:sldIdLst>
    <p:sldId id="301" r:id="rId2"/>
    <p:sldId id="306" r:id="rId3"/>
    <p:sldId id="302" r:id="rId4"/>
    <p:sldId id="288" r:id="rId5"/>
    <p:sldId id="287" r:id="rId6"/>
    <p:sldId id="286" r:id="rId7"/>
    <p:sldId id="259" r:id="rId8"/>
    <p:sldId id="303" r:id="rId9"/>
    <p:sldId id="304" r:id="rId10"/>
    <p:sldId id="289" r:id="rId11"/>
    <p:sldId id="291" r:id="rId12"/>
    <p:sldId id="292" r:id="rId13"/>
    <p:sldId id="300" r:id="rId14"/>
    <p:sldId id="296" r:id="rId15"/>
    <p:sldId id="272" r:id="rId16"/>
    <p:sldId id="273" r:id="rId17"/>
    <p:sldId id="269" r:id="rId18"/>
    <p:sldId id="274" r:id="rId19"/>
    <p:sldId id="275" r:id="rId20"/>
    <p:sldId id="276" r:id="rId21"/>
    <p:sldId id="277" r:id="rId22"/>
    <p:sldId id="279" r:id="rId23"/>
    <p:sldId id="281" r:id="rId24"/>
    <p:sldId id="280" r:id="rId25"/>
    <p:sldId id="28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C6FEA-18B4-4F98-8656-29C4DD77827A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002CD-7454-4D16-9D60-F9D36F0B94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27C42E5-E495-4781-BDC8-5F097FC54751}" type="datetimeFigureOut">
              <a:rPr lang="en-US" smtClean="0"/>
              <a:pPr/>
              <a:t>10/23/2021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Diversity of beliefs/ dogmas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Dogmas are like </a:t>
            </a:r>
            <a:r>
              <a:rPr lang="en-US" dirty="0">
                <a:solidFill>
                  <a:srgbClr val="FF0000"/>
                </a:solidFill>
              </a:rPr>
              <a:t>knowledge</a:t>
            </a:r>
            <a:r>
              <a:rPr lang="en-US" dirty="0"/>
              <a:t> whereas remaining things are </a:t>
            </a:r>
            <a:r>
              <a:rPr lang="en-US" dirty="0">
                <a:solidFill>
                  <a:srgbClr val="FF0000"/>
                </a:solidFill>
              </a:rPr>
              <a:t>practice.</a:t>
            </a:r>
          </a:p>
          <a:p>
            <a:r>
              <a:rPr lang="en-US" dirty="0">
                <a:solidFill>
                  <a:srgbClr val="FF0000"/>
                </a:solidFill>
              </a:rPr>
              <a:t>Practice</a:t>
            </a:r>
            <a:r>
              <a:rPr lang="en-US" dirty="0"/>
              <a:t> always follows </a:t>
            </a:r>
            <a:r>
              <a:rPr lang="en-US" dirty="0">
                <a:solidFill>
                  <a:srgbClr val="FF0000"/>
                </a:solidFill>
              </a:rPr>
              <a:t>knowledge</a:t>
            </a:r>
            <a:r>
              <a:rPr lang="en-US" dirty="0"/>
              <a:t>.</a:t>
            </a:r>
          </a:p>
          <a:p>
            <a:r>
              <a:rPr lang="en-US" dirty="0"/>
              <a:t>Some are </a:t>
            </a:r>
            <a:r>
              <a:rPr lang="en-US" dirty="0">
                <a:solidFill>
                  <a:srgbClr val="0070C0"/>
                </a:solidFill>
              </a:rPr>
              <a:t>base</a:t>
            </a:r>
            <a:r>
              <a:rPr lang="en-US" dirty="0"/>
              <a:t> </a:t>
            </a:r>
          </a:p>
          <a:p>
            <a:r>
              <a:rPr lang="en-US" dirty="0"/>
              <a:t>Some like </a:t>
            </a:r>
            <a:r>
              <a:rPr lang="en-US" dirty="0">
                <a:solidFill>
                  <a:srgbClr val="FFC000"/>
                </a:solidFill>
              </a:rPr>
              <a:t>walls</a:t>
            </a:r>
          </a:p>
          <a:p>
            <a:r>
              <a:rPr lang="en-US" dirty="0"/>
              <a:t>Some represent as </a:t>
            </a:r>
            <a:r>
              <a:rPr lang="en-US" dirty="0">
                <a:solidFill>
                  <a:srgbClr val="C00000"/>
                </a:solidFill>
              </a:rPr>
              <a:t>roof</a:t>
            </a:r>
          </a:p>
          <a:p>
            <a:r>
              <a:rPr lang="en-US" dirty="0"/>
              <a:t>Others are like </a:t>
            </a:r>
            <a:r>
              <a:rPr lang="en-US" dirty="0">
                <a:solidFill>
                  <a:srgbClr val="00B050"/>
                </a:solidFill>
              </a:rPr>
              <a:t>attire</a:t>
            </a:r>
            <a:r>
              <a:rPr lang="en-US" dirty="0"/>
              <a:t> (garments)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6953-25E2-478E-8170-6315F6BD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Defination</a:t>
            </a:r>
            <a:r>
              <a:rPr lang="en-US" dirty="0"/>
              <a:t> of </a:t>
            </a:r>
            <a:r>
              <a:rPr lang="en-US" dirty="0" err="1"/>
              <a:t>Tauheed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AF154-57E7-43FF-9735-2349CCD33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Tauheed</a:t>
            </a:r>
            <a:r>
              <a:rPr lang="en-US" dirty="0"/>
              <a:t> is derived from the Arabic word W-h-d,  which means oneness, unity or singularity and uniqueness.</a:t>
            </a:r>
          </a:p>
          <a:p>
            <a:r>
              <a:rPr lang="en-US" dirty="0">
                <a:solidFill>
                  <a:srgbClr val="FF0000"/>
                </a:solidFill>
              </a:rPr>
              <a:t>In the light of Shariah</a:t>
            </a:r>
            <a:r>
              <a:rPr lang="en-US" dirty="0"/>
              <a:t>: To submit or confess the lordship(entity) of Allah and to purify Allah’s names and attributes and not to associate any thing with Him</a:t>
            </a:r>
          </a:p>
        </p:txBody>
      </p:sp>
    </p:spTree>
    <p:extLst>
      <p:ext uri="{BB962C8B-B14F-4D97-AF65-F5344CB8AC3E}">
        <p14:creationId xmlns:p14="http://schemas.microsoft.com/office/powerpoint/2010/main" val="3591656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does it mean by believing in Allah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Firm belief  that His </a:t>
            </a:r>
            <a:r>
              <a:rPr lang="en-US" dirty="0">
                <a:solidFill>
                  <a:srgbClr val="00B0F0"/>
                </a:solidFill>
              </a:rPr>
              <a:t>entity</a:t>
            </a:r>
            <a:r>
              <a:rPr lang="en-US" dirty="0"/>
              <a:t> exists</a:t>
            </a:r>
          </a:p>
          <a:p>
            <a:r>
              <a:rPr lang="en-US" dirty="0"/>
              <a:t>The belief that this universe has not come to existence accidently</a:t>
            </a:r>
          </a:p>
          <a:p>
            <a:r>
              <a:rPr lang="en-US" dirty="0"/>
              <a:t>Nor is it running automatically with out any cause</a:t>
            </a:r>
          </a:p>
          <a:p>
            <a:r>
              <a:rPr lang="en-US" dirty="0"/>
              <a:t>But it has a creator, sustainer, organizer and an administrator, who is always taking care of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KINDS OF TAUHEED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Believing that Allah is one and unique  in His being(lordship)</a:t>
            </a:r>
          </a:p>
          <a:p>
            <a:r>
              <a:rPr lang="en-US" dirty="0"/>
              <a:t>Believing that Allah is one and unique in His attributes( </a:t>
            </a:r>
            <a:r>
              <a:rPr lang="en-US" dirty="0" err="1"/>
              <a:t>sifat</a:t>
            </a:r>
            <a:r>
              <a:rPr lang="en-US" dirty="0"/>
              <a:t>)</a:t>
            </a:r>
          </a:p>
          <a:p>
            <a:r>
              <a:rPr lang="en-US" dirty="0"/>
              <a:t>Believing that Allah is one and unique in the implication of His attributes/ in His right to be worshiped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ENTITY OF ALLAH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Allah is the entity that has created the whole universe.</a:t>
            </a:r>
          </a:p>
          <a:p>
            <a:r>
              <a:rPr lang="fa-IR" dirty="0"/>
              <a:t>اَللّٰهُ خَالِقُ كُلِّ شَيْءٍ </a:t>
            </a:r>
            <a:r>
              <a:rPr lang="en-US" dirty="0"/>
              <a:t> </a:t>
            </a:r>
          </a:p>
          <a:p>
            <a:r>
              <a:rPr lang="en-US" dirty="0"/>
              <a:t>Allah is different from all other beings and none is similar to Him</a:t>
            </a:r>
          </a:p>
          <a:p>
            <a:r>
              <a:rPr lang="fa-IR" dirty="0"/>
              <a:t>لَيْسَ كَمِثْلِهٖ شَيْءٌ </a:t>
            </a:r>
            <a:endParaRPr lang="en-US" dirty="0"/>
          </a:p>
          <a:p>
            <a:r>
              <a:rPr lang="en-US" dirty="0"/>
              <a:t>He is beyond the imagination and can’t be compared.</a:t>
            </a:r>
          </a:p>
          <a:p>
            <a:r>
              <a:rPr lang="fa-IR" dirty="0"/>
              <a:t> وَلِلّٰهِ الْمَثَلُ الْاَعْلٰى </a:t>
            </a:r>
            <a:endParaRPr lang="en-US" dirty="0"/>
          </a:p>
          <a:p>
            <a:r>
              <a:rPr lang="en-US" dirty="0"/>
              <a:t>He begets not, nor was He begotten.</a:t>
            </a:r>
          </a:p>
          <a:p>
            <a:r>
              <a:rPr lang="fa-IR" dirty="0"/>
              <a:t> لَمْ يَلِدْ وَلَمْ يُوْلَدْ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of Allah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 </a:t>
            </a:r>
            <a:r>
              <a:rPr lang="en-US" dirty="0" err="1"/>
              <a:t>Awal</a:t>
            </a:r>
            <a:r>
              <a:rPr lang="en-US" dirty="0"/>
              <a:t>: He is eternal, the everlasting and the self existing. He exists of His own.</a:t>
            </a:r>
          </a:p>
          <a:p>
            <a:r>
              <a:rPr lang="en-US" dirty="0"/>
              <a:t>Al </a:t>
            </a:r>
            <a:r>
              <a:rPr lang="en-US" dirty="0" err="1"/>
              <a:t>Khaliq</a:t>
            </a:r>
            <a:r>
              <a:rPr lang="en-US" dirty="0"/>
              <a:t>: He is the only creator.</a:t>
            </a:r>
          </a:p>
          <a:p>
            <a:r>
              <a:rPr lang="en-US" dirty="0"/>
              <a:t>Al Wahid: He posses the glory of being one</a:t>
            </a:r>
          </a:p>
          <a:p>
            <a:r>
              <a:rPr lang="en-US" dirty="0"/>
              <a:t>Al </a:t>
            </a:r>
            <a:r>
              <a:rPr lang="en-US" dirty="0" err="1"/>
              <a:t>Aleem</a:t>
            </a:r>
            <a:r>
              <a:rPr lang="en-US" dirty="0"/>
              <a:t>: He is the one who knows everything</a:t>
            </a:r>
          </a:p>
          <a:p>
            <a:r>
              <a:rPr lang="en-US" dirty="0"/>
              <a:t>Al </a:t>
            </a:r>
            <a:r>
              <a:rPr lang="en-US" dirty="0" err="1"/>
              <a:t>Naseer</a:t>
            </a:r>
            <a:r>
              <a:rPr lang="en-US" dirty="0"/>
              <a:t>: He is the one from whom we seek help</a:t>
            </a:r>
          </a:p>
          <a:p>
            <a:pPr marL="13716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9971"/>
            <a:ext cx="8991600" cy="6718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9843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Atheist scientists two theories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Whatever is approached by material means, they believe it without any hesitation, but refuse to accept any thing that is beyond it.</a:t>
            </a:r>
          </a:p>
          <a:p>
            <a:r>
              <a:rPr lang="en-US" dirty="0"/>
              <a:t>It is too an unscientific approach, </a:t>
            </a:r>
            <a:r>
              <a:rPr lang="en-US" dirty="0">
                <a:solidFill>
                  <a:srgbClr val="FF0000"/>
                </a:solidFill>
              </a:rPr>
              <a:t>because absence of knowledge about any thing does not prove its non-existence.</a:t>
            </a:r>
          </a:p>
          <a:p>
            <a:r>
              <a:rPr lang="en-US" dirty="0"/>
              <a:t>The material discoveries and mysteries of universe that have come to light in the recent past and were not known to early generations, </a:t>
            </a:r>
            <a:r>
              <a:rPr lang="en-US" dirty="0">
                <a:solidFill>
                  <a:srgbClr val="00B050"/>
                </a:solidFill>
              </a:rPr>
              <a:t>yet they existed in those days</a:t>
            </a:r>
            <a:r>
              <a:rPr lang="en-US" dirty="0"/>
              <a:t>, despite the fact they were not known by previous generations.</a:t>
            </a:r>
          </a:p>
        </p:txBody>
      </p:sp>
    </p:spTree>
    <p:extLst>
      <p:ext uri="{BB962C8B-B14F-4D97-AF65-F5344CB8AC3E}">
        <p14:creationId xmlns:p14="http://schemas.microsoft.com/office/powerpoint/2010/main" val="4211775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says that when scientists’ don’t know any thing and are quite in dark about it. They are not in a position to admit it with certainty or discard it.</a:t>
            </a:r>
          </a:p>
          <a:p>
            <a:r>
              <a:rPr lang="en-US" dirty="0"/>
              <a:t>This approach is also absurd and illogical.</a:t>
            </a:r>
          </a:p>
          <a:p>
            <a:r>
              <a:rPr lang="en-US" dirty="0"/>
              <a:t>It is absolutely unscientific to probe into an immaterial problem by material method.</a:t>
            </a:r>
          </a:p>
          <a:p>
            <a:r>
              <a:rPr lang="en-US" dirty="0">
                <a:solidFill>
                  <a:srgbClr val="00B0F0"/>
                </a:solidFill>
              </a:rPr>
              <a:t>Therefore, we have only one method that is Prophethood. They are certain and free from tinge of doubt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041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ARGUMENTS ABOUT THE EXISTENCE OF ALLAH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discipline and control of the universe.</a:t>
            </a:r>
          </a:p>
          <a:p>
            <a:r>
              <a:rPr lang="en-US" dirty="0"/>
              <a:t>Argument from agriculture</a:t>
            </a:r>
          </a:p>
          <a:p>
            <a:r>
              <a:rPr lang="en-US" dirty="0"/>
              <a:t>Argument from </a:t>
            </a:r>
            <a:r>
              <a:rPr lang="en-US" dirty="0" err="1"/>
              <a:t>milching</a:t>
            </a:r>
            <a:r>
              <a:rPr lang="en-US" dirty="0"/>
              <a:t> animals.</a:t>
            </a:r>
          </a:p>
          <a:p>
            <a:r>
              <a:rPr lang="en-US" dirty="0"/>
              <a:t>Argument from air and water</a:t>
            </a:r>
          </a:p>
          <a:p>
            <a:r>
              <a:rPr lang="en-US" dirty="0"/>
              <a:t>Argument from cause and effect</a:t>
            </a:r>
          </a:p>
          <a:p>
            <a:r>
              <a:rPr lang="en-US" dirty="0"/>
              <a:t>Different creative stages of a 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Scientists views about Allah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Dr lee </a:t>
            </a:r>
            <a:r>
              <a:rPr lang="en-US" dirty="0" err="1">
                <a:solidFill>
                  <a:srgbClr val="FFC000"/>
                </a:solidFill>
              </a:rPr>
              <a:t>kamtay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if we have a  critical analysis of all the wealth of science and deduce logical result . It leads us to only one God.</a:t>
            </a:r>
          </a:p>
          <a:p>
            <a:r>
              <a:rPr lang="en-US" dirty="0">
                <a:solidFill>
                  <a:srgbClr val="00B0F0"/>
                </a:solidFill>
              </a:rPr>
              <a:t>Professor </a:t>
            </a:r>
            <a:r>
              <a:rPr lang="en-US" dirty="0" err="1">
                <a:solidFill>
                  <a:srgbClr val="00B0F0"/>
                </a:solidFill>
              </a:rPr>
              <a:t>Jode</a:t>
            </a:r>
            <a:r>
              <a:rPr lang="en-US" dirty="0">
                <a:solidFill>
                  <a:srgbClr val="00B0F0"/>
                </a:solidFill>
              </a:rPr>
              <a:t> says</a:t>
            </a:r>
            <a:r>
              <a:rPr lang="en-US" dirty="0"/>
              <a:t>” hundreds and thousands evidences are spread in this universe. These all indicate towards perfect authoritative entity. </a:t>
            </a:r>
          </a:p>
          <a:p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Dr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Arthour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Kete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says</a:t>
            </a:r>
            <a:r>
              <a:rPr lang="en-US" dirty="0">
                <a:solidFill>
                  <a:srgbClr val="FFFF00"/>
                </a:solidFill>
              </a:rPr>
              <a:t>:” human mind is a tiniest equipment to asses the biggest questions of this universe.</a:t>
            </a:r>
            <a:r>
              <a:rPr lang="en-US" dirty="0"/>
              <a:t> We should, therefore, confess the compulsions of this mind. </a:t>
            </a:r>
          </a:p>
        </p:txBody>
      </p:sp>
    </p:spTree>
    <p:extLst>
      <p:ext uri="{BB962C8B-B14F-4D97-AF65-F5344CB8AC3E}">
        <p14:creationId xmlns:p14="http://schemas.microsoft.com/office/powerpoint/2010/main" val="1019697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Sir Fred Hoyle  1915 –2001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Probability of life originating on earth is no greater than the chance that a hurricane sweeping through a scrapyard would have the luck assembling the Boeing 747</a:t>
            </a:r>
          </a:p>
          <a:p>
            <a:r>
              <a:rPr lang="en-US" dirty="0">
                <a:solidFill>
                  <a:srgbClr val="FFFF00"/>
                </a:solidFill>
              </a:rPr>
              <a:t>there are no blind forces worth speaking about in nature</a:t>
            </a:r>
            <a:r>
              <a:rPr lang="en-US" dirty="0"/>
              <a:t>.."</a:t>
            </a:r>
          </a:p>
        </p:txBody>
      </p:sp>
    </p:spTree>
    <p:extLst>
      <p:ext uri="{BB962C8B-B14F-4D97-AF65-F5344CB8AC3E}">
        <p14:creationId xmlns:p14="http://schemas.microsoft.com/office/powerpoint/2010/main" val="3251189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170" y="13462"/>
            <a:ext cx="9144000" cy="676833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Stephen Hawking (physicist</a:t>
            </a:r>
          </a:p>
        </p:txBody>
      </p:sp>
    </p:spTree>
    <p:extLst>
      <p:ext uri="{BB962C8B-B14F-4D97-AF65-F5344CB8AC3E}">
        <p14:creationId xmlns:p14="http://schemas.microsoft.com/office/powerpoint/2010/main" val="260545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6200"/>
            <a:ext cx="91440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15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351"/>
            <a:ext cx="9088967" cy="6746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300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765"/>
            <a:ext cx="9144000" cy="6889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215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9612"/>
            <a:ext cx="9220199" cy="697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0350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1267"/>
            <a:ext cx="9144000" cy="7280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1847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401"/>
            <a:ext cx="9144000" cy="6930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0274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351"/>
            <a:ext cx="9144000" cy="6865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2066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2"/>
            <a:ext cx="9148873" cy="6854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962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95"/>
            <a:ext cx="9144000" cy="684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8450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2136"/>
            <a:ext cx="9067800" cy="6770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77980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615"/>
            <a:ext cx="9144000" cy="6895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2056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2482"/>
            <a:ext cx="9144000" cy="6942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1278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1166</TotalTime>
  <Words>666</Words>
  <Application>Microsoft Office PowerPoint</Application>
  <PresentationFormat>On-screen Show (4:3)</PresentationFormat>
  <Paragraphs>60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Book Antiqua</vt:lpstr>
      <vt:lpstr>Calibri</vt:lpstr>
      <vt:lpstr>Lucida Sans</vt:lpstr>
      <vt:lpstr>Wingdings</vt:lpstr>
      <vt:lpstr>Wingdings 2</vt:lpstr>
      <vt:lpstr>Wingdings 3</vt:lpstr>
      <vt:lpstr>Apex</vt:lpstr>
      <vt:lpstr>Diversity of beliefs/ dogmas </vt:lpstr>
      <vt:lpstr>Defination of Tauheed</vt:lpstr>
      <vt:lpstr>What does it mean by believing in Allah</vt:lpstr>
      <vt:lpstr> KINDS OF TAUHEED</vt:lpstr>
      <vt:lpstr>THE ENTITY OF ALLAH</vt:lpstr>
      <vt:lpstr>Attributes of Allah</vt:lpstr>
      <vt:lpstr>PowerPoint Presentation</vt:lpstr>
      <vt:lpstr>Atheist scientists two theories</vt:lpstr>
      <vt:lpstr>2nd theory</vt:lpstr>
      <vt:lpstr>ARGUMENTS ABOUT THE EXISTENCE OF ALLAH</vt:lpstr>
      <vt:lpstr>Scientists views about Allah</vt:lpstr>
      <vt:lpstr>Sir Fred Hoyle  1915 –2001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Peeral Khan</dc:creator>
  <cp:lastModifiedBy>Peeral Sb</cp:lastModifiedBy>
  <cp:revision>79</cp:revision>
  <dcterms:created xsi:type="dcterms:W3CDTF">2016-01-19T09:06:31Z</dcterms:created>
  <dcterms:modified xsi:type="dcterms:W3CDTF">2021-10-23T06:35:59Z</dcterms:modified>
</cp:coreProperties>
</file>