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  <p:sldId id="256" r:id="rId3"/>
    <p:sldId id="278" r:id="rId4"/>
    <p:sldId id="277" r:id="rId5"/>
    <p:sldId id="341" r:id="rId6"/>
    <p:sldId id="342" r:id="rId7"/>
    <p:sldId id="280" r:id="rId8"/>
    <p:sldId id="281" r:id="rId9"/>
    <p:sldId id="282" r:id="rId10"/>
    <p:sldId id="324" r:id="rId11"/>
    <p:sldId id="325" r:id="rId12"/>
    <p:sldId id="340" r:id="rId13"/>
    <p:sldId id="326" r:id="rId14"/>
    <p:sldId id="327" r:id="rId15"/>
    <p:sldId id="270" r:id="rId16"/>
    <p:sldId id="271" r:id="rId17"/>
    <p:sldId id="272" r:id="rId18"/>
    <p:sldId id="273" r:id="rId19"/>
    <p:sldId id="331" r:id="rId20"/>
    <p:sldId id="332" r:id="rId21"/>
    <p:sldId id="333" r:id="rId22"/>
    <p:sldId id="334" r:id="rId23"/>
    <p:sldId id="335" r:id="rId24"/>
    <p:sldId id="336" r:id="rId25"/>
    <p:sldId id="269" r:id="rId26"/>
    <p:sldId id="265" r:id="rId27"/>
    <p:sldId id="293" r:id="rId28"/>
    <p:sldId id="291" r:id="rId29"/>
    <p:sldId id="286" r:id="rId30"/>
    <p:sldId id="294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624" autoAdjust="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54" y="178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F693-A3D4-461D-9C22-C5F50343B43D}" type="datetimeFigureOut">
              <a:rPr lang="en-US" smtClean="0"/>
              <a:pPr/>
              <a:t>12/19/2020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9AD6-803F-49A2-B9E7-C23289150D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F693-A3D4-461D-9C22-C5F50343B43D}" type="datetimeFigureOut">
              <a:rPr lang="en-US" smtClean="0"/>
              <a:pPr/>
              <a:t>12/19/2020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9AD6-803F-49A2-B9E7-C23289150D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F693-A3D4-461D-9C22-C5F50343B43D}" type="datetimeFigureOut">
              <a:rPr lang="en-US" smtClean="0"/>
              <a:pPr/>
              <a:t>12/19/2020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9AD6-803F-49A2-B9E7-C23289150D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F693-A3D4-461D-9C22-C5F50343B43D}" type="datetimeFigureOut">
              <a:rPr lang="en-US" smtClean="0"/>
              <a:pPr/>
              <a:t>12/19/2020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9AD6-803F-49A2-B9E7-C23289150D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F693-A3D4-461D-9C22-C5F50343B43D}" type="datetimeFigureOut">
              <a:rPr lang="en-US" smtClean="0"/>
              <a:pPr/>
              <a:t>12/19/2020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9AD6-803F-49A2-B9E7-C23289150D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F693-A3D4-461D-9C22-C5F50343B43D}" type="datetimeFigureOut">
              <a:rPr lang="en-US" smtClean="0"/>
              <a:pPr/>
              <a:t>12/19/2020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9AD6-803F-49A2-B9E7-C23289150D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F693-A3D4-461D-9C22-C5F50343B43D}" type="datetimeFigureOut">
              <a:rPr lang="en-US" smtClean="0"/>
              <a:pPr/>
              <a:t>12/19/2020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9AD6-803F-49A2-B9E7-C23289150D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F693-A3D4-461D-9C22-C5F50343B43D}" type="datetimeFigureOut">
              <a:rPr lang="en-US" smtClean="0"/>
              <a:pPr/>
              <a:t>12/19/2020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9AD6-803F-49A2-B9E7-C23289150D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F693-A3D4-461D-9C22-C5F50343B43D}" type="datetimeFigureOut">
              <a:rPr lang="en-US" smtClean="0"/>
              <a:pPr/>
              <a:t>12/19/2020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AF579AD6-803F-49A2-B9E7-C23289150D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F693-A3D4-461D-9C22-C5F50343B43D}" type="datetimeFigureOut">
              <a:rPr lang="en-US" smtClean="0"/>
              <a:pPr/>
              <a:t>12/19/2020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9AD6-803F-49A2-B9E7-C23289150D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F693-A3D4-461D-9C22-C5F50343B43D}" type="datetimeFigureOut">
              <a:rPr lang="en-US" smtClean="0"/>
              <a:pPr/>
              <a:t>12/19/2020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9AD6-803F-49A2-B9E7-C23289150D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9E0F693-A3D4-461D-9C22-C5F50343B43D}" type="datetimeFigureOut">
              <a:rPr lang="en-US" smtClean="0"/>
              <a:pPr/>
              <a:t>12/19/2020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F579AD6-803F-49A2-B9E7-C23289150DE6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Governance" TargetMode="External"/><Relationship Id="rId2" Type="http://schemas.openxmlformats.org/officeDocument/2006/relationships/hyperlink" Target="http://en.wikipedia.org/wiki/Greek_languag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n.wikipedia.org/wiki/State_(polity)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Azerbaijan" TargetMode="External"/><Relationship Id="rId2" Type="http://schemas.openxmlformats.org/officeDocument/2006/relationships/hyperlink" Target="http://en.wikipedia.org/wiki/Secular_stat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en.wikipedia.org/wiki/State_religion" TargetMode="External"/><Relationship Id="rId4" Type="http://schemas.openxmlformats.org/officeDocument/2006/relationships/hyperlink" Target="http://en.wikipedia.org/wiki/Turkey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Malaysia" TargetMode="External"/><Relationship Id="rId2" Type="http://schemas.openxmlformats.org/officeDocument/2006/relationships/hyperlink" Target="http://en.wikipedia.org/wiki/State_relig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n.wikipedia.org/wiki/Maldive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Afghanistan" TargetMode="External"/><Relationship Id="rId7" Type="http://schemas.openxmlformats.org/officeDocument/2006/relationships/hyperlink" Target="http://en.wikipedia.org/wiki/Islamic_state" TargetMode="External"/><Relationship Id="rId2" Type="http://schemas.openxmlformats.org/officeDocument/2006/relationships/hyperlink" Target="http://en.wikipedia.org/wiki/Shari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Pakistan" TargetMode="External"/><Relationship Id="rId5" Type="http://schemas.openxmlformats.org/officeDocument/2006/relationships/hyperlink" Target="http://en.wikipedia.org/wiki/Mauritania" TargetMode="External"/><Relationship Id="rId4" Type="http://schemas.openxmlformats.org/officeDocument/2006/relationships/hyperlink" Target="http://en.wikipedia.org/wiki/Iran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C:\Users\Farman\Desktop\Bismillah 2 W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0947" y="0"/>
            <a:ext cx="10169407" cy="716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i="1" dirty="0"/>
              <a:t>Islamic Political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3042" y="2971800"/>
            <a:ext cx="8163757" cy="1828800"/>
          </a:xfrm>
        </p:spPr>
        <p:txBody>
          <a:bodyPr>
            <a:normAutofit fontScale="77500" lnSpcReduction="20000"/>
          </a:bodyPr>
          <a:lstStyle/>
          <a:p>
            <a:pPr algn="l"/>
            <a:br>
              <a:rPr lang="en-US" dirty="0"/>
            </a:br>
            <a:r>
              <a:rPr lang="ur-PK" sz="3100" b="0" i="0" dirty="0">
                <a:solidFill>
                  <a:srgbClr val="C00000"/>
                </a:solidFill>
                <a:effectLst/>
                <a:latin typeface="arabicFont"/>
              </a:rPr>
              <a:t>يَٰدَاوُۥدُ إِنَّا جَعَلْنَٰكَ خَلِيفَةً فِى ٱلْأَرْضِ فَٱحْكُم بَيْنَ ٱلنَّاسِ بِٱلْحَقِّ وَلَا تَتَّبِعِ ٱلْهَوَىٰ فَيُضِلَّكَ عَن سَبِيلِ ٱللَّهِۚ</a:t>
            </a:r>
            <a:br>
              <a:rPr lang="en-US" dirty="0"/>
            </a:br>
            <a:endParaRPr lang="en-US" dirty="0"/>
          </a:p>
          <a:p>
            <a:pPr algn="l"/>
            <a:r>
              <a:rPr lang="en-US" dirty="0"/>
              <a:t>O David, verily we have placed you as a </a:t>
            </a:r>
            <a:r>
              <a:rPr lang="en-US" u="sng" dirty="0"/>
              <a:t>vicegerent on Earth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so judge between people </a:t>
            </a:r>
            <a:r>
              <a:rPr lang="en-US" u="sng" dirty="0">
                <a:solidFill>
                  <a:srgbClr val="FF0000"/>
                </a:solidFill>
              </a:rPr>
              <a:t>in truth</a:t>
            </a:r>
            <a:r>
              <a:rPr lang="en-US" dirty="0"/>
              <a:t>, and do not follow your desires for it will mislead you from the right path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</a:t>
            </a:r>
            <a:r>
              <a:rPr lang="en-US" dirty="0" err="1"/>
              <a:t>Defination</a:t>
            </a:r>
            <a:r>
              <a:rPr lang="en-US" dirty="0"/>
              <a:t> of Politics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Politics :-</a:t>
            </a:r>
            <a:r>
              <a:rPr lang="en-US" dirty="0"/>
              <a:t>(  from </a:t>
            </a:r>
            <a:r>
              <a:rPr lang="en-US" dirty="0">
                <a:hlinkClick r:id="rId2" tooltip="Greek language"/>
              </a:rPr>
              <a:t>Greek</a:t>
            </a:r>
            <a:r>
              <a:rPr lang="en-US" dirty="0"/>
              <a:t>: </a:t>
            </a:r>
            <a:r>
              <a:rPr lang="en-US" i="1" dirty="0" err="1"/>
              <a:t>politikos</a:t>
            </a:r>
            <a:r>
              <a:rPr lang="en-US" dirty="0"/>
              <a:t>, meaning "of, for, or relating to citizens") is the practice and theory of influencing other people on a civic or individual level.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More narrowly, it refers to achieving and exercising positions of </a:t>
            </a:r>
            <a:r>
              <a:rPr lang="en-US" dirty="0">
                <a:hlinkClick r:id="rId3" tooltip="Governance"/>
              </a:rPr>
              <a:t>governance</a:t>
            </a:r>
            <a:r>
              <a:rPr lang="en-US" dirty="0"/>
              <a:t> — organized control over a human community, particularly a </a:t>
            </a:r>
            <a:r>
              <a:rPr lang="en-US" dirty="0">
                <a:hlinkClick r:id="rId4" tooltip="State (polity)"/>
              </a:rPr>
              <a:t>state</a:t>
            </a:r>
            <a:r>
              <a:rPr lang="en-US" dirty="0"/>
              <a:t>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Islam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Islam is a complete code of life. It extends over the entire spectrum of life, showing us how to conduct all human activities in a sound and wholesome manner. </a:t>
            </a:r>
          </a:p>
          <a:p>
            <a:r>
              <a:rPr lang="en-US" dirty="0"/>
              <a:t>It does not allow a hierarchy of priests or intermediaries between Allah and human beings, no farfetched abstractions and no complicated rites and rituals. </a:t>
            </a:r>
          </a:p>
          <a:p>
            <a:r>
              <a:rPr lang="en-US" dirty="0">
                <a:solidFill>
                  <a:srgbClr val="FF0000"/>
                </a:solidFill>
              </a:rPr>
              <a:t>And so is it about Politics 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Quranic</a:t>
            </a:r>
            <a:r>
              <a:rPr lang="en-US" dirty="0"/>
              <a:t> concept of politics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/>
              <a:t>مَلِكِ النَّاسِ </a:t>
            </a:r>
            <a:endParaRPr lang="en-US" dirty="0"/>
          </a:p>
          <a:p>
            <a:pPr>
              <a:buNone/>
            </a:pPr>
            <a:r>
              <a:rPr lang="en-US" dirty="0"/>
              <a:t>King/ ruler of the people</a:t>
            </a:r>
          </a:p>
          <a:p>
            <a:pPr>
              <a:buFont typeface="Courier New" pitchFamily="49" charset="0"/>
              <a:buChar char="o"/>
            </a:pPr>
            <a:r>
              <a:rPr lang="fa-IR" dirty="0"/>
              <a:t>اَلَا لَهُ الْخَلْقُ وَالْاَمْرُ</a:t>
            </a:r>
            <a:endParaRPr lang="en-US" dirty="0"/>
          </a:p>
          <a:p>
            <a:pPr>
              <a:buNone/>
            </a:pPr>
            <a:r>
              <a:rPr lang="en-US" dirty="0"/>
              <a:t>For Him is creation and for Him is command/ ruling</a:t>
            </a:r>
          </a:p>
          <a:p>
            <a:r>
              <a:rPr lang="fa-IR" dirty="0"/>
              <a:t>اِنِ الْحُكْمُ اِلَّا لِلّٰهِ</a:t>
            </a:r>
            <a:endParaRPr lang="en-US" dirty="0"/>
          </a:p>
          <a:p>
            <a:pPr>
              <a:buNone/>
            </a:pPr>
            <a:r>
              <a:rPr lang="en-US" sz="2800" i="1" dirty="0"/>
              <a:t>The decision rests with Allah only</a:t>
            </a:r>
          </a:p>
          <a:p>
            <a:pPr>
              <a:buFont typeface="Arial" pitchFamily="34" charset="0"/>
              <a:buChar char="•"/>
            </a:pPr>
            <a:r>
              <a:rPr lang="fa-IR" dirty="0"/>
              <a:t>فَاحْكُمْ بَيْنَهُمْ بِمَآ اَنْزَلَ اللّٰهُ</a:t>
            </a:r>
            <a:endParaRPr lang="en-US" dirty="0"/>
          </a:p>
          <a:p>
            <a:pPr>
              <a:buNone/>
            </a:pPr>
            <a:r>
              <a:rPr lang="en-US" dirty="0"/>
              <a:t>So judge between them what Allah has reveled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/>
              <a:t>اِتَّبِعُوْا مَآ اُنْزِلَ اِلَيْكُمْ مِّنْ رَّبِّكُمْ</a:t>
            </a:r>
            <a:endParaRPr lang="en-US" dirty="0"/>
          </a:p>
          <a:p>
            <a:r>
              <a:rPr lang="en-US" dirty="0"/>
              <a:t>Follow what has been revealed to you</a:t>
            </a:r>
          </a:p>
          <a:p>
            <a:r>
              <a:rPr lang="fa-IR" dirty="0"/>
              <a:t>اَفَتُؤْمِنُوْنَ بِبَعْضِ الْكِتٰبِ وَتَكْفُرُوْنَ بِبَعْضٍ</a:t>
            </a:r>
            <a:endParaRPr lang="en-US" dirty="0"/>
          </a:p>
          <a:p>
            <a:r>
              <a:rPr lang="en-US" dirty="0"/>
              <a:t>You believe on some portions and you deny some</a:t>
            </a:r>
          </a:p>
          <a:p>
            <a:r>
              <a:rPr lang="fa-IR" dirty="0"/>
              <a:t>يٰٓاَيُّهَا الَّذِيْنَ اٰمَنُوا </a:t>
            </a:r>
            <a:r>
              <a:rPr lang="fa-IR" dirty="0">
                <a:solidFill>
                  <a:srgbClr val="FF0000"/>
                </a:solidFill>
              </a:rPr>
              <a:t>ادْخُلُوْا فِي السِّلْمِ كَاۗفَّة 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O believer ! Enter in the religion completely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Islamic Democracy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Secular democracies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                               In </a:t>
            </a:r>
            <a:r>
              <a:rPr lang="en-US" dirty="0">
                <a:hlinkClick r:id="rId2" tooltip="Secular state"/>
              </a:rPr>
              <a:t>secular states</a:t>
            </a:r>
            <a:r>
              <a:rPr lang="en-US" dirty="0"/>
              <a:t> such as </a:t>
            </a:r>
            <a:r>
              <a:rPr lang="en-US" dirty="0">
                <a:hlinkClick r:id="rId3" tooltip="Azerbaijan"/>
              </a:rPr>
              <a:t>Azerbaijan</a:t>
            </a:r>
            <a:r>
              <a:rPr lang="en-US" dirty="0"/>
              <a:t> and </a:t>
            </a:r>
            <a:r>
              <a:rPr lang="en-US" dirty="0">
                <a:hlinkClick r:id="rId4" tooltip="Turkey"/>
              </a:rPr>
              <a:t>Turkey</a:t>
            </a:r>
            <a:r>
              <a:rPr lang="en-US" dirty="0"/>
              <a:t>, that do not recognize any religion as its </a:t>
            </a:r>
            <a:r>
              <a:rPr lang="en-US" dirty="0">
                <a:hlinkClick r:id="rId5" tooltip="State religion"/>
              </a:rPr>
              <a:t>state </a:t>
            </a:r>
            <a:r>
              <a:rPr lang="en-US" dirty="0" err="1">
                <a:hlinkClick r:id="rId5" tooltip="State religion"/>
              </a:rPr>
              <a:t>religion</a:t>
            </a:r>
            <a:r>
              <a:rPr lang="en-US" dirty="0" err="1"/>
              <a:t>and</a:t>
            </a:r>
            <a:r>
              <a:rPr lang="en-US" dirty="0"/>
              <a:t>, therefore, does not incorporate religious principles into its public policy and other state affairs.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00867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Islamic Democracy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C00000"/>
                </a:solidFill>
              </a:rPr>
              <a:t>Religious democracies</a:t>
            </a:r>
            <a:r>
              <a:rPr lang="en-US" dirty="0"/>
              <a:t>: </a:t>
            </a:r>
          </a:p>
          <a:p>
            <a:r>
              <a:rPr lang="en-US" dirty="0"/>
              <a:t>that recognize Islam as its </a:t>
            </a:r>
            <a:r>
              <a:rPr lang="en-US" dirty="0">
                <a:hlinkClick r:id="rId2" tooltip="State religion"/>
              </a:rPr>
              <a:t>state religion</a:t>
            </a:r>
            <a:r>
              <a:rPr lang="en-US" dirty="0"/>
              <a:t> and a source of legislation, such as </a:t>
            </a:r>
            <a:r>
              <a:rPr lang="en-US" dirty="0">
                <a:hlinkClick r:id="rId3" tooltip="Malaysia"/>
              </a:rPr>
              <a:t>Malaysia</a:t>
            </a:r>
            <a:r>
              <a:rPr lang="en-US" dirty="0"/>
              <a:t> and </a:t>
            </a:r>
            <a:r>
              <a:rPr lang="en-US" dirty="0">
                <a:hlinkClick r:id="rId4" tooltip="Maldives"/>
              </a:rPr>
              <a:t>Maldives</a:t>
            </a:r>
            <a:r>
              <a:rPr lang="en-US" dirty="0"/>
              <a:t>. The application of religious principles into public policy varies from country to country, since Islam is not the only source of law.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83691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Islamic Democracy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Theocracies</a:t>
            </a:r>
            <a:r>
              <a:rPr lang="en-US" dirty="0"/>
              <a:t>:</a:t>
            </a:r>
          </a:p>
          <a:p>
            <a:r>
              <a:rPr lang="en-US" dirty="0"/>
              <a:t> that endeavor to institute </a:t>
            </a:r>
            <a:r>
              <a:rPr lang="en-US" i="1" dirty="0">
                <a:hlinkClick r:id="rId2" tooltip="Sharia"/>
              </a:rPr>
              <a:t>Sharia</a:t>
            </a:r>
            <a:r>
              <a:rPr lang="en-US" dirty="0"/>
              <a:t>, in full force ,  and offers more comprehensive inclusion of Islam into the affairs of the state. Presently, </a:t>
            </a:r>
            <a:r>
              <a:rPr lang="en-US" dirty="0">
                <a:hlinkClick r:id="rId3" tooltip="Afghanistan"/>
              </a:rPr>
              <a:t>Afghanistan</a:t>
            </a:r>
            <a:r>
              <a:rPr lang="en-US" dirty="0"/>
              <a:t>, </a:t>
            </a:r>
            <a:r>
              <a:rPr lang="en-US" dirty="0">
                <a:hlinkClick r:id="rId4" tooltip="Iran"/>
              </a:rPr>
              <a:t>Iran</a:t>
            </a:r>
            <a:r>
              <a:rPr lang="en-US" dirty="0"/>
              <a:t>, </a:t>
            </a:r>
            <a:r>
              <a:rPr lang="en-US" dirty="0">
                <a:hlinkClick r:id="rId5" tooltip="Mauritania"/>
              </a:rPr>
              <a:t>Mauritania</a:t>
            </a:r>
            <a:r>
              <a:rPr lang="en-US" dirty="0"/>
              <a:t> and </a:t>
            </a:r>
            <a:r>
              <a:rPr lang="en-US" dirty="0">
                <a:hlinkClick r:id="rId6" tooltip="Pakistan"/>
              </a:rPr>
              <a:t>Pakistan</a:t>
            </a:r>
            <a:r>
              <a:rPr lang="en-US" dirty="0"/>
              <a:t> are the only examples of an </a:t>
            </a:r>
            <a:r>
              <a:rPr lang="en-US" dirty="0">
                <a:hlinkClick r:id="rId7" tooltip="Islamic state"/>
              </a:rPr>
              <a:t>Islamic state</a:t>
            </a:r>
            <a:r>
              <a:rPr lang="en-US" dirty="0"/>
              <a:t> in the form of Islamic republics.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635529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542288"/>
          </a:xfrm>
        </p:spPr>
        <p:txBody>
          <a:bodyPr>
            <a:normAutofit fontScale="90000"/>
          </a:bodyPr>
          <a:lstStyle/>
          <a:p>
            <a:pPr algn="just"/>
            <a:r>
              <a:rPr lang="en-US" dirty="0">
                <a:solidFill>
                  <a:srgbClr val="C00000"/>
                </a:solidFill>
              </a:rPr>
              <a:t>SHURA</a:t>
            </a:r>
            <a:r>
              <a:rPr lang="en-US" dirty="0"/>
              <a:t> IS THE POLITICAL SYSTEM OF ISLAM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n-US" dirty="0" err="1"/>
              <a:t>Shura</a:t>
            </a:r>
            <a:r>
              <a:rPr lang="en-US" dirty="0"/>
              <a:t> means "to take decisions by consultation and participation“. It is the system based on the equality of human beings and respect for men.</a:t>
            </a:r>
          </a:p>
          <a:p>
            <a:pPr marL="137160" indent="0">
              <a:buNone/>
            </a:pPr>
            <a:r>
              <a:rPr lang="en-US" dirty="0"/>
              <a:t> Islam neither except  dictatorship nor autocracy nor inherited kingdom nor western democracy. </a:t>
            </a:r>
          </a:p>
          <a:p>
            <a:pPr marL="137160" indent="0">
              <a:buNone/>
            </a:pPr>
            <a:r>
              <a:rPr lang="en-US" dirty="0"/>
              <a:t>In western democracy the majority is considered to be authority and have power to make any law, but in </a:t>
            </a:r>
            <a:r>
              <a:rPr lang="en-US" dirty="0" err="1">
                <a:solidFill>
                  <a:srgbClr val="C00000"/>
                </a:solidFill>
              </a:rPr>
              <a:t>shuraiat</a:t>
            </a:r>
            <a:r>
              <a:rPr lang="en-US" dirty="0"/>
              <a:t> no majority can change the “ Sharia” rules of Allah.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667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1981200"/>
          </a:xfrm>
        </p:spPr>
        <p:txBody>
          <a:bodyPr>
            <a:normAutofit fontScale="90000"/>
          </a:bodyPr>
          <a:lstStyle/>
          <a:p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 </a:t>
            </a:r>
            <a:r>
              <a:rPr lang="en-US" sz="3600" dirty="0">
                <a:solidFill>
                  <a:srgbClr val="00B050"/>
                </a:solidFill>
              </a:rPr>
              <a:t>Political system of Islam is based on two basic realities </a:t>
            </a:r>
            <a:br>
              <a:rPr lang="en-US" sz="36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1- The personal position of Allah vis-à-vis this universe. He is </a:t>
            </a:r>
            <a:r>
              <a:rPr lang="en-US" u="sng" dirty="0">
                <a:solidFill>
                  <a:srgbClr val="FF0000"/>
                </a:solidFill>
              </a:rPr>
              <a:t>not only creator  </a:t>
            </a:r>
            <a:r>
              <a:rPr lang="en-US" dirty="0"/>
              <a:t>and supporter but also </a:t>
            </a:r>
            <a:r>
              <a:rPr lang="en-US" u="sng" dirty="0">
                <a:solidFill>
                  <a:srgbClr val="FF0000"/>
                </a:solidFill>
              </a:rPr>
              <a:t>real Master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2-The personal position of man. He is  not </a:t>
            </a:r>
            <a:r>
              <a:rPr lang="en-US" dirty="0">
                <a:solidFill>
                  <a:srgbClr val="00B0F0"/>
                </a:solidFill>
              </a:rPr>
              <a:t>only created </a:t>
            </a:r>
            <a:r>
              <a:rPr lang="en-US" dirty="0"/>
              <a:t>and </a:t>
            </a:r>
            <a:r>
              <a:rPr lang="en-US" dirty="0">
                <a:solidFill>
                  <a:srgbClr val="00B0F0"/>
                </a:solidFill>
              </a:rPr>
              <a:t>supported by Allah but also His humble slave and His vicegerent in this world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62000"/>
            <a:ext cx="7851648" cy="3733800"/>
          </a:xfrm>
        </p:spPr>
        <p:txBody>
          <a:bodyPr>
            <a:noAutofit/>
          </a:bodyPr>
          <a:lstStyle/>
          <a:p>
            <a:pPr algn="l"/>
            <a:r>
              <a:rPr lang="en-US" sz="4800" dirty="0"/>
              <a:t>The political system which Islam has constructed over these two basic realities has the following salient features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5105400"/>
            <a:ext cx="7854696" cy="152400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 1- </a:t>
            </a:r>
            <a:r>
              <a:rPr lang="en-US" sz="3200" dirty="0"/>
              <a:t>The supreme authority and sovereignty actually rests with Allah alone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fa-IR" dirty="0"/>
              <a:t>اِنِ الْحُكْمُ اِلَّا لِلّٰهِ </a:t>
            </a:r>
            <a:endParaRPr lang="en-US" dirty="0"/>
          </a:p>
          <a:p>
            <a:pPr>
              <a:buNone/>
            </a:pPr>
            <a:r>
              <a:rPr lang="en-US" sz="2400" i="1" dirty="0"/>
              <a:t>The decision rests with Allah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 The real legislator is Allah,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.</a:t>
            </a:r>
          </a:p>
          <a:p>
            <a:r>
              <a:rPr lang="en-US" dirty="0"/>
              <a:t>The constitution given by Him is the constitution of man’s life.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i="1" dirty="0"/>
              <a:t>3-	Legislation by </a:t>
            </a:r>
            <a:r>
              <a:rPr lang="en-US" sz="4400" i="1" dirty="0" err="1"/>
              <a:t>Shura</a:t>
            </a:r>
            <a:r>
              <a:rPr lang="en-US" sz="4400" i="1" dirty="0"/>
              <a:t> (Consultation):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94360" indent="-457200"/>
            <a:r>
              <a:rPr lang="en-US" dirty="0"/>
              <a:t>Islam teaches us to run a government, to make</a:t>
            </a:r>
          </a:p>
          <a:p>
            <a:pPr marL="137160" indent="0">
              <a:buNone/>
            </a:pPr>
            <a:r>
              <a:rPr lang="en-US" dirty="0"/>
              <a:t>legislation and decisions by the process of </a:t>
            </a:r>
            <a:r>
              <a:rPr lang="en-US" dirty="0" err="1"/>
              <a:t>Shura</a:t>
            </a:r>
            <a:r>
              <a:rPr lang="en-US" dirty="0"/>
              <a:t>.</a:t>
            </a:r>
          </a:p>
          <a:p>
            <a:pPr marL="137160" indent="0">
              <a:buNone/>
            </a:pPr>
            <a:r>
              <a:rPr lang="en-US" dirty="0" err="1"/>
              <a:t>Shura</a:t>
            </a:r>
            <a:r>
              <a:rPr lang="en-US" dirty="0"/>
              <a:t> means "to take decisions by consultation and participation“.</a:t>
            </a:r>
          </a:p>
          <a:p>
            <a:pPr marL="137160" indent="0">
              <a:buNone/>
            </a:pPr>
            <a:endParaRPr lang="en-US" dirty="0"/>
          </a:p>
          <a:p>
            <a:pPr marL="594360" indent="-457200"/>
            <a:r>
              <a:rPr lang="en-US" dirty="0"/>
              <a:t>This is an important part of the Islamic political</a:t>
            </a:r>
          </a:p>
          <a:p>
            <a:pPr marL="137160" indent="0">
              <a:buNone/>
            </a:pPr>
            <a:r>
              <a:rPr lang="en-US" dirty="0"/>
              <a:t>system. There is no scope for despotism in Islam. The Qur’an and the </a:t>
            </a:r>
            <a:r>
              <a:rPr lang="en-US" dirty="0" err="1"/>
              <a:t>Sunnah</a:t>
            </a:r>
            <a:r>
              <a:rPr lang="en-US" dirty="0"/>
              <a:t> will be the basis of legislation in Islam.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i="1" dirty="0"/>
              <a:t> 4-	Accountability of government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Islamic political system makes the ruler and the government responsible firstly to Allah and then to the people.</a:t>
            </a:r>
          </a:p>
          <a:p>
            <a:r>
              <a:rPr lang="en-US" dirty="0"/>
              <a:t> The ruler and the government are elected by the people to exercise ‘powers on their behalf. </a:t>
            </a:r>
          </a:p>
          <a:p>
            <a:r>
              <a:rPr lang="en-US" dirty="0"/>
              <a:t>We must remember here that both the ruler and the ruled are the </a:t>
            </a:r>
            <a:r>
              <a:rPr lang="en-US" dirty="0" err="1"/>
              <a:t>Khalifah</a:t>
            </a:r>
            <a:r>
              <a:rPr lang="en-US" dirty="0"/>
              <a:t> of Allah and the ruler shall have to work for the welfare of the people according to the Qur’an and </a:t>
            </a:r>
            <a:r>
              <a:rPr lang="en-US" dirty="0" err="1"/>
              <a:t>Sunnah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rgbClr val="FF0000"/>
                </a:solidFill>
              </a:rPr>
              <a:t>A ruler is a servant of the people of Islam</a:t>
            </a:r>
            <a:r>
              <a:rPr lang="en-US" dirty="0"/>
              <a:t>. Both the ruler and the ruled will appear before Allah SWT and account for their actions on the day of Judgement.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The responsibility of the ruler is heaver than the ruled.</a:t>
            </a:r>
          </a:p>
          <a:p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i="1" dirty="0"/>
              <a:t>   5-	Independence of judiciary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the Islamic political system, the Judiciary is independent of the Executive. </a:t>
            </a:r>
          </a:p>
          <a:p>
            <a:r>
              <a:rPr lang="en-US" dirty="0"/>
              <a:t>The head of the state or any government minister could be called to the court if necessary. </a:t>
            </a:r>
          </a:p>
          <a:p>
            <a:r>
              <a:rPr lang="en-US" dirty="0"/>
              <a:t>They would be treated no differently from other citizens.</a:t>
            </a:r>
          </a:p>
          <a:p>
            <a:r>
              <a:rPr lang="en-US" dirty="0"/>
              <a:t> The Qur’an has many injunctions about justice. One of the main functions of the Islamic state is to ensure justice to all citizens (4:58, 4:135, 5:8). The ruler and the government has no right to interfere in the system of justice.</a:t>
            </a:r>
          </a:p>
          <a:p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   6-	Equality before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Islamic political system ensures equality for all citizens before the law. It does not recognize any discrimination on the basis of language, </a:t>
            </a:r>
            <a:r>
              <a:rPr lang="en-US" dirty="0" err="1"/>
              <a:t>colour</a:t>
            </a:r>
            <a:r>
              <a:rPr lang="en-US" dirty="0"/>
              <a:t>, territory, sex or descent.</a:t>
            </a:r>
          </a:p>
          <a:p>
            <a:endParaRPr lang="en-US" dirty="0"/>
          </a:p>
          <a:p>
            <a:r>
              <a:rPr lang="en-US" dirty="0"/>
              <a:t> Islam recognizes the preference of one over the other only on the basis of </a:t>
            </a:r>
            <a:r>
              <a:rPr lang="en-US" dirty="0" err="1"/>
              <a:t>Taqwa</a:t>
            </a:r>
            <a:r>
              <a:rPr lang="en-US" dirty="0"/>
              <a:t> (piety or fear of God). One who fears Allah </a:t>
            </a:r>
            <a:r>
              <a:rPr lang="en-US" dirty="0" err="1"/>
              <a:t>swt</a:t>
            </a:r>
            <a:r>
              <a:rPr lang="en-US" dirty="0"/>
              <a:t> most is the noblest in Islam (49:13).</a:t>
            </a:r>
          </a:p>
          <a:p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743712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7.Public Accountability</a:t>
            </a:r>
            <a:endParaRPr lang="en-US" altLang="en-US" sz="2800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828800"/>
            <a:ext cx="8229600" cy="46482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a-IR" sz="2000" dirty="0"/>
              <a:t>اِنَّ السَّمْعَ وَالْبَصَرَ وَالْفُؤَادَ كُلُّ اُولٰۗىِٕكَ كَانَ عَنْهُ مَسْــــُٔــوْلًا</a:t>
            </a:r>
            <a:endParaRPr lang="en-US" altLang="en-US" sz="24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Lo the hearing and the sight and the heart – of each of these will be asked”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	“Abdullah reported that Allah’s Messenger (</a:t>
            </a:r>
            <a:r>
              <a:rPr lang="en-US" altLang="en-US" sz="2400" dirty="0" err="1">
                <a:latin typeface="Times New Roman" panose="02020603050405020304" pitchFamily="18" charset="0"/>
              </a:rPr>
              <a:t>pbuh</a:t>
            </a:r>
            <a:r>
              <a:rPr lang="en-US" altLang="en-US" sz="2400" dirty="0">
                <a:latin typeface="Times New Roman" panose="02020603050405020304" pitchFamily="18" charset="0"/>
              </a:rPr>
              <a:t>) said: Everyone of you is a guardian (</a:t>
            </a:r>
            <a:r>
              <a:rPr lang="en-US" altLang="en-US" sz="2400" i="1" dirty="0" err="1">
                <a:latin typeface="Times New Roman" panose="02020603050405020304" pitchFamily="18" charset="0"/>
              </a:rPr>
              <a:t>ra’in</a:t>
            </a:r>
            <a:r>
              <a:rPr lang="en-US" altLang="en-US" sz="2400" dirty="0">
                <a:latin typeface="Times New Roman" panose="02020603050405020304" pitchFamily="18" charset="0"/>
              </a:rPr>
              <a:t>) and accountable (</a:t>
            </a:r>
            <a:r>
              <a:rPr lang="en-US" altLang="en-US" sz="2400" i="1" dirty="0" err="1">
                <a:latin typeface="Times New Roman" panose="02020603050405020304" pitchFamily="18" charset="0"/>
              </a:rPr>
              <a:t>mas’ul</a:t>
            </a:r>
            <a:r>
              <a:rPr lang="en-US" altLang="en-US" sz="2400" dirty="0">
                <a:latin typeface="Times New Roman" panose="02020603050405020304" pitchFamily="18" charset="0"/>
              </a:rPr>
              <a:t>) for his charge.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Thus the </a:t>
            </a:r>
            <a:r>
              <a:rPr lang="en-US" altLang="en-US" sz="2400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amir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is a guardian of the people and He is accountable for them</a:t>
            </a:r>
            <a:r>
              <a:rPr lang="en-US" altLang="en-US" sz="2400" dirty="0">
                <a:latin typeface="Times New Roman" panose="02020603050405020304" pitchFamily="18" charset="0"/>
              </a:rPr>
              <a:t>. And a man is a guardian (</a:t>
            </a:r>
            <a:r>
              <a:rPr lang="en-US" altLang="en-US" sz="2400" i="1" dirty="0" err="1">
                <a:latin typeface="Times New Roman" panose="02020603050405020304" pitchFamily="18" charset="0"/>
              </a:rPr>
              <a:t>ra’in</a:t>
            </a:r>
            <a:r>
              <a:rPr lang="en-US" altLang="en-US" sz="2400" dirty="0">
                <a:latin typeface="Times New Roman" panose="02020603050405020304" pitchFamily="18" charset="0"/>
              </a:rPr>
              <a:t>) of his household and he is accountable for them; and a women is in charge (</a:t>
            </a:r>
            <a:r>
              <a:rPr lang="en-US" altLang="en-US" sz="2400" i="1" dirty="0" err="1">
                <a:latin typeface="Times New Roman" panose="02020603050405020304" pitchFamily="18" charset="0"/>
              </a:rPr>
              <a:t>ra’iyah</a:t>
            </a:r>
            <a:r>
              <a:rPr lang="en-US" altLang="en-US" sz="2400" dirty="0">
                <a:latin typeface="Times New Roman" panose="02020603050405020304" pitchFamily="18" charset="0"/>
              </a:rPr>
              <a:t>) of the household and her children and she is accountable for them; and a servant is guardian of his master’s property, everyone of you is accountable for his subjects”</a:t>
            </a:r>
          </a:p>
          <a:p>
            <a:pPr marL="609600" indent="-609600" algn="r">
              <a:lnSpc>
                <a:spcPct val="90000"/>
              </a:lnSpc>
              <a:buFontTx/>
              <a:buNone/>
            </a:pPr>
            <a:r>
              <a:rPr lang="en-US" altLang="en-US" sz="2000" b="1" i="1" dirty="0">
                <a:latin typeface="Times New Roman" panose="02020603050405020304" pitchFamily="18" charset="0"/>
              </a:rPr>
              <a:t>Bukhari, al-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Jam’al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-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Sahih</a:t>
            </a:r>
            <a:endParaRPr lang="en-US" altLang="en-US" sz="2000" b="1" i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874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>
                <a:solidFill>
                  <a:srgbClr val="00B0F0"/>
                </a:solidFill>
                <a:latin typeface="Times New Roman" panose="02020603050405020304" pitchFamily="18" charset="0"/>
              </a:rPr>
              <a:t>8. Rule of Law</a:t>
            </a:r>
            <a:endParaRPr lang="en-US" altLang="en-US" sz="320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fa-IR" dirty="0"/>
              <a:t>يٰٓاَيُّھَا الَّذِيْنَ اٰمَنُوْا كُوْنُوْا قَوّٰمِيْنَ بِالْقِسْطِ شُهَدَاۗءَ لِلّٰهِ وَلَوْ عَلٰٓي اَنْفُسِكُمْ اَوِ الْوَالِدَيْنِ وَالْاَقْرَبِيْنَ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“O you who believe, be custodians of justice (and) witness for Allah, even though against yourselves or your parents or your relatives.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an-</a:t>
            </a:r>
            <a:r>
              <a:rPr lang="en-US" altLang="en-US" sz="2400" b="1" i="1" dirty="0" err="1">
                <a:latin typeface="Times New Roman" panose="02020603050405020304" pitchFamily="18" charset="0"/>
              </a:rPr>
              <a:t>Nisa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 4:135</a:t>
            </a:r>
          </a:p>
        </p:txBody>
      </p:sp>
    </p:spTree>
    <p:extLst>
      <p:ext uri="{BB962C8B-B14F-4D97-AF65-F5344CB8AC3E}">
        <p14:creationId xmlns:p14="http://schemas.microsoft.com/office/powerpoint/2010/main" val="771292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9.Welfare Oriented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welfare of the people (</a:t>
            </a:r>
            <a:r>
              <a:rPr lang="en-US" altLang="en-US" i="1" dirty="0" err="1">
                <a:latin typeface="Times New Roman" panose="02020603050405020304" pitchFamily="18" charset="0"/>
              </a:rPr>
              <a:t>maslahah</a:t>
            </a:r>
            <a:r>
              <a:rPr lang="en-US" altLang="en-US" i="1" dirty="0">
                <a:latin typeface="Times New Roman" panose="02020603050405020304" pitchFamily="18" charset="0"/>
              </a:rPr>
              <a:t> </a:t>
            </a:r>
            <a:r>
              <a:rPr lang="en-US" altLang="en-US" i="1" dirty="0" err="1">
                <a:latin typeface="Times New Roman" panose="02020603050405020304" pitchFamily="18" charset="0"/>
              </a:rPr>
              <a:t>a’mah</a:t>
            </a:r>
            <a:r>
              <a:rPr lang="en-US" altLang="en-US" dirty="0">
                <a:latin typeface="Times New Roman" panose="02020603050405020304" pitchFamily="18" charset="0"/>
              </a:rPr>
              <a:t>) and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not of specific interest groups, privileged persons</a:t>
            </a:r>
            <a:r>
              <a:rPr lang="en-US" altLang="en-US" dirty="0">
                <a:latin typeface="Times New Roman" panose="02020603050405020304" pitchFamily="18" charset="0"/>
              </a:rPr>
              <a:t> or the ruling class should be the objective of policies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014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10.Effective and Efficient</a:t>
            </a:r>
            <a:r>
              <a:rPr lang="en-US" altLang="en-US" dirty="0">
                <a:latin typeface="Times New Roman" panose="02020603050405020304" pitchFamily="18" charset="0"/>
              </a:rPr>
              <a:t>.</a:t>
            </a:r>
            <a:endParaRPr lang="en-US" alt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Decisions made on time and effectively enforced make the governance good. </a:t>
            </a:r>
          </a:p>
          <a:p>
            <a:pPr marL="0" indent="0" algn="just">
              <a:buNone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Red-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tapism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, bureaucratic and lengthy process lead to inefficiency and making governance in-effective</a:t>
            </a:r>
            <a:r>
              <a:rPr lang="en-US" altLang="en-US" dirty="0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9136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11.Quality Assurance</a:t>
            </a:r>
            <a:endParaRPr lang="en-US" alt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altLang="en-US" sz="2800" dirty="0">
                <a:latin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Public transactions and dealings when done with honesty and fairness lead to confidence building in society</a:t>
            </a:r>
            <a:r>
              <a:rPr lang="en-US" altLang="en-US" sz="2800" dirty="0">
                <a:latin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 altLang="en-US" sz="2800" dirty="0">
                <a:latin typeface="Times New Roman" panose="02020603050405020304" pitchFamily="18" charset="0"/>
              </a:rPr>
              <a:t>The Qur’an enjoins use of one and same standards for quality control in delivering systems.</a:t>
            </a:r>
          </a:p>
          <a:p>
            <a:pPr marL="609600" indent="-609600" algn="just">
              <a:buFontTx/>
              <a:buNone/>
            </a:pPr>
            <a:r>
              <a:rPr lang="fa-IR" sz="2800" dirty="0"/>
              <a:t>وَاَوْفُوا الْكَيْلَ اِذَا كِلْتُمْ وَزِنُوْا بِالْقِسْطَاسِ الْمُسْتَــقِيْمِ</a:t>
            </a:r>
            <a:endParaRPr lang="en-US" altLang="en-US" sz="2800" dirty="0">
              <a:latin typeface="Times New Roman" panose="02020603050405020304" pitchFamily="18" charset="0"/>
            </a:endParaRPr>
          </a:p>
          <a:p>
            <a:pPr marL="609600" indent="-609600" algn="just"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</a:rPr>
              <a:t>	“Fill the measure when you measure and weigh with a right balance; this is better, and excellent its consequences”</a:t>
            </a:r>
          </a:p>
          <a:p>
            <a:pPr marL="609600" indent="-609600" algn="r">
              <a:buFontTx/>
              <a:buNone/>
            </a:pPr>
            <a:r>
              <a:rPr lang="en-US" altLang="en-US" sz="2000" b="1" i="1" dirty="0" err="1">
                <a:latin typeface="Times New Roman" panose="02020603050405020304" pitchFamily="18" charset="0"/>
              </a:rPr>
              <a:t>Bani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Isra’il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17:35</a:t>
            </a:r>
          </a:p>
        </p:txBody>
      </p:sp>
    </p:spTree>
    <p:extLst>
      <p:ext uri="{BB962C8B-B14F-4D97-AF65-F5344CB8AC3E}">
        <p14:creationId xmlns:p14="http://schemas.microsoft.com/office/powerpoint/2010/main" val="11378041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12. Striving for Excellence</a:t>
            </a:r>
            <a:endParaRPr lang="en-US" alt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“An </a:t>
            </a:r>
            <a:r>
              <a:rPr lang="en-US" altLang="en-US" i="1" dirty="0" err="1">
                <a:latin typeface="Times New Roman" panose="02020603050405020304" pitchFamily="18" charset="0"/>
              </a:rPr>
              <a:t>amir</a:t>
            </a:r>
            <a:r>
              <a:rPr lang="en-US" altLang="en-US" dirty="0">
                <a:latin typeface="Times New Roman" panose="02020603050405020304" pitchFamily="18" charset="0"/>
              </a:rPr>
              <a:t> (ruler) who accepts an office but does not make his utmost effort with sincerity (</a:t>
            </a:r>
            <a:r>
              <a:rPr lang="en-US" altLang="en-US" i="1" dirty="0" err="1">
                <a:latin typeface="Times New Roman" panose="02020603050405020304" pitchFamily="18" charset="0"/>
              </a:rPr>
              <a:t>ikhlas</a:t>
            </a:r>
            <a:r>
              <a:rPr lang="en-US" altLang="en-US" dirty="0">
                <a:latin typeface="Times New Roman" panose="02020603050405020304" pitchFamily="18" charset="0"/>
              </a:rPr>
              <a:t>), he will never ever enter </a:t>
            </a:r>
            <a:r>
              <a:rPr lang="en-US" altLang="en-US" i="1" dirty="0" err="1">
                <a:latin typeface="Times New Roman" panose="02020603050405020304" pitchFamily="18" charset="0"/>
              </a:rPr>
              <a:t>jannah</a:t>
            </a:r>
            <a:r>
              <a:rPr lang="en-US" altLang="en-US" dirty="0">
                <a:latin typeface="Times New Roman" panose="02020603050405020304" pitchFamily="18" charset="0"/>
              </a:rPr>
              <a:t>”</a:t>
            </a:r>
          </a:p>
          <a:p>
            <a:pPr marL="609600" indent="-609600" algn="r"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Muslim, 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Sahih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, 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Kitabal-Imarah</a:t>
            </a:r>
            <a:endParaRPr lang="en-US" altLang="en-US" sz="2000" b="1" i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8626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i="1" dirty="0"/>
              <a:t>   13-	</a:t>
            </a:r>
            <a:r>
              <a:rPr lang="en-US" sz="3600" i="1" dirty="0" err="1"/>
              <a:t>Khilafah</a:t>
            </a:r>
            <a:r>
              <a:rPr lang="en-US" sz="3600" i="1" dirty="0"/>
              <a:t> of Mankind (</a:t>
            </a:r>
            <a:r>
              <a:rPr lang="en-US" sz="3600" i="1" dirty="0" err="1"/>
              <a:t>Vicegerency</a:t>
            </a:r>
            <a:r>
              <a:rPr lang="en-US" sz="3600" i="1" dirty="0"/>
              <a:t> of man)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Man is the vicegerent, the agent or the representative of Allah SWT on earth. Allah is the sovereign and man is His representative.</a:t>
            </a:r>
          </a:p>
          <a:p>
            <a:r>
              <a:rPr lang="en-US" dirty="0"/>
              <a:t> Man should do as Allah commands him to do. But he has a choice to either obey or disobey Allah and, because of this freedom of choice, he will be tested on the day of </a:t>
            </a:r>
            <a:r>
              <a:rPr lang="en-US" dirty="0" err="1"/>
              <a:t>judgement</a:t>
            </a:r>
            <a:r>
              <a:rPr lang="en-US" dirty="0"/>
              <a:t>. </a:t>
            </a:r>
          </a:p>
          <a:p>
            <a:r>
              <a:rPr lang="en-US" dirty="0"/>
              <a:t>In the political sense, </a:t>
            </a:r>
            <a:r>
              <a:rPr lang="en-US" dirty="0" err="1"/>
              <a:t>Khilafah</a:t>
            </a:r>
            <a:r>
              <a:rPr lang="en-US" dirty="0"/>
              <a:t> means that human beings should implement the will of Allah on earth as His deputy or agent. As Allah’s agent, human beings will carry out the will of Allah </a:t>
            </a:r>
            <a:r>
              <a:rPr lang="en-US" dirty="0" err="1"/>
              <a:t>swt</a:t>
            </a:r>
            <a:r>
              <a:rPr lang="en-US" dirty="0"/>
              <a:t> on His behalf as a trust (</a:t>
            </a:r>
            <a:r>
              <a:rPr lang="en-US" dirty="0" err="1"/>
              <a:t>Amanah</a:t>
            </a:r>
            <a:r>
              <a:rPr lang="en-US" dirty="0"/>
              <a:t>). </a:t>
            </a:r>
          </a:p>
          <a:p>
            <a:r>
              <a:rPr lang="en-US" dirty="0" err="1"/>
              <a:t>Khilafah</a:t>
            </a:r>
            <a:r>
              <a:rPr lang="en-US" dirty="0"/>
              <a:t> is a trust. An agent is always expected to behave as his master wants him to behave.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143000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The Vision of an Islamic State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vision of an Islamic state and the purpose of its political authority is to implement the divine law.</a:t>
            </a:r>
          </a:p>
          <a:p>
            <a:endParaRPr lang="en-US" dirty="0"/>
          </a:p>
          <a:p>
            <a:r>
              <a:rPr lang="en-US" dirty="0"/>
              <a:t> Thus, the ideal Islamic state is a community governed by the Law revealed by God.</a:t>
            </a:r>
          </a:p>
          <a:p>
            <a:endParaRPr lang="en-US" dirty="0"/>
          </a:p>
          <a:p>
            <a:r>
              <a:rPr lang="en-US" dirty="0"/>
              <a:t> The function of the Islamic state is to </a:t>
            </a:r>
            <a:r>
              <a:rPr lang="en-US" dirty="0">
                <a:solidFill>
                  <a:srgbClr val="FF0000"/>
                </a:solidFill>
              </a:rPr>
              <a:t>provide security and order </a:t>
            </a:r>
            <a:r>
              <a:rPr lang="en-US" dirty="0"/>
              <a:t>so that Muslims can carry out both their religious and worldly duties. </a:t>
            </a:r>
          </a:p>
        </p:txBody>
      </p:sp>
    </p:spTree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>
            <a:normAutofit fontScale="92500" lnSpcReduction="10000"/>
          </a:bodyPr>
          <a:lstStyle/>
          <a:p>
            <a:r>
              <a:rPr lang="fa-IR" dirty="0"/>
              <a:t>اَلَّذِيْنَ اِنْ مَّكَّنّٰهُمْ فِي الْاَرْضِ اَقَامُوا الصَّلٰوةَ وَاٰتَوُا الزَّكٰوةَ وَاَمَرُوْا بِالْمَعْرُوْفِ وَنَهَوْا عَنِ الْمُنْكَرِ</a:t>
            </a:r>
            <a:endParaRPr lang="en-US" dirty="0"/>
          </a:p>
          <a:p>
            <a:r>
              <a:rPr lang="en-US" dirty="0"/>
              <a:t>The duty of an Islamic state is to establish Salah and </a:t>
            </a:r>
            <a:r>
              <a:rPr lang="en-US" dirty="0" err="1"/>
              <a:t>Zakah</a:t>
            </a:r>
            <a:r>
              <a:rPr lang="en-US" dirty="0"/>
              <a:t>; promote the right and forbid the wrong (22:44). </a:t>
            </a:r>
          </a:p>
          <a:p>
            <a:r>
              <a:rPr lang="en-US" dirty="0"/>
              <a:t>The state is responsible for the welfare of all its citizens - Muslims and non-Muslims alike. It must guarantee the basic necessities of life. </a:t>
            </a:r>
          </a:p>
          <a:p>
            <a:r>
              <a:rPr lang="en-US" dirty="0"/>
              <a:t>All citizens of the Islamic state shall enjoy freedom of belief, thought, conscience and speech. Every citizen shall be free to develop his potential, improve his capacity, earn and possess.</a:t>
            </a:r>
          </a:p>
          <a:p>
            <a:r>
              <a:rPr lang="en-US" dirty="0"/>
              <a:t> A citizen shall enjoy the right to support or oppose any government policy which he thinks right or wrong with the following in mind.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91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Islamic state is a duty bound to implement the laws of the Qur’an and the </a:t>
            </a:r>
            <a:r>
              <a:rPr lang="en-US" dirty="0" err="1"/>
              <a:t>Sunnah</a:t>
            </a:r>
            <a:r>
              <a:rPr lang="en-US" dirty="0"/>
              <a:t>. </a:t>
            </a:r>
          </a:p>
          <a:p>
            <a:r>
              <a:rPr lang="en-US" dirty="0"/>
              <a:t>The Qur’an strongly denounces those who do not decide their matters by Allah’s revelations </a:t>
            </a:r>
          </a:p>
          <a:p>
            <a:r>
              <a:rPr lang="fa-IR" dirty="0"/>
              <a:t>وَمَنْ لَّمْ يَحْكُمْ بِمَآ اَنْزَلَ اللّٰهُ فَاُولٰۗىِٕكَ هُمُ الظّٰلِمُوْنَ</a:t>
            </a:r>
            <a:endParaRPr lang="en-US" dirty="0"/>
          </a:p>
          <a:p>
            <a:r>
              <a:rPr lang="en-US" dirty="0"/>
              <a:t>And those who do not judge by what Allah has revealed, they are the unbeliever,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01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No law is enacted even in an “Islamic Democracy” without the consent of the</a:t>
            </a:r>
          </a:p>
          <a:p>
            <a:pPr marL="0" indent="0">
              <a:buNone/>
            </a:pPr>
            <a:r>
              <a:rPr lang="en-US" dirty="0"/>
              <a:t>     majority.</a:t>
            </a:r>
          </a:p>
          <a:p>
            <a:r>
              <a:rPr lang="en-US" dirty="0"/>
              <a:t>Hence Allah’s </a:t>
            </a:r>
            <a:r>
              <a:rPr lang="en-US" dirty="0" err="1"/>
              <a:t>Hukam</a:t>
            </a:r>
            <a:r>
              <a:rPr lang="en-US" dirty="0"/>
              <a:t> becomes law of the land subject to the endorsement of</a:t>
            </a:r>
          </a:p>
          <a:p>
            <a:pPr marL="0" indent="0">
              <a:buNone/>
            </a:pPr>
            <a:r>
              <a:rPr lang="en-US" dirty="0"/>
              <a:t>     more than 50%</a:t>
            </a:r>
          </a:p>
          <a:p>
            <a:r>
              <a:rPr lang="en-US" dirty="0" err="1"/>
              <a:t>Riba</a:t>
            </a:r>
            <a:r>
              <a:rPr lang="en-US" dirty="0"/>
              <a:t> is legal in Pakistan even though there is a clear </a:t>
            </a:r>
            <a:r>
              <a:rPr lang="en-US" dirty="0" err="1"/>
              <a:t>Hukam</a:t>
            </a:r>
            <a:r>
              <a:rPr lang="en-US" dirty="0"/>
              <a:t> of Allah just</a:t>
            </a:r>
          </a:p>
          <a:p>
            <a:pPr marL="0" indent="0">
              <a:buNone/>
            </a:pPr>
            <a:r>
              <a:rPr lang="en-US" dirty="0"/>
              <a:t>      because the legislators in the parliament have not made it Haram. This</a:t>
            </a:r>
          </a:p>
          <a:p>
            <a:pPr marL="0" indent="0">
              <a:buNone/>
            </a:pPr>
            <a:r>
              <a:rPr lang="en-US" dirty="0"/>
              <a:t>    shows who has the sovereignty in Pakistan’s constitution</a:t>
            </a:r>
          </a:p>
          <a:p>
            <a:r>
              <a:rPr lang="en-US" dirty="0"/>
              <a:t>Voting on a </a:t>
            </a:r>
            <a:r>
              <a:rPr lang="en-US" i="1" dirty="0" err="1"/>
              <a:t>Hukam</a:t>
            </a:r>
            <a:r>
              <a:rPr lang="en-US" i="1" dirty="0"/>
              <a:t> </a:t>
            </a:r>
            <a:r>
              <a:rPr lang="en-US" dirty="0"/>
              <a:t>of Allah to accept or reject it as being the law of the </a:t>
            </a:r>
            <a:r>
              <a:rPr lang="en-US" dirty="0" err="1"/>
              <a:t>land,is</a:t>
            </a:r>
            <a:r>
              <a:rPr lang="en-US" dirty="0"/>
              <a:t> absolutely HARAM. This process gives man the right to say “Yes” or “No”</a:t>
            </a:r>
          </a:p>
          <a:p>
            <a:pPr marL="0" indent="0">
              <a:buNone/>
            </a:pPr>
            <a:r>
              <a:rPr lang="en-US" dirty="0"/>
              <a:t>    to Allah’s </a:t>
            </a:r>
            <a:r>
              <a:rPr lang="en-US" dirty="0" err="1"/>
              <a:t>Hukam</a:t>
            </a:r>
            <a:r>
              <a:rPr lang="en-US" dirty="0"/>
              <a:t> whilst a Muslims doesn’t have any right to have any say</a:t>
            </a:r>
          </a:p>
          <a:p>
            <a:pPr marL="0" indent="0">
              <a:buNone/>
            </a:pPr>
            <a:r>
              <a:rPr lang="en-US" dirty="0"/>
              <a:t>    once Allah has legislated a matter</a:t>
            </a:r>
          </a:p>
          <a:p>
            <a:r>
              <a:rPr lang="ar-AE" dirty="0"/>
              <a:t>وَمَا كَانَ لِمُؤْمِنٍ وَل مُؤْمِنَةٍ إِذَا قَضَى اللَّهُ وَرَسُولُهُ أَمْرًا أَنْ يَكُونَ لَهُمُ الْخِيَرَةُ منْ</a:t>
            </a:r>
          </a:p>
          <a:p>
            <a:r>
              <a:rPr lang="ar-AE" dirty="0"/>
              <a:t>أَمْرِهِمْ وَمَنْ يَعْصِ اللَّهَ وَرَسُولَهُ فَقَدْ ضَلَّ ضَلل مُبِينًا</a:t>
            </a:r>
          </a:p>
          <a:p>
            <a:r>
              <a:rPr lang="en-US" dirty="0"/>
              <a:t>It is not fitting for a Believer, men or women, when a matter has been decided by Allah and His Messenger to have </a:t>
            </a:r>
            <a:r>
              <a:rPr lang="en-US" b="1" dirty="0"/>
              <a:t>any option </a:t>
            </a:r>
            <a:r>
              <a:rPr lang="en-US" dirty="0"/>
              <a:t>about their decision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Islamic Democracy : The biggest hurdle in implementation of Islam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96733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19761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THANKS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</a:t>
            </a:r>
            <a:endParaRPr lang="en-US" sz="4400" b="1" dirty="0"/>
          </a:p>
          <a:p>
            <a:pPr marL="0" indent="0">
              <a:buNone/>
            </a:pPr>
            <a:endParaRPr lang="en-US" sz="4400" b="1" dirty="0"/>
          </a:p>
          <a:p>
            <a:pPr marL="0" indent="0">
              <a:buNone/>
            </a:pPr>
            <a:r>
              <a:rPr lang="en-US" sz="4800" dirty="0"/>
              <a:t>         </a:t>
            </a:r>
            <a:r>
              <a:rPr lang="en-US" sz="4800" dirty="0" err="1"/>
              <a:t>peeral</a:t>
            </a:r>
            <a:r>
              <a:rPr lang="en-US" sz="4800" dirty="0"/>
              <a:t>.    </a:t>
            </a:r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endParaRPr lang="en-US" sz="4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247248"/>
      </p:ext>
    </p:extLst>
  </p:cSld>
  <p:clrMapOvr>
    <a:masterClrMapping/>
  </p:clrMapOvr>
  <p:transition spd="slow">
    <p:randomBar dir="vert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787</TotalTime>
  <Words>1985</Words>
  <Application>Microsoft Office PowerPoint</Application>
  <PresentationFormat>On-screen Show (4:3)</PresentationFormat>
  <Paragraphs>137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arabicFont</vt:lpstr>
      <vt:lpstr>Arial</vt:lpstr>
      <vt:lpstr>Calibri</vt:lpstr>
      <vt:lpstr>Constantia</vt:lpstr>
      <vt:lpstr>Courier New</vt:lpstr>
      <vt:lpstr>Times New Roman</vt:lpstr>
      <vt:lpstr>Wingdings 2</vt:lpstr>
      <vt:lpstr>Flow</vt:lpstr>
      <vt:lpstr>PowerPoint Presentation</vt:lpstr>
      <vt:lpstr>Islamic Political System</vt:lpstr>
      <vt:lpstr>           Defination of Politics</vt:lpstr>
      <vt:lpstr>                        Islam</vt:lpstr>
      <vt:lpstr>Quranic concept of politics</vt:lpstr>
      <vt:lpstr>Cont.</vt:lpstr>
      <vt:lpstr>  Islamic Democracy Principles</vt:lpstr>
      <vt:lpstr>Islamic Democracy Principles</vt:lpstr>
      <vt:lpstr>Islamic Democracy Principles</vt:lpstr>
      <vt:lpstr>SHURA IS THE POLITICAL SYSTEM OF ISLAM</vt:lpstr>
      <vt:lpstr>      Political system of Islam is based on two basic realities  </vt:lpstr>
      <vt:lpstr>The political system which Islam has constructed over these two basic realities has the following salient features</vt:lpstr>
      <vt:lpstr> 1- The supreme authority and sovereignty actually rests with Allah alone</vt:lpstr>
      <vt:lpstr>2- The real legislator is Allah,</vt:lpstr>
      <vt:lpstr>3- Legislation by Shura (Consultation):</vt:lpstr>
      <vt:lpstr> 4- Accountability of government</vt:lpstr>
      <vt:lpstr>   5- Independence of judiciary</vt:lpstr>
      <vt:lpstr>   6- Equality before law</vt:lpstr>
      <vt:lpstr>7.Public Accountability</vt:lpstr>
      <vt:lpstr>8. Rule of Law</vt:lpstr>
      <vt:lpstr>9.Welfare Oriented</vt:lpstr>
      <vt:lpstr>10.Effective and Efficient.</vt:lpstr>
      <vt:lpstr>11.Quality Assurance</vt:lpstr>
      <vt:lpstr>12. Striving for Excellence</vt:lpstr>
      <vt:lpstr>   13- Khilafah of Mankind (Vicegerency of man)</vt:lpstr>
      <vt:lpstr>         The Vision of an Islamic State </vt:lpstr>
      <vt:lpstr>                Conclusion</vt:lpstr>
      <vt:lpstr>               </vt:lpstr>
      <vt:lpstr>Islamic Democracy : The biggest hurdle in implementation of Islam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Laptop</dc:creator>
  <cp:lastModifiedBy>Peeral Sb</cp:lastModifiedBy>
  <cp:revision>82</cp:revision>
  <dcterms:created xsi:type="dcterms:W3CDTF">2014-05-19T16:41:20Z</dcterms:created>
  <dcterms:modified xsi:type="dcterms:W3CDTF">2020-12-19T05:34:49Z</dcterms:modified>
</cp:coreProperties>
</file>