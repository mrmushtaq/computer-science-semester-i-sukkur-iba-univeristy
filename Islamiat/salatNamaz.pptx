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4" r:id="rId3"/>
    <p:sldId id="265" r:id="rId4"/>
    <p:sldId id="267" r:id="rId5"/>
    <p:sldId id="266" r:id="rId6"/>
    <p:sldId id="257" r:id="rId7"/>
    <p:sldId id="259" r:id="rId8"/>
    <p:sldId id="258" r:id="rId9"/>
    <p:sldId id="262" r:id="rId10"/>
    <p:sldId id="260" r:id="rId11"/>
    <p:sldId id="261" r:id="rId12"/>
    <p:sldId id="273" r:id="rId13"/>
    <p:sldId id="274" r:id="rId14"/>
    <p:sldId id="2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4" d="100"/>
          <a:sy n="114" d="100"/>
        </p:scale>
        <p:origin x="47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pPr/>
              <a:t>11/2/2021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pPr/>
              <a:t>11/2/2021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pPr/>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11/2/2021</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Allah" TargetMode="External"/><Relationship Id="rId2" Type="http://schemas.openxmlformats.org/officeDocument/2006/relationships/hyperlink" Target="https://en.wikipedia.org/wiki/Prophets_and_messengers_in_Islam" TargetMode="External"/><Relationship Id="rId1" Type="http://schemas.openxmlformats.org/officeDocument/2006/relationships/slideLayout" Target="../slideLayouts/slideLayout2.xml"/><Relationship Id="rId4" Type="http://schemas.openxmlformats.org/officeDocument/2006/relationships/hyperlink" Target="https://en.wikipedia.org/wiki/Muhamma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3335" y="141668"/>
            <a:ext cx="11642502" cy="875763"/>
          </a:xfrm>
        </p:spPr>
        <p:txBody>
          <a:bodyPr/>
          <a:lstStyle/>
          <a:p>
            <a:pPr algn="l"/>
            <a:r>
              <a:rPr lang="en-US" sz="3200" b="1" dirty="0"/>
              <a:t>MEANING AND CONCEPT OF SALAT</a:t>
            </a:r>
          </a:p>
        </p:txBody>
      </p:sp>
      <p:sp>
        <p:nvSpPr>
          <p:cNvPr id="3" name="Subtitle 2"/>
          <p:cNvSpPr>
            <a:spLocks noGrp="1"/>
          </p:cNvSpPr>
          <p:nvPr>
            <p:ph type="subTitle" idx="1"/>
          </p:nvPr>
        </p:nvSpPr>
        <p:spPr>
          <a:xfrm>
            <a:off x="850006" y="1107584"/>
            <a:ext cx="9427335" cy="4546242"/>
          </a:xfrm>
        </p:spPr>
        <p:txBody>
          <a:bodyPr>
            <a:normAutofit/>
          </a:bodyPr>
          <a:lstStyle/>
          <a:p>
            <a:pPr algn="l"/>
            <a:r>
              <a:rPr lang="ar-AE" sz="2800" b="1" dirty="0"/>
              <a:t>ص ل و </a:t>
            </a:r>
            <a:r>
              <a:rPr lang="en-US" sz="2800" b="1" dirty="0"/>
              <a:t>    </a:t>
            </a:r>
          </a:p>
          <a:p>
            <a:pPr algn="l"/>
            <a:r>
              <a:rPr lang="en-US" sz="2800" dirty="0"/>
              <a:t>prayer </a:t>
            </a:r>
          </a:p>
          <a:p>
            <a:pPr algn="l"/>
            <a:r>
              <a:rPr lang="en-US" sz="2800" dirty="0"/>
              <a:t>Supplication</a:t>
            </a:r>
          </a:p>
          <a:p>
            <a:pPr algn="l"/>
            <a:r>
              <a:rPr lang="en-US" sz="2800" dirty="0"/>
              <a:t>petition</a:t>
            </a:r>
          </a:p>
          <a:p>
            <a:pPr algn="l"/>
            <a:r>
              <a:rPr lang="en-US" sz="2800" dirty="0"/>
              <a:t>benediction</a:t>
            </a:r>
          </a:p>
          <a:p>
            <a:pPr algn="l"/>
            <a:r>
              <a:rPr lang="en-US" sz="2800" dirty="0"/>
              <a:t>Commendation</a:t>
            </a:r>
          </a:p>
          <a:p>
            <a:pPr algn="l"/>
            <a:r>
              <a:rPr lang="en-US" sz="2800" dirty="0"/>
              <a:t> honor</a:t>
            </a:r>
          </a:p>
          <a:p>
            <a:pPr algn="l"/>
            <a:r>
              <a:rPr lang="en-US" sz="2800" dirty="0"/>
              <a:t> walk/follow behind closely</a:t>
            </a:r>
          </a:p>
        </p:txBody>
      </p:sp>
    </p:spTree>
    <p:extLst>
      <p:ext uri="{BB962C8B-B14F-4D97-AF65-F5344CB8AC3E}">
        <p14:creationId xmlns:p14="http://schemas.microsoft.com/office/powerpoint/2010/main" val="2094029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additive="base">
                                        <p:cTn id="5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18754"/>
          </a:xfrm>
        </p:spPr>
        <p:txBody>
          <a:bodyPr/>
          <a:lstStyle/>
          <a:p>
            <a:r>
              <a:rPr lang="en-US" dirty="0"/>
              <a:t>cont</a:t>
            </a:r>
          </a:p>
        </p:txBody>
      </p:sp>
      <p:sp>
        <p:nvSpPr>
          <p:cNvPr id="3" name="Content Placeholder 2"/>
          <p:cNvSpPr>
            <a:spLocks noGrp="1"/>
          </p:cNvSpPr>
          <p:nvPr>
            <p:ph idx="1"/>
          </p:nvPr>
        </p:nvSpPr>
        <p:spPr>
          <a:xfrm>
            <a:off x="677334" y="1554481"/>
            <a:ext cx="8596668" cy="4486882"/>
          </a:xfrm>
        </p:spPr>
        <p:txBody>
          <a:bodyPr/>
          <a:lstStyle/>
          <a:p>
            <a:r>
              <a:rPr lang="en-US" i="1" dirty="0" err="1"/>
              <a:t>Salat</a:t>
            </a:r>
            <a:r>
              <a:rPr lang="en-US" i="1" dirty="0"/>
              <a:t> </a:t>
            </a:r>
            <a:r>
              <a:rPr lang="en-US" dirty="0"/>
              <a:t>means a special form of worship. </a:t>
            </a:r>
          </a:p>
          <a:p>
            <a:r>
              <a:rPr lang="en-US" dirty="0"/>
              <a:t> All </a:t>
            </a:r>
            <a:r>
              <a:rPr lang="en-US" dirty="0">
                <a:hlinkClick r:id="rId2" tooltip="Prophets and messengers in Islam"/>
              </a:rPr>
              <a:t>prophets</a:t>
            </a:r>
            <a:r>
              <a:rPr lang="en-US" dirty="0"/>
              <a:t> of </a:t>
            </a:r>
            <a:r>
              <a:rPr lang="en-US" dirty="0">
                <a:hlinkClick r:id="rId3" tooltip="Allah"/>
              </a:rPr>
              <a:t>Allah</a:t>
            </a:r>
            <a:r>
              <a:rPr lang="en-US" dirty="0"/>
              <a:t> offered daily prayers</a:t>
            </a:r>
          </a:p>
          <a:p>
            <a:r>
              <a:rPr lang="en-US" dirty="0"/>
              <a:t>Remaining worships like fast, </a:t>
            </a:r>
            <a:r>
              <a:rPr lang="en-US" dirty="0" err="1"/>
              <a:t>zakat</a:t>
            </a:r>
            <a:r>
              <a:rPr lang="en-US" dirty="0"/>
              <a:t>, hajj and jihad are excused in some conditions but </a:t>
            </a:r>
            <a:r>
              <a:rPr lang="en-US" dirty="0" err="1"/>
              <a:t>Salat</a:t>
            </a:r>
            <a:r>
              <a:rPr lang="en-US" dirty="0"/>
              <a:t> is never ever excused in any situation. if you are travelling, sick,  or in the situation of fighting.</a:t>
            </a:r>
          </a:p>
          <a:p>
            <a:r>
              <a:rPr lang="en-US" dirty="0"/>
              <a:t>The importance of the </a:t>
            </a:r>
            <a:r>
              <a:rPr lang="en-US" dirty="0" err="1"/>
              <a:t>Salah</a:t>
            </a:r>
            <a:r>
              <a:rPr lang="en-US" dirty="0"/>
              <a:t> was further demonstrated by </a:t>
            </a:r>
            <a:r>
              <a:rPr lang="en-US" dirty="0">
                <a:hlinkClick r:id="rId4" tooltip="Muhammad"/>
              </a:rPr>
              <a:t>Muhammad</a:t>
            </a:r>
            <a:r>
              <a:rPr lang="en-US" dirty="0"/>
              <a:t> who on his deathbed and in the pangs of death would announce: </a:t>
            </a:r>
          </a:p>
          <a:p>
            <a:r>
              <a:rPr lang="en-US" dirty="0"/>
              <a:t> </a:t>
            </a:r>
            <a:r>
              <a:rPr lang="ar-AE" dirty="0"/>
              <a:t>الصَّلاةَ ، الصَّلاةَ وَمَا مَلَكَت أَيْمَانُكُم. “</a:t>
            </a:r>
            <a:r>
              <a:rPr lang="en-US" dirty="0"/>
              <a:t> The </a:t>
            </a:r>
            <a:r>
              <a:rPr lang="en-US" dirty="0" err="1"/>
              <a:t>Salah</a:t>
            </a:r>
            <a:r>
              <a:rPr lang="en-US" dirty="0"/>
              <a:t>, I remind you of the </a:t>
            </a:r>
            <a:r>
              <a:rPr lang="en-US" dirty="0" err="1"/>
              <a:t>Salah</a:t>
            </a:r>
            <a:r>
              <a:rPr lang="en-US" dirty="0"/>
              <a:t>; and to look after the women</a:t>
            </a:r>
          </a:p>
          <a:p>
            <a:endParaRPr lang="en-US" dirty="0"/>
          </a:p>
          <a:p>
            <a:pPr>
              <a:buNone/>
            </a:pPr>
            <a:endParaRPr lang="en-US" dirty="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err="1"/>
              <a:t>ThePre-requisits</a:t>
            </a:r>
            <a:r>
              <a:rPr lang="en-US" dirty="0"/>
              <a:t> of </a:t>
            </a:r>
            <a:r>
              <a:rPr lang="en-US" dirty="0" err="1"/>
              <a:t>salat</a:t>
            </a:r>
            <a:endParaRPr lang="en-US" dirty="0"/>
          </a:p>
        </p:txBody>
      </p:sp>
      <p:sp>
        <p:nvSpPr>
          <p:cNvPr id="3" name="Content Placeholder 2"/>
          <p:cNvSpPr>
            <a:spLocks noGrp="1"/>
          </p:cNvSpPr>
          <p:nvPr>
            <p:ph idx="1"/>
          </p:nvPr>
        </p:nvSpPr>
        <p:spPr>
          <a:xfrm>
            <a:off x="651208" y="1507446"/>
            <a:ext cx="8596668" cy="3880773"/>
          </a:xfrm>
        </p:spPr>
        <p:txBody>
          <a:bodyPr/>
          <a:lstStyle/>
          <a:p>
            <a:pPr>
              <a:buFont typeface="+mj-lt"/>
              <a:buAutoNum type="arabicPeriod"/>
            </a:pPr>
            <a:r>
              <a:rPr lang="en-US" dirty="0"/>
              <a:t>The place being clean</a:t>
            </a:r>
          </a:p>
          <a:p>
            <a:pPr>
              <a:buFont typeface="+mj-lt"/>
              <a:buAutoNum type="arabicPeriod"/>
            </a:pPr>
            <a:r>
              <a:rPr lang="en-US" dirty="0"/>
              <a:t>The clothes being clean</a:t>
            </a:r>
          </a:p>
          <a:p>
            <a:pPr>
              <a:buFont typeface="+mj-lt"/>
              <a:buAutoNum type="arabicPeriod"/>
            </a:pPr>
            <a:r>
              <a:rPr lang="en-US" dirty="0"/>
              <a:t>The body being clean</a:t>
            </a:r>
          </a:p>
          <a:p>
            <a:pPr>
              <a:buFont typeface="+mj-lt"/>
              <a:buAutoNum type="arabicPeriod"/>
            </a:pPr>
            <a:r>
              <a:rPr lang="en-US" dirty="0"/>
              <a:t>The </a:t>
            </a:r>
            <a:r>
              <a:rPr lang="en-US" dirty="0" err="1"/>
              <a:t>satar</a:t>
            </a:r>
            <a:r>
              <a:rPr lang="en-US" dirty="0"/>
              <a:t> ( parts of body ordained to be covered) being covered</a:t>
            </a:r>
          </a:p>
          <a:p>
            <a:pPr>
              <a:buFont typeface="+mj-lt"/>
              <a:buAutoNum type="arabicPeriod"/>
            </a:pPr>
            <a:r>
              <a:rPr lang="en-US" dirty="0"/>
              <a:t>Permissible time for </a:t>
            </a:r>
            <a:r>
              <a:rPr lang="en-US" dirty="0" err="1"/>
              <a:t>salat</a:t>
            </a:r>
            <a:endParaRPr lang="en-US" dirty="0"/>
          </a:p>
          <a:p>
            <a:pPr>
              <a:buFont typeface="+mj-lt"/>
              <a:buAutoNum type="arabicPeriod"/>
            </a:pPr>
            <a:r>
              <a:rPr lang="en-US" dirty="0"/>
              <a:t>Facing </a:t>
            </a:r>
            <a:r>
              <a:rPr lang="en-US" dirty="0" err="1"/>
              <a:t>Kaba</a:t>
            </a:r>
            <a:endParaRPr lang="en-US" dirty="0"/>
          </a:p>
          <a:p>
            <a:pPr>
              <a:buFont typeface="+mj-lt"/>
              <a:buAutoNum type="arabicPeriod"/>
            </a:pPr>
            <a:r>
              <a:rPr lang="en-US" dirty="0"/>
              <a:t>Intention to pray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err="1"/>
              <a:t>Arkan</a:t>
            </a:r>
            <a:r>
              <a:rPr lang="en-US" dirty="0"/>
              <a:t> ( constituents) of </a:t>
            </a:r>
            <a:r>
              <a:rPr lang="en-US" dirty="0" err="1"/>
              <a:t>Salah</a:t>
            </a:r>
            <a:endParaRPr lang="en-US" dirty="0"/>
          </a:p>
        </p:txBody>
      </p:sp>
      <p:sp>
        <p:nvSpPr>
          <p:cNvPr id="3" name="Content Placeholder 2"/>
          <p:cNvSpPr>
            <a:spLocks noGrp="1"/>
          </p:cNvSpPr>
          <p:nvPr>
            <p:ph idx="1"/>
          </p:nvPr>
        </p:nvSpPr>
        <p:spPr>
          <a:xfrm>
            <a:off x="690397" y="1533572"/>
            <a:ext cx="8596668" cy="3880773"/>
          </a:xfrm>
        </p:spPr>
        <p:txBody>
          <a:bodyPr/>
          <a:lstStyle/>
          <a:p>
            <a:r>
              <a:rPr lang="en-US" dirty="0" err="1"/>
              <a:t>Takber</a:t>
            </a:r>
            <a:r>
              <a:rPr lang="en-US" dirty="0"/>
              <a:t> e </a:t>
            </a:r>
            <a:r>
              <a:rPr lang="en-US" dirty="0" err="1"/>
              <a:t>Tahreema</a:t>
            </a:r>
            <a:endParaRPr lang="en-US" dirty="0"/>
          </a:p>
          <a:p>
            <a:r>
              <a:rPr lang="en-US" dirty="0" err="1"/>
              <a:t>Qiyam</a:t>
            </a:r>
            <a:r>
              <a:rPr lang="en-US" dirty="0"/>
              <a:t>(standing)</a:t>
            </a:r>
          </a:p>
          <a:p>
            <a:r>
              <a:rPr lang="en-US" dirty="0" err="1"/>
              <a:t>Qirat</a:t>
            </a:r>
            <a:r>
              <a:rPr lang="en-US" dirty="0"/>
              <a:t>(recitation)</a:t>
            </a:r>
          </a:p>
          <a:p>
            <a:r>
              <a:rPr lang="en-US" dirty="0" err="1"/>
              <a:t>Ruku</a:t>
            </a:r>
            <a:r>
              <a:rPr lang="en-US" dirty="0"/>
              <a:t> (making a bow)</a:t>
            </a:r>
          </a:p>
          <a:p>
            <a:r>
              <a:rPr lang="en-US" dirty="0" err="1"/>
              <a:t>Sujood</a:t>
            </a:r>
            <a:r>
              <a:rPr lang="en-US" dirty="0"/>
              <a:t> ( falling prostrate)</a:t>
            </a:r>
          </a:p>
          <a:p>
            <a:r>
              <a:rPr lang="en-US" dirty="0"/>
              <a:t>Qaida </a:t>
            </a:r>
            <a:r>
              <a:rPr lang="en-US" dirty="0" err="1"/>
              <a:t>Akhira</a:t>
            </a:r>
            <a:r>
              <a:rPr lang="en-US" dirty="0"/>
              <a:t> ( last sitting)</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err="1"/>
              <a:t>wajbat</a:t>
            </a:r>
            <a:r>
              <a:rPr lang="en-US" dirty="0"/>
              <a:t> ( ordained acts) of </a:t>
            </a:r>
            <a:r>
              <a:rPr lang="en-US" dirty="0" err="1"/>
              <a:t>salat</a:t>
            </a:r>
            <a:endParaRPr lang="en-US" dirty="0"/>
          </a:p>
        </p:txBody>
      </p:sp>
      <p:sp>
        <p:nvSpPr>
          <p:cNvPr id="3" name="Content Placeholder 2"/>
          <p:cNvSpPr>
            <a:spLocks noGrp="1"/>
          </p:cNvSpPr>
          <p:nvPr>
            <p:ph idx="1"/>
          </p:nvPr>
        </p:nvSpPr>
        <p:spPr>
          <a:xfrm>
            <a:off x="716523" y="1468257"/>
            <a:ext cx="8596668" cy="4579846"/>
          </a:xfrm>
        </p:spPr>
        <p:txBody>
          <a:bodyPr>
            <a:normAutofit/>
          </a:bodyPr>
          <a:lstStyle/>
          <a:p>
            <a:pPr>
              <a:buNone/>
            </a:pPr>
            <a:r>
              <a:rPr lang="en-US" dirty="0">
                <a:solidFill>
                  <a:srgbClr val="00B0F0"/>
                </a:solidFill>
              </a:rPr>
              <a:t>If any </a:t>
            </a:r>
            <a:r>
              <a:rPr lang="en-US" dirty="0" err="1">
                <a:solidFill>
                  <a:srgbClr val="00B0F0"/>
                </a:solidFill>
              </a:rPr>
              <a:t>wajib</a:t>
            </a:r>
            <a:r>
              <a:rPr lang="en-US" dirty="0">
                <a:solidFill>
                  <a:srgbClr val="00B0F0"/>
                </a:solidFill>
              </a:rPr>
              <a:t> missed, </a:t>
            </a:r>
            <a:r>
              <a:rPr lang="en-US" dirty="0" err="1">
                <a:solidFill>
                  <a:srgbClr val="00B0F0"/>
                </a:solidFill>
              </a:rPr>
              <a:t>sajda</a:t>
            </a:r>
            <a:r>
              <a:rPr lang="en-US" dirty="0">
                <a:solidFill>
                  <a:srgbClr val="00B0F0"/>
                </a:solidFill>
              </a:rPr>
              <a:t> SAHW becomes necessary</a:t>
            </a:r>
          </a:p>
          <a:p>
            <a:pPr>
              <a:buNone/>
            </a:pPr>
            <a:endParaRPr lang="en-US" dirty="0">
              <a:solidFill>
                <a:srgbClr val="00B0F0"/>
              </a:solidFill>
            </a:endParaRPr>
          </a:p>
          <a:p>
            <a:pPr>
              <a:buFont typeface="+mj-lt"/>
              <a:buAutoNum type="arabicPeriod"/>
            </a:pPr>
            <a:r>
              <a:rPr lang="en-US" dirty="0"/>
              <a:t>To recite Al Fateh in the first two </a:t>
            </a:r>
            <a:r>
              <a:rPr lang="en-US" dirty="0" err="1"/>
              <a:t>rakhas</a:t>
            </a:r>
            <a:r>
              <a:rPr lang="en-US" dirty="0"/>
              <a:t> of </a:t>
            </a:r>
            <a:r>
              <a:rPr lang="en-US" dirty="0" err="1"/>
              <a:t>fard</a:t>
            </a:r>
            <a:r>
              <a:rPr lang="en-US" dirty="0"/>
              <a:t> </a:t>
            </a:r>
            <a:r>
              <a:rPr lang="en-US" dirty="0" err="1"/>
              <a:t>prayar</a:t>
            </a:r>
            <a:r>
              <a:rPr lang="en-US" dirty="0"/>
              <a:t> and in all the </a:t>
            </a:r>
            <a:r>
              <a:rPr lang="en-US" dirty="0" err="1"/>
              <a:t>rakhas</a:t>
            </a:r>
            <a:r>
              <a:rPr lang="en-US" dirty="0"/>
              <a:t> of other prayers</a:t>
            </a:r>
          </a:p>
          <a:p>
            <a:pPr>
              <a:buFont typeface="+mj-lt"/>
              <a:buAutoNum type="arabicPeriod"/>
            </a:pPr>
            <a:r>
              <a:rPr lang="en-US" dirty="0"/>
              <a:t>To recite a portion of the Quran in the two </a:t>
            </a:r>
            <a:r>
              <a:rPr lang="en-US" dirty="0" err="1"/>
              <a:t>rakah</a:t>
            </a:r>
            <a:r>
              <a:rPr lang="en-US" dirty="0"/>
              <a:t> of the </a:t>
            </a:r>
            <a:r>
              <a:rPr lang="en-US" dirty="0" err="1"/>
              <a:t>fard</a:t>
            </a:r>
            <a:r>
              <a:rPr lang="en-US" dirty="0"/>
              <a:t> prayer</a:t>
            </a:r>
          </a:p>
          <a:p>
            <a:pPr>
              <a:buFont typeface="+mj-lt"/>
              <a:buAutoNum type="arabicPeriod"/>
            </a:pPr>
            <a:r>
              <a:rPr lang="en-US" dirty="0"/>
              <a:t>The observe the sequence of recitation, </a:t>
            </a:r>
            <a:r>
              <a:rPr lang="en-US" dirty="0" err="1"/>
              <a:t>Ruku</a:t>
            </a:r>
            <a:r>
              <a:rPr lang="en-US" dirty="0"/>
              <a:t>, </a:t>
            </a:r>
            <a:r>
              <a:rPr lang="en-US" dirty="0" err="1"/>
              <a:t>Sujod</a:t>
            </a:r>
            <a:r>
              <a:rPr lang="en-US" dirty="0"/>
              <a:t> and </a:t>
            </a:r>
            <a:r>
              <a:rPr lang="en-US" dirty="0" err="1"/>
              <a:t>Rakhas</a:t>
            </a:r>
            <a:endParaRPr lang="en-US" dirty="0"/>
          </a:p>
          <a:p>
            <a:pPr>
              <a:buFont typeface="+mj-lt"/>
              <a:buAutoNum type="arabicPeriod"/>
            </a:pPr>
            <a:r>
              <a:rPr lang="en-US" dirty="0"/>
              <a:t>To observe </a:t>
            </a:r>
            <a:r>
              <a:rPr lang="en-US" dirty="0" err="1"/>
              <a:t>Qaumah</a:t>
            </a:r>
            <a:r>
              <a:rPr lang="en-US" dirty="0"/>
              <a:t> </a:t>
            </a:r>
            <a:r>
              <a:rPr lang="en-US" dirty="0" err="1"/>
              <a:t>i.e</a:t>
            </a:r>
            <a:r>
              <a:rPr lang="en-US" dirty="0"/>
              <a:t> to stand upright</a:t>
            </a:r>
          </a:p>
          <a:p>
            <a:pPr>
              <a:buFont typeface="+mj-lt"/>
              <a:buAutoNum type="arabicPeriod"/>
            </a:pPr>
            <a:r>
              <a:rPr lang="en-US" dirty="0"/>
              <a:t>To observe </a:t>
            </a:r>
            <a:r>
              <a:rPr lang="en-US" dirty="0" err="1"/>
              <a:t>Jalsa</a:t>
            </a:r>
            <a:r>
              <a:rPr lang="en-US" dirty="0"/>
              <a:t> </a:t>
            </a:r>
            <a:r>
              <a:rPr lang="en-US" dirty="0" err="1"/>
              <a:t>i.e</a:t>
            </a:r>
            <a:r>
              <a:rPr lang="en-US" dirty="0"/>
              <a:t> sit upright between two </a:t>
            </a:r>
            <a:r>
              <a:rPr lang="en-US" dirty="0" err="1"/>
              <a:t>sajdah</a:t>
            </a:r>
            <a:endParaRPr lang="en-US" dirty="0"/>
          </a:p>
          <a:p>
            <a:pPr>
              <a:buFont typeface="+mj-lt"/>
              <a:buAutoNum type="arabicPeriod"/>
            </a:pPr>
            <a:r>
              <a:rPr lang="en-US" dirty="0"/>
              <a:t>To </a:t>
            </a:r>
            <a:r>
              <a:rPr lang="en-US" dirty="0" err="1"/>
              <a:t>performe</a:t>
            </a:r>
            <a:r>
              <a:rPr lang="en-US" dirty="0"/>
              <a:t> </a:t>
            </a:r>
            <a:r>
              <a:rPr lang="en-US" dirty="0" err="1"/>
              <a:t>ruku</a:t>
            </a:r>
            <a:r>
              <a:rPr lang="en-US" dirty="0"/>
              <a:t> &amp; Sujud peacefully and with perfect tranquility</a:t>
            </a:r>
          </a:p>
          <a:p>
            <a:pPr>
              <a:buFont typeface="+mj-lt"/>
              <a:buAutoNum type="arabicPeriod"/>
            </a:pPr>
            <a:r>
              <a:rPr lang="en-US" dirty="0"/>
              <a:t>To observe </a:t>
            </a:r>
            <a:r>
              <a:rPr lang="en-US" dirty="0" err="1"/>
              <a:t>Qadah</a:t>
            </a:r>
            <a:r>
              <a:rPr lang="en-US" dirty="0"/>
              <a:t> </a:t>
            </a:r>
            <a:r>
              <a:rPr lang="en-US" dirty="0" err="1"/>
              <a:t>Uola</a:t>
            </a:r>
            <a:r>
              <a:rPr lang="en-US" dirty="0"/>
              <a:t>, first sitting, in the prayer consisting three &amp; four </a:t>
            </a:r>
            <a:r>
              <a:rPr lang="en-US" dirty="0" err="1"/>
              <a:t>Rakhas</a:t>
            </a:r>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3327" y="90152"/>
            <a:ext cx="11597056" cy="798490"/>
          </a:xfrm>
        </p:spPr>
        <p:txBody>
          <a:bodyPr/>
          <a:lstStyle/>
          <a:p>
            <a:r>
              <a:rPr lang="en-US" b="1" dirty="0"/>
              <a:t>Importance of </a:t>
            </a:r>
            <a:r>
              <a:rPr lang="en-US" b="1" dirty="0" err="1"/>
              <a:t>salat</a:t>
            </a:r>
            <a:r>
              <a:rPr lang="en-US" b="1" dirty="0"/>
              <a:t> in the light of Quran</a:t>
            </a:r>
          </a:p>
        </p:txBody>
      </p:sp>
      <p:sp>
        <p:nvSpPr>
          <p:cNvPr id="3" name="Content Placeholder 2"/>
          <p:cNvSpPr>
            <a:spLocks noGrp="1"/>
          </p:cNvSpPr>
          <p:nvPr>
            <p:ph idx="1"/>
          </p:nvPr>
        </p:nvSpPr>
        <p:spPr>
          <a:xfrm>
            <a:off x="180304" y="888643"/>
            <a:ext cx="11900078" cy="5795492"/>
          </a:xfrm>
        </p:spPr>
        <p:txBody>
          <a:bodyPr>
            <a:normAutofit lnSpcReduction="10000"/>
          </a:bodyPr>
          <a:lstStyle/>
          <a:p>
            <a:r>
              <a:rPr lang="en-US" dirty="0"/>
              <a:t>No fundamental element of Islam has been stressed as much as prayer in the Holy Qur’ān. Indeed, Allah mentions it in over 700 verses of the holy text</a:t>
            </a:r>
          </a:p>
          <a:p>
            <a:r>
              <a:rPr lang="ar-AE" dirty="0"/>
              <a:t>قُل لِّعِبَادِيَ الَّذِينَ آمَنُوا يُقِيمُوا الصَّلَاةَ </a:t>
            </a:r>
            <a:r>
              <a:rPr lang="en-US" dirty="0"/>
              <a:t>   </a:t>
            </a:r>
          </a:p>
          <a:p>
            <a:r>
              <a:rPr lang="en-US" i="1" dirty="0"/>
              <a:t>Say to my slaves who have accepted Islam to offer prayer.</a:t>
            </a:r>
            <a:endParaRPr lang="en-US" b="1" dirty="0"/>
          </a:p>
          <a:p>
            <a:r>
              <a:rPr lang="ar-AE" dirty="0"/>
              <a:t>وَأْمُرْ أَهْلَكَ بِالصَّلَاةِ وَاصْطَبِرْ عَلَيْهَا</a:t>
            </a:r>
            <a:br>
              <a:rPr lang="en-US" dirty="0"/>
            </a:br>
            <a:r>
              <a:rPr lang="en-US" i="1" dirty="0"/>
              <a:t>Enjoin prayer on thy people, and be constant therein</a:t>
            </a:r>
          </a:p>
          <a:p>
            <a:r>
              <a:rPr lang="ar-AE" dirty="0"/>
              <a:t>إِنَّ الصَّلاَةَ كَانَتْ عَلَى الْمُؤْمِنِينَ كِتَابًا مَّوْقُوتًا</a:t>
            </a:r>
            <a:endParaRPr lang="en-US" dirty="0"/>
          </a:p>
          <a:p>
            <a:r>
              <a:rPr lang="en-US" i="1" dirty="0"/>
              <a:t>Worship at fixed hours hath been enjoined on the believers.</a:t>
            </a:r>
          </a:p>
          <a:p>
            <a:pPr marL="0" indent="0">
              <a:buNone/>
            </a:pPr>
            <a:r>
              <a:rPr lang="en-US"/>
              <a:t>        </a:t>
            </a:r>
            <a:r>
              <a:rPr lang="ar-AE" dirty="0"/>
              <a:t>وَأَقِيمُوا الصَّلَاةَ وَآتُوا الزَّكَاةَ وَارْكَعُوا مَعَ الرَّاكِعِينَ</a:t>
            </a:r>
            <a:endParaRPr lang="en-US" dirty="0"/>
          </a:p>
          <a:p>
            <a:pPr marL="0" indent="0">
              <a:buNone/>
            </a:pPr>
            <a:r>
              <a:rPr lang="en-US" dirty="0"/>
              <a:t>      Offer Salah (pay zakat) and bow with those who bow</a:t>
            </a:r>
          </a:p>
          <a:p>
            <a:r>
              <a:rPr lang="ar-AE" dirty="0"/>
              <a:t>مَا سَلَكَكُمْ فِي سَقَرَ قَالُوا لَمْ نَكُ مِنَ الْمُصَلِّينَ</a:t>
            </a:r>
            <a:endParaRPr lang="en-US" i="1" dirty="0"/>
          </a:p>
          <a:p>
            <a:r>
              <a:rPr lang="en-US" i="1" dirty="0"/>
              <a:t>What led you into Hell Fire?” They will say: “We were not of those who prayed”</a:t>
            </a:r>
          </a:p>
          <a:p>
            <a:r>
              <a:rPr lang="fa-IR" dirty="0"/>
              <a:t>وَاَقِيْمُوا الصَّلٰوةَ وَلَا تَكُوْنُوْا مِنَ الْمُشْرِكِيْنَ </a:t>
            </a:r>
            <a:endParaRPr lang="en-US" i="1" dirty="0"/>
          </a:p>
          <a:p>
            <a:r>
              <a:rPr lang="en-US" dirty="0"/>
              <a:t>Establish </a:t>
            </a:r>
            <a:r>
              <a:rPr lang="en-US" dirty="0" err="1"/>
              <a:t>salat</a:t>
            </a:r>
            <a:r>
              <a:rPr lang="en-US" dirty="0"/>
              <a:t> and do not be among </a:t>
            </a:r>
            <a:r>
              <a:rPr lang="en-US" dirty="0" err="1"/>
              <a:t>mushrikeen</a:t>
            </a:r>
            <a:r>
              <a:rPr lang="en-US" dirty="0"/>
              <a:t> (Surah Rum, 30:31) </a:t>
            </a:r>
          </a:p>
          <a:p>
            <a:pPr>
              <a:buNone/>
            </a:pPr>
            <a:br>
              <a:rPr lang="en-US" dirty="0"/>
            </a:br>
            <a:endParaRPr lang="en-US" dirty="0"/>
          </a:p>
        </p:txBody>
      </p:sp>
    </p:spTree>
    <p:extLst>
      <p:ext uri="{BB962C8B-B14F-4D97-AF65-F5344CB8AC3E}">
        <p14:creationId xmlns:p14="http://schemas.microsoft.com/office/powerpoint/2010/main" val="1922347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 calcmode="lin" valueType="num">
                                      <p:cBhvr additive="base">
                                        <p:cTn id="6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anim calcmode="lin" valueType="num">
                                      <p:cBhvr additive="base">
                                        <p:cTn id="6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0" end="10"/>
                                            </p:txEl>
                                          </p:spTgt>
                                        </p:tgtEl>
                                        <p:attrNameLst>
                                          <p:attrName>style.visibility</p:attrName>
                                        </p:attrNameLst>
                                      </p:cBhvr>
                                      <p:to>
                                        <p:strVal val="visible"/>
                                      </p:to>
                                    </p:set>
                                    <p:anim calcmode="lin" valueType="num">
                                      <p:cBhvr additive="base">
                                        <p:cTn id="7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1" end="11"/>
                                            </p:txEl>
                                          </p:spTgt>
                                        </p:tgtEl>
                                        <p:attrNameLst>
                                          <p:attrName>style.visibility</p:attrName>
                                        </p:attrNameLst>
                                      </p:cBhvr>
                                      <p:to>
                                        <p:strVal val="visible"/>
                                      </p:to>
                                    </p:set>
                                    <p:anim calcmode="lin" valueType="num">
                                      <p:cBhvr additive="base">
                                        <p:cTn id="7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
                                            <p:txEl>
                                              <p:pRg st="12" end="12"/>
                                            </p:txEl>
                                          </p:spTgt>
                                        </p:tgtEl>
                                        <p:attrNameLst>
                                          <p:attrName>style.visibility</p:attrName>
                                        </p:attrNameLst>
                                      </p:cBhvr>
                                      <p:to>
                                        <p:strVal val="visible"/>
                                      </p:to>
                                    </p:set>
                                    <p:anim calcmode="lin" valueType="num">
                                      <p:cBhvr additive="base">
                                        <p:cTn id="8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115910"/>
            <a:ext cx="10256829" cy="837127"/>
          </a:xfrm>
        </p:spPr>
        <p:txBody>
          <a:bodyPr>
            <a:normAutofit/>
          </a:bodyPr>
          <a:lstStyle/>
          <a:p>
            <a:r>
              <a:rPr lang="en-US" sz="3200" b="1" dirty="0"/>
              <a:t>Importance of </a:t>
            </a:r>
            <a:r>
              <a:rPr lang="en-US" sz="3200" b="1" dirty="0" err="1"/>
              <a:t>Salat</a:t>
            </a:r>
            <a:r>
              <a:rPr lang="en-US" sz="3200" b="1" dirty="0"/>
              <a:t> in the light of Hadith</a:t>
            </a:r>
          </a:p>
        </p:txBody>
      </p:sp>
      <p:sp>
        <p:nvSpPr>
          <p:cNvPr id="3" name="Content Placeholder 2"/>
          <p:cNvSpPr>
            <a:spLocks noGrp="1"/>
          </p:cNvSpPr>
          <p:nvPr>
            <p:ph idx="1"/>
          </p:nvPr>
        </p:nvSpPr>
        <p:spPr>
          <a:xfrm>
            <a:off x="154546" y="850006"/>
            <a:ext cx="11797048" cy="5847007"/>
          </a:xfrm>
        </p:spPr>
        <p:txBody>
          <a:bodyPr/>
          <a:lstStyle/>
          <a:p>
            <a:r>
              <a:rPr lang="en-US" dirty="0"/>
              <a:t> If </a:t>
            </a:r>
            <a:r>
              <a:rPr lang="en-US" dirty="0" err="1"/>
              <a:t>salat</a:t>
            </a:r>
            <a:r>
              <a:rPr lang="en-US" dirty="0"/>
              <a:t> is accepted by Allah, all good deeds will be accepted, &amp; if </a:t>
            </a:r>
            <a:r>
              <a:rPr lang="en-US" dirty="0" err="1"/>
              <a:t>salat</a:t>
            </a:r>
            <a:r>
              <a:rPr lang="en-US" dirty="0"/>
              <a:t> is rejected, all good deeds will be rejected</a:t>
            </a:r>
          </a:p>
          <a:p>
            <a:r>
              <a:rPr lang="en-US" dirty="0"/>
              <a:t>The key to Heaven is Salah. The key to Salah is Purification.(Hadith)</a:t>
            </a:r>
          </a:p>
          <a:p>
            <a:r>
              <a:rPr lang="en-US" dirty="0"/>
              <a:t>"Everything has a face and the face of your religion is Salah (</a:t>
            </a:r>
            <a:r>
              <a:rPr lang="en-US" dirty="0" err="1"/>
              <a:t>Salat</a:t>
            </a:r>
            <a:r>
              <a:rPr lang="en-US" dirty="0"/>
              <a:t>, </a:t>
            </a:r>
            <a:r>
              <a:rPr lang="en-US" dirty="0" err="1"/>
              <a:t>Namaz</a:t>
            </a:r>
            <a:r>
              <a:rPr lang="en-US" dirty="0"/>
              <a:t>); none of you should stain the face of his religion.“</a:t>
            </a:r>
          </a:p>
          <a:p>
            <a:r>
              <a:rPr lang="en-US" dirty="0"/>
              <a:t>Abu Huraira </a:t>
            </a:r>
            <a:r>
              <a:rPr lang="en-US" dirty="0" err="1"/>
              <a:t>RadiyAllahu</a:t>
            </a:r>
            <a:r>
              <a:rPr lang="en-US" dirty="0"/>
              <a:t> `</a:t>
            </a:r>
            <a:r>
              <a:rPr lang="en-US" dirty="0" err="1"/>
              <a:t>anhu</a:t>
            </a:r>
            <a:r>
              <a:rPr lang="en-US" dirty="0"/>
              <a:t> narrates that once Muhammad asked his companions, ‘Do you think that dirt can remain on a person bathing five times a day in a brook running in front of his door?’ ‘No’, replied the compan­ions, ‘No dirt can remain on his body.’ Muhammad remarked: ‘So, exactly similar is the effect of </a:t>
            </a:r>
            <a:r>
              <a:rPr lang="en-US" dirty="0" err="1"/>
              <a:t>salat</a:t>
            </a:r>
            <a:r>
              <a:rPr lang="en-US" dirty="0"/>
              <a:t> offered five times a day. With the grace of Allah, it washes away all the sins’.(Bukhari, Muslim)</a:t>
            </a:r>
          </a:p>
          <a:p>
            <a:br>
              <a:rPr lang="en-US" dirty="0"/>
            </a:br>
            <a:r>
              <a:rPr lang="en-US" dirty="0"/>
              <a:t>Abu </a:t>
            </a:r>
            <a:r>
              <a:rPr lang="en-US" dirty="0" err="1"/>
              <a:t>Zar</a:t>
            </a:r>
            <a:r>
              <a:rPr lang="en-US" dirty="0"/>
              <a:t> </a:t>
            </a:r>
            <a:r>
              <a:rPr lang="en-US" dirty="0" err="1"/>
              <a:t>RadiyAllahu</a:t>
            </a:r>
            <a:r>
              <a:rPr lang="en-US" dirty="0"/>
              <a:t> `</a:t>
            </a:r>
            <a:r>
              <a:rPr lang="en-US" dirty="0" err="1"/>
              <a:t>anhu</a:t>
            </a:r>
            <a:r>
              <a:rPr lang="en-US" dirty="0"/>
              <a:t> narrates that once Muhammad came out of his house. It was autumn and the leaves were falling off the trees. He caught hold of a branch of a tree and its leaves began to drop in large number. At this he remarked, ‘O, Abu </a:t>
            </a:r>
            <a:r>
              <a:rPr lang="en-US" dirty="0" err="1"/>
              <a:t>Zar</a:t>
            </a:r>
            <a:r>
              <a:rPr lang="en-US" dirty="0"/>
              <a:t>! when a Muslim offers his </a:t>
            </a:r>
            <a:r>
              <a:rPr lang="en-US" dirty="0" err="1"/>
              <a:t>salat</a:t>
            </a:r>
            <a:r>
              <a:rPr lang="en-US" dirty="0"/>
              <a:t> to please Allah, his sins are shed away from him just as these leaves are falling off this tree.’(Ahmad)</a:t>
            </a:r>
          </a:p>
          <a:p>
            <a:r>
              <a:rPr lang="en-US" dirty="0"/>
              <a:t>Abu Huraira narrated: Muhammad said, “The angels keep on asking Allah’s forgiveness for anyone of you, as long as he is at his </a:t>
            </a:r>
            <a:r>
              <a:rPr lang="en-US" dirty="0" err="1"/>
              <a:t>Mu,salla</a:t>
            </a:r>
            <a:r>
              <a:rPr lang="en-US" dirty="0"/>
              <a:t> (praying place)</a:t>
            </a:r>
          </a:p>
        </p:txBody>
      </p:sp>
    </p:spTree>
    <p:extLst>
      <p:ext uri="{BB962C8B-B14F-4D97-AF65-F5344CB8AC3E}">
        <p14:creationId xmlns:p14="http://schemas.microsoft.com/office/powerpoint/2010/main" val="385380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41668"/>
            <a:ext cx="11055320" cy="734095"/>
          </a:xfrm>
        </p:spPr>
        <p:txBody>
          <a:bodyPr/>
          <a:lstStyle/>
          <a:p>
            <a:r>
              <a:rPr lang="en-US" dirty="0"/>
              <a:t>Benefits of </a:t>
            </a:r>
            <a:r>
              <a:rPr lang="en-US" dirty="0" err="1"/>
              <a:t>Salat</a:t>
            </a:r>
            <a:endParaRPr lang="en-US" dirty="0"/>
          </a:p>
        </p:txBody>
      </p:sp>
      <p:sp>
        <p:nvSpPr>
          <p:cNvPr id="3" name="Content Placeholder 2"/>
          <p:cNvSpPr>
            <a:spLocks noGrp="1"/>
          </p:cNvSpPr>
          <p:nvPr>
            <p:ph idx="1"/>
          </p:nvPr>
        </p:nvSpPr>
        <p:spPr>
          <a:xfrm>
            <a:off x="167425" y="875763"/>
            <a:ext cx="11758411" cy="5808372"/>
          </a:xfrm>
        </p:spPr>
        <p:txBody>
          <a:bodyPr>
            <a:normAutofit/>
          </a:bodyPr>
          <a:lstStyle/>
          <a:p>
            <a:r>
              <a:rPr lang="en-US" b="1" u="sng" dirty="0"/>
              <a:t>Establishing Salah Develops </a:t>
            </a:r>
            <a:r>
              <a:rPr lang="en-US" b="1" u="sng" dirty="0" err="1"/>
              <a:t>Taqwa</a:t>
            </a:r>
            <a:r>
              <a:rPr lang="en-US" b="1" u="sng" dirty="0"/>
              <a:t> (Fear and Awareness of Allah) </a:t>
            </a:r>
            <a:endParaRPr lang="en-US" u="sng" dirty="0"/>
          </a:p>
          <a:p>
            <a:r>
              <a:rPr lang="en-US" b="1" dirty="0"/>
              <a:t>  </a:t>
            </a:r>
            <a:r>
              <a:rPr lang="en-US" dirty="0"/>
              <a:t>“This is the Book in which there is no doubt, a guidance for those who have </a:t>
            </a:r>
            <a:r>
              <a:rPr lang="en-US" dirty="0" err="1"/>
              <a:t>taqwa</a:t>
            </a:r>
            <a:r>
              <a:rPr lang="en-US" dirty="0"/>
              <a:t>; who believe in the unseen, and who establish </a:t>
            </a:r>
            <a:r>
              <a:rPr lang="en-US" b="1" dirty="0"/>
              <a:t>Salah</a:t>
            </a:r>
            <a:r>
              <a:rPr lang="en-US" dirty="0"/>
              <a:t>, and spend out of what we have provided for them” (2: 2-3)</a:t>
            </a:r>
          </a:p>
          <a:p>
            <a:r>
              <a:rPr lang="en-US" b="1" u="sng" dirty="0"/>
              <a:t>Salah Is the Sign of a Believer</a:t>
            </a:r>
          </a:p>
          <a:p>
            <a:r>
              <a:rPr lang="fa-IR" dirty="0"/>
              <a:t>وَالْمُؤْمِنُوْنَ وَالْمُؤْمِنٰتُ بَعْضُهُمْ اَوْلِيَاۗءُ بَعْضٍ ۘ يَاْمُرُوْنَ بِالْمَعْرُوْفِ وَيَنْهَوْنَ عَنِ الْمُنْكَرِ وَيُقِيْمُوْنَ الصَّلٰوةَ وَيُؤْتُوْنَ الزَّكٰوةَ وَيُطِيْعُوْنَ اللّٰهَ وَرَسُوْلَهٗ   ۭ اُولٰۗىِٕكَ سَيَرْحَمُهُمُ اللّٰهُ  ۭاِنَّ اللّٰهَ عَزِيْزٌ حَكِيْمٌ </a:t>
            </a:r>
            <a:endParaRPr lang="en-US" u="sng" dirty="0"/>
          </a:p>
          <a:p>
            <a:r>
              <a:rPr lang="en-US" b="1" dirty="0"/>
              <a:t> </a:t>
            </a:r>
            <a:r>
              <a:rPr lang="en-US" dirty="0"/>
              <a:t>“The believers, men and women, are protecting friends of one another; they enjoin good and forbid evil, and they establish </a:t>
            </a:r>
            <a:r>
              <a:rPr lang="en-US" b="1" dirty="0"/>
              <a:t>Salah</a:t>
            </a:r>
            <a:r>
              <a:rPr lang="en-US" dirty="0"/>
              <a:t>, and give </a:t>
            </a:r>
            <a:r>
              <a:rPr lang="en-US" dirty="0" err="1"/>
              <a:t>Zakah</a:t>
            </a:r>
            <a:r>
              <a:rPr lang="en-US" dirty="0"/>
              <a:t>, and obey Allah and His Messenger. Allah will have His Mercy on them, and surely, Allah is All-Mighty, All-Wise.” (9: 71)</a:t>
            </a:r>
          </a:p>
          <a:p>
            <a:r>
              <a:rPr lang="en-US" b="1" u="sng" dirty="0"/>
              <a:t>Those Who Pray Shall Have Nothing to Fear on the Day of Judgment</a:t>
            </a:r>
            <a:endParaRPr lang="en-US" u="sng" dirty="0"/>
          </a:p>
          <a:p>
            <a:r>
              <a:rPr lang="en-US" b="1" dirty="0"/>
              <a:t>  </a:t>
            </a:r>
            <a:r>
              <a:rPr lang="en-US" dirty="0"/>
              <a:t>“Truly, those who believe and do righteous deeds, and perform </a:t>
            </a:r>
            <a:r>
              <a:rPr lang="en-US" b="1" dirty="0"/>
              <a:t>Salah</a:t>
            </a:r>
            <a:r>
              <a:rPr lang="en-US" dirty="0"/>
              <a:t>, and give </a:t>
            </a:r>
            <a:r>
              <a:rPr lang="en-US" dirty="0" err="1"/>
              <a:t>Zakah</a:t>
            </a:r>
            <a:r>
              <a:rPr lang="en-US" dirty="0"/>
              <a:t>, they will have their reward with their Lord. On them shall be no fear, nor shall they grieve.” (2:277)</a:t>
            </a:r>
          </a:p>
          <a:p>
            <a:endParaRPr lang="en-US" dirty="0"/>
          </a:p>
        </p:txBody>
      </p:sp>
    </p:spTree>
    <p:extLst>
      <p:ext uri="{BB962C8B-B14F-4D97-AF65-F5344CB8AC3E}">
        <p14:creationId xmlns:p14="http://schemas.microsoft.com/office/powerpoint/2010/main" val="3501694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35865"/>
          </a:xfrm>
        </p:spPr>
        <p:txBody>
          <a:bodyPr/>
          <a:lstStyle/>
          <a:p>
            <a:r>
              <a:rPr lang="en-US" dirty="0"/>
              <a:t>continued</a:t>
            </a:r>
          </a:p>
        </p:txBody>
      </p:sp>
      <p:sp>
        <p:nvSpPr>
          <p:cNvPr id="3" name="Content Placeholder 2"/>
          <p:cNvSpPr>
            <a:spLocks noGrp="1"/>
          </p:cNvSpPr>
          <p:nvPr>
            <p:ph idx="1"/>
          </p:nvPr>
        </p:nvSpPr>
        <p:spPr>
          <a:xfrm>
            <a:off x="677334" y="1545465"/>
            <a:ext cx="8596668" cy="4495897"/>
          </a:xfrm>
        </p:spPr>
        <p:txBody>
          <a:bodyPr>
            <a:normAutofit/>
          </a:bodyPr>
          <a:lstStyle/>
          <a:p>
            <a:r>
              <a:rPr lang="en-US" b="1" dirty="0"/>
              <a:t> </a:t>
            </a:r>
            <a:r>
              <a:rPr lang="en-US" b="1" u="sng" dirty="0"/>
              <a:t>Allah’s Help Comes Through </a:t>
            </a:r>
            <a:r>
              <a:rPr lang="en-US" b="1" u="sng" dirty="0" err="1"/>
              <a:t>Salah</a:t>
            </a:r>
            <a:endParaRPr lang="en-US" b="1" u="sng" dirty="0"/>
          </a:p>
          <a:p>
            <a:r>
              <a:rPr lang="fa-IR" dirty="0"/>
              <a:t>وَاسْتَعِيْنُوْا بِالصَّبْرِ وَالصَّلٰوةِ </a:t>
            </a:r>
            <a:endParaRPr lang="en-US" u="sng" dirty="0"/>
          </a:p>
          <a:p>
            <a:r>
              <a:rPr lang="en-US" b="1" dirty="0"/>
              <a:t> </a:t>
            </a:r>
            <a:r>
              <a:rPr lang="en-US" dirty="0"/>
              <a:t>“Seek help through patience and </a:t>
            </a:r>
            <a:r>
              <a:rPr lang="en-US" b="1" dirty="0" err="1"/>
              <a:t>Salah</a:t>
            </a:r>
            <a:endParaRPr lang="en-US" dirty="0"/>
          </a:p>
          <a:p>
            <a:r>
              <a:rPr lang="en-US" b="1" u="sng" dirty="0"/>
              <a:t>Prayer Protects Against Evils</a:t>
            </a:r>
          </a:p>
          <a:p>
            <a:r>
              <a:rPr lang="fa-IR" dirty="0"/>
              <a:t>اِنَّ الصَّلٰوةَ تَنْهٰى عَنِ الْفَحْشَاۗءِ وَالْمُنْكَرِ </a:t>
            </a:r>
            <a:endParaRPr lang="en-US" u="sng" dirty="0"/>
          </a:p>
          <a:p>
            <a:r>
              <a:rPr lang="en-US" b="1" dirty="0"/>
              <a:t> </a:t>
            </a:r>
            <a:r>
              <a:rPr lang="en-US" dirty="0"/>
              <a:t>Verily, </a:t>
            </a:r>
            <a:r>
              <a:rPr lang="en-US" b="1" dirty="0"/>
              <a:t>Salah</a:t>
            </a:r>
            <a:r>
              <a:rPr lang="en-US" dirty="0"/>
              <a:t> prevents from lewdness and evils. And indeed (29:45)</a:t>
            </a:r>
          </a:p>
          <a:p>
            <a:br>
              <a:rPr lang="en-US" dirty="0"/>
            </a:br>
            <a:r>
              <a:rPr lang="en-US" b="1" u="sng" dirty="0"/>
              <a:t>Leaving Salah Leads to Shirk</a:t>
            </a:r>
          </a:p>
          <a:p>
            <a:r>
              <a:rPr lang="fa-IR" dirty="0"/>
              <a:t>وَاَقِيْمُوا الصَّلٰوةَ وَلَا تَكُوْنُوْا مِنَ الْمُشْرِكِيْنَ </a:t>
            </a:r>
            <a:endParaRPr lang="en-US" u="sng" dirty="0"/>
          </a:p>
          <a:p>
            <a:r>
              <a:rPr lang="en-US" b="1" dirty="0"/>
              <a:t> A</a:t>
            </a:r>
            <a:r>
              <a:rPr lang="en-US" dirty="0"/>
              <a:t>nd perform </a:t>
            </a:r>
            <a:r>
              <a:rPr lang="en-US" b="1" dirty="0"/>
              <a:t>Salah</a:t>
            </a:r>
            <a:r>
              <a:rPr lang="en-US" dirty="0"/>
              <a:t> and be not of those who commit Shirk.” (30: 31)</a:t>
            </a:r>
          </a:p>
          <a:p>
            <a:endParaRPr lang="en-US" dirty="0"/>
          </a:p>
        </p:txBody>
      </p:sp>
    </p:spTree>
    <p:extLst>
      <p:ext uri="{BB962C8B-B14F-4D97-AF65-F5344CB8AC3E}">
        <p14:creationId xmlns:p14="http://schemas.microsoft.com/office/powerpoint/2010/main" val="165339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additive="base">
                                        <p:cTn id="5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3">
                                            <p:txEl>
                                              <p:pRg st="8" end="8"/>
                                            </p:txEl>
                                          </p:spTgt>
                                        </p:tgtEl>
                                        <p:attrNameLst>
                                          <p:attrName>style.visibility</p:attrName>
                                        </p:attrNameLst>
                                      </p:cBhvr>
                                      <p:to>
                                        <p:strVal val="visible"/>
                                      </p:to>
                                    </p:set>
                                    <p:anim calcmode="lin" valueType="num">
                                      <p:cBhvr additive="base">
                                        <p:cTn id="60"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94197"/>
          </a:xfrm>
        </p:spPr>
        <p:txBody>
          <a:bodyPr>
            <a:normAutofit fontScale="90000"/>
          </a:bodyPr>
          <a:lstStyle/>
          <a:p>
            <a:r>
              <a:rPr lang="en-US" sz="3100" b="1" dirty="0"/>
              <a:t>SPRITUAL(individual) BENEFITS OF PRAYAR</a:t>
            </a:r>
            <a:br>
              <a:rPr lang="en-US" dirty="0"/>
            </a:br>
            <a:endParaRPr lang="en-US" dirty="0"/>
          </a:p>
        </p:txBody>
      </p:sp>
      <p:sp>
        <p:nvSpPr>
          <p:cNvPr id="3" name="Content Placeholder 2"/>
          <p:cNvSpPr>
            <a:spLocks noGrp="1"/>
          </p:cNvSpPr>
          <p:nvPr>
            <p:ph idx="1"/>
          </p:nvPr>
        </p:nvSpPr>
        <p:spPr>
          <a:xfrm>
            <a:off x="677334" y="1489167"/>
            <a:ext cx="8596668" cy="4552196"/>
          </a:xfrm>
        </p:spPr>
        <p:txBody>
          <a:bodyPr/>
          <a:lstStyle/>
          <a:p>
            <a:r>
              <a:rPr lang="en-US" dirty="0"/>
              <a:t>1.	The prayer provides a constant reminder of the essence of our creation</a:t>
            </a:r>
          </a:p>
          <a:p>
            <a:r>
              <a:rPr lang="en-US" dirty="0"/>
              <a:t>2.	It provides direct connection to Allah</a:t>
            </a:r>
          </a:p>
          <a:p>
            <a:r>
              <a:rPr lang="en-US" dirty="0"/>
              <a:t>3.	it purifies the heart</a:t>
            </a:r>
          </a:p>
          <a:p>
            <a:r>
              <a:rPr lang="en-US" dirty="0"/>
              <a:t>4.	by prayer spiritual devotion is attained </a:t>
            </a:r>
          </a:p>
          <a:p>
            <a:r>
              <a:rPr lang="en-US" dirty="0"/>
              <a:t>5.	it enhances moral elevation</a:t>
            </a:r>
          </a:p>
          <a:p>
            <a:r>
              <a:rPr lang="en-US" dirty="0"/>
              <a:t>6.	it establishes patience, humility and sincerity</a:t>
            </a:r>
          </a:p>
          <a:p>
            <a:r>
              <a:rPr lang="en-US" dirty="0"/>
              <a:t>7.	it provides means of repentance </a:t>
            </a:r>
          </a:p>
          <a:p>
            <a:r>
              <a:rPr lang="en-US" dirty="0"/>
              <a:t>8.	it restrains from shameful and unjust deeds</a:t>
            </a:r>
          </a:p>
          <a:p>
            <a:endParaRPr lang="en-US" dirty="0"/>
          </a:p>
        </p:txBody>
      </p:sp>
    </p:spTree>
    <p:extLst>
      <p:ext uri="{BB962C8B-B14F-4D97-AF65-F5344CB8AC3E}">
        <p14:creationId xmlns:p14="http://schemas.microsoft.com/office/powerpoint/2010/main" val="1685196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additive="base">
                                        <p:cTn id="5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019" y="291062"/>
            <a:ext cx="6755432" cy="727841"/>
          </a:xfrm>
        </p:spPr>
        <p:txBody>
          <a:bodyPr>
            <a:normAutofit fontScale="90000"/>
          </a:bodyPr>
          <a:lstStyle/>
          <a:p>
            <a:pPr algn="ctr"/>
            <a:r>
              <a:rPr lang="en-US" sz="2800" b="1" dirty="0"/>
              <a:t>SOCIAL BENEFITS OF SALAT</a:t>
            </a:r>
            <a:br>
              <a:rPr lang="en-US" dirty="0"/>
            </a:br>
            <a:endParaRPr lang="en-US" dirty="0"/>
          </a:p>
        </p:txBody>
      </p:sp>
      <p:sp>
        <p:nvSpPr>
          <p:cNvPr id="3" name="Content Placeholder 2"/>
          <p:cNvSpPr>
            <a:spLocks noGrp="1"/>
          </p:cNvSpPr>
          <p:nvPr>
            <p:ph idx="1"/>
          </p:nvPr>
        </p:nvSpPr>
        <p:spPr>
          <a:xfrm>
            <a:off x="677334" y="1506829"/>
            <a:ext cx="8596668" cy="4534534"/>
          </a:xfrm>
        </p:spPr>
        <p:txBody>
          <a:bodyPr>
            <a:normAutofit/>
          </a:bodyPr>
          <a:lstStyle/>
          <a:p>
            <a:r>
              <a:rPr lang="en-US" dirty="0"/>
              <a:t>1.	it creates strength and unity</a:t>
            </a:r>
          </a:p>
          <a:p>
            <a:r>
              <a:rPr lang="en-US" dirty="0"/>
              <a:t>2.	it gives sense of friendship</a:t>
            </a:r>
          </a:p>
          <a:p>
            <a:r>
              <a:rPr lang="en-US" dirty="0"/>
              <a:t>3.	it reinforces the bonds of brotherhood</a:t>
            </a:r>
          </a:p>
          <a:p>
            <a:r>
              <a:rPr lang="en-US" dirty="0"/>
              <a:t>4.	spreads love among participants</a:t>
            </a:r>
          </a:p>
          <a:p>
            <a:r>
              <a:rPr lang="en-US" dirty="0"/>
              <a:t>5.	strengthens the ties b/w elderly and young, rich and poor and strong 			and weak</a:t>
            </a:r>
          </a:p>
          <a:p>
            <a:r>
              <a:rPr lang="en-US" dirty="0"/>
              <a:t>6.	it allows to learn to look out for his brothers needs and problems</a:t>
            </a:r>
          </a:p>
          <a:p>
            <a:r>
              <a:rPr lang="en-US" dirty="0"/>
              <a:t>7.	it establishes an example of social integration and compassion for one 			an others</a:t>
            </a:r>
          </a:p>
          <a:p>
            <a:r>
              <a:rPr lang="en-US" dirty="0"/>
              <a:t>8.	Teachings for the selection of right leaders</a:t>
            </a:r>
          </a:p>
          <a:p>
            <a:r>
              <a:rPr lang="en-US" dirty="0"/>
              <a:t>9.	creates discipline </a:t>
            </a:r>
          </a:p>
          <a:p>
            <a:r>
              <a:rPr lang="en-US" dirty="0"/>
              <a:t>10.	</a:t>
            </a:r>
            <a:r>
              <a:rPr lang="en-US"/>
              <a:t>social bashfulness</a:t>
            </a:r>
            <a:endParaRPr lang="en-US" dirty="0"/>
          </a:p>
          <a:p>
            <a:endParaRPr lang="en-US" dirty="0"/>
          </a:p>
        </p:txBody>
      </p:sp>
    </p:spTree>
    <p:extLst>
      <p:ext uri="{BB962C8B-B14F-4D97-AF65-F5344CB8AC3E}">
        <p14:creationId xmlns:p14="http://schemas.microsoft.com/office/powerpoint/2010/main" val="74847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additive="base">
                                        <p:cTn id="5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3">
                                            <p:txEl>
                                              <p:pRg st="8" end="8"/>
                                            </p:txEl>
                                          </p:spTgt>
                                        </p:tgtEl>
                                        <p:attrNameLst>
                                          <p:attrName>style.visibility</p:attrName>
                                        </p:attrNameLst>
                                      </p:cBhvr>
                                      <p:to>
                                        <p:strVal val="visible"/>
                                      </p:to>
                                    </p:set>
                                    <p:anim calcmode="lin" valueType="num">
                                      <p:cBhvr additive="base">
                                        <p:cTn id="60"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3">
                                            <p:txEl>
                                              <p:pRg st="9" end="9"/>
                                            </p:txEl>
                                          </p:spTgt>
                                        </p:tgtEl>
                                        <p:attrNameLst>
                                          <p:attrName>style.visibility</p:attrName>
                                        </p:attrNameLst>
                                      </p:cBhvr>
                                      <p:to>
                                        <p:strVal val="visible"/>
                                      </p:to>
                                    </p:set>
                                    <p:anim calcmode="lin" valueType="num">
                                      <p:cBhvr additive="base">
                                        <p:cTn id="66"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Physical(medical) benefits of </a:t>
            </a:r>
            <a:r>
              <a:rPr lang="en-US" dirty="0" err="1"/>
              <a:t>salah</a:t>
            </a:r>
            <a:endParaRPr lang="en-US" dirty="0"/>
          </a:p>
        </p:txBody>
      </p:sp>
      <p:sp>
        <p:nvSpPr>
          <p:cNvPr id="3" name="Content Placeholder 2"/>
          <p:cNvSpPr>
            <a:spLocks noGrp="1"/>
          </p:cNvSpPr>
          <p:nvPr>
            <p:ph idx="1"/>
          </p:nvPr>
        </p:nvSpPr>
        <p:spPr/>
        <p:txBody>
          <a:bodyPr>
            <a:normAutofit lnSpcReduction="10000"/>
          </a:bodyPr>
          <a:lstStyle/>
          <a:p>
            <a:r>
              <a:rPr lang="en-US" dirty="0">
                <a:solidFill>
                  <a:srgbClr val="FF0000"/>
                </a:solidFill>
              </a:rPr>
              <a:t>Regular exercise reduces cholesterol in the body. Cholesterol causes heart failures. Strokes,diabetes and many other ailments</a:t>
            </a:r>
            <a:r>
              <a:rPr lang="en-US" dirty="0"/>
              <a:t>. It is a known fact that people in profession where exercise is required have less amount of cholesterol in their bodies.</a:t>
            </a:r>
          </a:p>
          <a:p>
            <a:r>
              <a:rPr lang="en-US" dirty="0"/>
              <a:t> </a:t>
            </a:r>
            <a:r>
              <a:rPr lang="en-US" dirty="0" err="1"/>
              <a:t>salah</a:t>
            </a:r>
            <a:r>
              <a:rPr lang="en-US" dirty="0"/>
              <a:t> is an </a:t>
            </a:r>
            <a:r>
              <a:rPr lang="en-US" dirty="0">
                <a:solidFill>
                  <a:srgbClr val="00B050"/>
                </a:solidFill>
              </a:rPr>
              <a:t>excellent form of exercise to prevent indigestion</a:t>
            </a:r>
            <a:r>
              <a:rPr lang="en-US" dirty="0"/>
              <a:t>. In the morning when stomach is empty, a Muslim is required to offer fewer numbers of </a:t>
            </a:r>
            <a:r>
              <a:rPr lang="en-US" dirty="0" err="1"/>
              <a:t>Rakaah</a:t>
            </a:r>
            <a:r>
              <a:rPr lang="en-US" dirty="0"/>
              <a:t>, where as in the evening after the dinner we offer an extra number of </a:t>
            </a:r>
            <a:r>
              <a:rPr lang="en-US" dirty="0" err="1"/>
              <a:t>rakaah</a:t>
            </a:r>
            <a:r>
              <a:rPr lang="en-US" dirty="0"/>
              <a:t>. By offering </a:t>
            </a:r>
            <a:r>
              <a:rPr lang="en-US" dirty="0" err="1"/>
              <a:t>takbeer</a:t>
            </a:r>
            <a:r>
              <a:rPr lang="en-US" dirty="0"/>
              <a:t> at the beginning of the </a:t>
            </a:r>
            <a:r>
              <a:rPr lang="en-US" dirty="0" err="1"/>
              <a:t>salah</a:t>
            </a:r>
            <a:r>
              <a:rPr lang="en-US" dirty="0"/>
              <a:t>, we move hand and shoulder muscles thereby increasing the flow of blood towards torso( upper body)</a:t>
            </a:r>
          </a:p>
          <a:p>
            <a:r>
              <a:rPr lang="en-US" dirty="0"/>
              <a:t>The most important function </a:t>
            </a:r>
            <a:r>
              <a:rPr lang="en-US" dirty="0">
                <a:solidFill>
                  <a:srgbClr val="00B0F0"/>
                </a:solidFill>
              </a:rPr>
              <a:t>in </a:t>
            </a:r>
            <a:r>
              <a:rPr lang="en-US" dirty="0" err="1">
                <a:solidFill>
                  <a:srgbClr val="00B0F0"/>
                </a:solidFill>
              </a:rPr>
              <a:t>salah</a:t>
            </a:r>
            <a:r>
              <a:rPr lang="en-US" dirty="0">
                <a:solidFill>
                  <a:srgbClr val="00B0F0"/>
                </a:solidFill>
              </a:rPr>
              <a:t> is </a:t>
            </a:r>
            <a:r>
              <a:rPr lang="en-US" dirty="0" err="1">
                <a:solidFill>
                  <a:srgbClr val="00B0F0"/>
                </a:solidFill>
              </a:rPr>
              <a:t>sajdah</a:t>
            </a:r>
            <a:r>
              <a:rPr lang="en-US" dirty="0">
                <a:solidFill>
                  <a:srgbClr val="00B0F0"/>
                </a:solidFill>
              </a:rPr>
              <a:t> where we touch the ground with our forehead. This posture increases fresh supply of blood to our brain. </a:t>
            </a:r>
            <a:r>
              <a:rPr lang="en-US" dirty="0"/>
              <a:t>As in certain forms of Yoga some adherents stand on their heads for the same purpose.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05246"/>
          </a:xfrm>
        </p:spPr>
        <p:txBody>
          <a:bodyPr>
            <a:normAutofit fontScale="90000"/>
          </a:bodyPr>
          <a:lstStyle/>
          <a:p>
            <a:r>
              <a:rPr lang="en-US" dirty="0" err="1"/>
              <a:t>Cont</a:t>
            </a:r>
            <a:r>
              <a:rPr lang="en-US" dirty="0"/>
              <a:t>:</a:t>
            </a:r>
          </a:p>
        </p:txBody>
      </p:sp>
      <p:sp>
        <p:nvSpPr>
          <p:cNvPr id="3" name="Content Placeholder 2"/>
          <p:cNvSpPr>
            <a:spLocks noGrp="1"/>
          </p:cNvSpPr>
          <p:nvPr>
            <p:ph idx="1"/>
          </p:nvPr>
        </p:nvSpPr>
        <p:spPr>
          <a:xfrm>
            <a:off x="677334" y="1384663"/>
            <a:ext cx="8596668" cy="5068388"/>
          </a:xfrm>
        </p:spPr>
        <p:txBody>
          <a:bodyPr>
            <a:normAutofit/>
          </a:bodyPr>
          <a:lstStyle/>
          <a:p>
            <a:r>
              <a:rPr lang="en-US" dirty="0"/>
              <a:t>Heart is the most important organ in the body, it supplies fresh blood to all body tissues. </a:t>
            </a:r>
            <a:r>
              <a:rPr lang="en-US" dirty="0">
                <a:solidFill>
                  <a:srgbClr val="7030A0"/>
                </a:solidFill>
              </a:rPr>
              <a:t>These body movements performed during </a:t>
            </a:r>
            <a:r>
              <a:rPr lang="en-US" dirty="0" err="1">
                <a:solidFill>
                  <a:srgbClr val="7030A0"/>
                </a:solidFill>
              </a:rPr>
              <a:t>salah</a:t>
            </a:r>
            <a:r>
              <a:rPr lang="en-US" dirty="0">
                <a:solidFill>
                  <a:srgbClr val="7030A0"/>
                </a:solidFill>
              </a:rPr>
              <a:t> are an excellent source of exercise for our heart as well</a:t>
            </a:r>
            <a:r>
              <a:rPr lang="en-US" dirty="0"/>
              <a:t>. According to a </a:t>
            </a:r>
            <a:r>
              <a:rPr lang="en-US" dirty="0" err="1"/>
              <a:t>Hadith</a:t>
            </a:r>
            <a:r>
              <a:rPr lang="en-US" dirty="0"/>
              <a:t> “there is an organ in the body when it is healthy, the whole body is healthy and when this is sick the entire body is sick, it is the heart”</a:t>
            </a:r>
          </a:p>
          <a:p>
            <a:endParaRPr lang="en-US" dirty="0"/>
          </a:p>
          <a:p>
            <a:r>
              <a:rPr lang="en-US" dirty="0">
                <a:solidFill>
                  <a:srgbClr val="C00000"/>
                </a:solidFill>
              </a:rPr>
              <a:t>A remarkable tissue in our body is cartilage( converted to bone in adults). It is unique in being a living tissue with no direct blood supply. The only way it receives nutrients and oxygen is by movement of the joints</a:t>
            </a:r>
            <a:r>
              <a:rPr lang="en-US" dirty="0"/>
              <a:t>. The pumping effect forces blood into the joint area which would otherwise be bypassed. Those who sit at the terminals are in greater danger of ending up with dead cartilage tissues that will subsequently wear away. This will leave us with a arthritis( inflammation of joints), painful joints and paralysis. Bacteria's and viruses find safe heaven in joints for this reason as no blood cell can get at them and in most cases. Salah ,therefore, has many </a:t>
            </a:r>
            <a:r>
              <a:rPr lang="en-US" dirty="0">
                <a:solidFill>
                  <a:srgbClr val="C00000"/>
                </a:solidFill>
              </a:rPr>
              <a:t>orthopedic benefits for those who offer it.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Those who do not offer their prayers of </a:t>
            </a:r>
          </a:p>
        </p:txBody>
      </p:sp>
      <p:sp>
        <p:nvSpPr>
          <p:cNvPr id="3" name="Content Placeholder 2"/>
          <p:cNvSpPr>
            <a:spLocks noGrp="1"/>
          </p:cNvSpPr>
          <p:nvPr>
            <p:ph idx="1"/>
          </p:nvPr>
        </p:nvSpPr>
        <p:spPr/>
        <p:txBody>
          <a:bodyPr/>
          <a:lstStyle/>
          <a:p>
            <a:r>
              <a:rPr lang="en-US" dirty="0">
                <a:solidFill>
                  <a:srgbClr val="FFFF00"/>
                </a:solidFill>
              </a:rPr>
              <a:t>FAJAR</a:t>
            </a:r>
            <a:r>
              <a:rPr lang="en-US" dirty="0"/>
              <a:t>	the glow of their face is taken away</a:t>
            </a:r>
          </a:p>
          <a:p>
            <a:r>
              <a:rPr lang="en-US" dirty="0">
                <a:solidFill>
                  <a:srgbClr val="FF0000"/>
                </a:solidFill>
              </a:rPr>
              <a:t>ZOHAR</a:t>
            </a:r>
            <a:r>
              <a:rPr lang="en-US" dirty="0"/>
              <a:t>	the blessing of their income is taken away</a:t>
            </a:r>
          </a:p>
          <a:p>
            <a:r>
              <a:rPr lang="en-US" dirty="0">
                <a:solidFill>
                  <a:srgbClr val="FFC000"/>
                </a:solidFill>
              </a:rPr>
              <a:t>ASAR	</a:t>
            </a:r>
            <a:r>
              <a:rPr lang="en-US" dirty="0"/>
              <a:t>	the strength of their body is taken away</a:t>
            </a:r>
          </a:p>
          <a:p>
            <a:r>
              <a:rPr lang="en-US" dirty="0">
                <a:solidFill>
                  <a:srgbClr val="92D050"/>
                </a:solidFill>
              </a:rPr>
              <a:t>MAGRIB</a:t>
            </a:r>
            <a:r>
              <a:rPr lang="en-US" dirty="0"/>
              <a:t>	they are not benefitted by their children</a:t>
            </a:r>
          </a:p>
          <a:p>
            <a:r>
              <a:rPr lang="en-US" dirty="0">
                <a:solidFill>
                  <a:srgbClr val="002060"/>
                </a:solidFill>
              </a:rPr>
              <a:t>ISHA	</a:t>
            </a:r>
            <a:r>
              <a:rPr lang="en-US" dirty="0"/>
              <a:t>	the peace of their of sleep is taken away</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470</TotalTime>
  <Words>1691</Words>
  <Application>Microsoft Office PowerPoint</Application>
  <PresentationFormat>Widescreen</PresentationFormat>
  <Paragraphs>114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Trebuchet MS</vt:lpstr>
      <vt:lpstr>Wingdings 3</vt:lpstr>
      <vt:lpstr>Facet</vt:lpstr>
      <vt:lpstr>MEANING AND CONCEPT OF SALAT</vt:lpstr>
      <vt:lpstr>cont</vt:lpstr>
      <vt:lpstr> ThePre-requisits of salat</vt:lpstr>
      <vt:lpstr>The Arkan ( constituents) of Salah</vt:lpstr>
      <vt:lpstr>The wajbat ( ordained acts) of salat</vt:lpstr>
      <vt:lpstr>Importance of salat in the light of Quran</vt:lpstr>
      <vt:lpstr>Importance of Salat in the light of Hadith</vt:lpstr>
      <vt:lpstr>Benefits of Salat</vt:lpstr>
      <vt:lpstr>continued</vt:lpstr>
      <vt:lpstr>SPRITUAL(individual) BENEFITS OF PRAYAR </vt:lpstr>
      <vt:lpstr>SOCIAL BENEFITS OF SALAT </vt:lpstr>
      <vt:lpstr>Physical(medical) benefits of salah</vt:lpstr>
      <vt:lpstr>Cont:</vt:lpstr>
      <vt:lpstr>Those who do not offer their prayers of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Peeral Sb</cp:lastModifiedBy>
  <cp:revision>71</cp:revision>
  <dcterms:created xsi:type="dcterms:W3CDTF">2016-02-01T05:22:26Z</dcterms:created>
  <dcterms:modified xsi:type="dcterms:W3CDTF">2021-11-02T09:41:27Z</dcterms:modified>
</cp:coreProperties>
</file>